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62000" t="18000" r="38000" b="82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084831"/>
            <a:ext cx="10875233" cy="274320"/>
          </a:xfrm>
          <a:prstGeom prst="rect">
            <a:avLst/>
          </a:prstGeom>
          <a:noFill/>
        </p:spPr>
        <p:txBody>
          <a:bodyPr wrap="square" lIns="0" rIns="0" tIns="0" bIns="0" anchor="t">
            <a:spAutoFit/>
          </a:bodyPr>
          <a:lstStyle/>
          <a:p>
            <a:pPr algn="l">
              <a:lnSpc>
                <a:spcPct val="128000"/>
              </a:lnSpc>
            </a:pPr>
            <a:r>
              <a:rPr sz="1100" b="1" i="0">
                <a:solidFill>
                  <a:srgbClr val="8A9CFF"/>
                </a:solidFill>
                <a:latin typeface="Satoshi"/>
              </a:rPr>
              <a:t>FITXPRESS BY 3DLOOK</a:t>
            </a:r>
          </a:p>
        </p:txBody>
      </p:sp>
      <p:sp>
        <p:nvSpPr>
          <p:cNvPr id="33" name="TextBox 32"/>
          <p:cNvSpPr txBox="1"/>
          <p:nvPr/>
        </p:nvSpPr>
        <p:spPr>
          <a:xfrm>
            <a:off x="658368" y="2468880"/>
            <a:ext cx="8778240" cy="1371600"/>
          </a:xfrm>
          <a:prstGeom prst="rect">
            <a:avLst/>
          </a:prstGeom>
          <a:noFill/>
        </p:spPr>
        <p:txBody>
          <a:bodyPr wrap="square" lIns="0" rIns="0" tIns="0" bIns="0" anchor="t">
            <a:spAutoFit/>
          </a:bodyPr>
          <a:lstStyle/>
          <a:p>
            <a:pPr algn="l">
              <a:lnSpc>
                <a:spcPct val="102000"/>
              </a:lnSpc>
            </a:pPr>
            <a:r>
              <a:rPr sz="5200" b="1" i="0">
                <a:solidFill>
                  <a:srgbClr val="FFFFFF"/>
                </a:solidFill>
                <a:latin typeface="Satoshi"/>
              </a:rPr>
              <a:t>Product Marketing
Playbook</a:t>
            </a:r>
          </a:p>
        </p:txBody>
      </p:sp>
      <p:sp>
        <p:nvSpPr>
          <p:cNvPr id="34" name="Rectangle 33"/>
          <p:cNvSpPr/>
          <p:nvPr/>
        </p:nvSpPr>
        <p:spPr>
          <a:xfrm>
            <a:off x="658368" y="4041648"/>
            <a:ext cx="1554480"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4297680"/>
            <a:ext cx="8229600" cy="274320"/>
          </a:xfrm>
          <a:prstGeom prst="rect">
            <a:avLst/>
          </a:prstGeom>
          <a:noFill/>
        </p:spPr>
        <p:txBody>
          <a:bodyPr wrap="square" lIns="0" rIns="0" tIns="0" bIns="0" anchor="t">
            <a:spAutoFit/>
          </a:bodyPr>
          <a:lstStyle/>
          <a:p>
            <a:pPr algn="l">
              <a:lnSpc>
                <a:spcPct val="128000"/>
              </a:lnSpc>
            </a:pPr>
            <a:r>
              <a:rPr sz="1500" b="0" i="0">
                <a:solidFill>
                  <a:srgbClr val="D8DEFF"/>
                </a:solidFill>
                <a:latin typeface="Satoshi"/>
              </a:rPr>
              <a:t>Nika  ·  Product Marketing Manager  ·  Onboarding</a:t>
            </a:r>
          </a:p>
        </p:txBody>
      </p:sp>
      <p:sp>
        <p:nvSpPr>
          <p:cNvPr id="36" name="TextBox 35"/>
          <p:cNvSpPr txBox="1"/>
          <p:nvPr/>
        </p:nvSpPr>
        <p:spPr>
          <a:xfrm>
            <a:off x="658368" y="4645152"/>
            <a:ext cx="8778240" cy="457200"/>
          </a:xfrm>
          <a:prstGeom prst="rect">
            <a:avLst/>
          </a:prstGeom>
          <a:noFill/>
        </p:spPr>
        <p:txBody>
          <a:bodyPr wrap="square" lIns="0" rIns="0" tIns="0" bIns="0" anchor="t">
            <a:spAutoFit/>
          </a:bodyPr>
          <a:lstStyle/>
          <a:p>
            <a:pPr algn="l">
              <a:lnSpc>
                <a:spcPct val="130000"/>
              </a:lnSpc>
            </a:pPr>
            <a:r>
              <a:rPr sz="1200" b="0" i="0">
                <a:solidFill>
                  <a:srgbClr val="B1BDFF"/>
                </a:solidFill>
                <a:latin typeface="Satoshi"/>
              </a:rPr>
              <a:t>Presentations and landing pages, end to end, for every FitXpress health use case.</a:t>
            </a:r>
          </a:p>
        </p:txBody>
      </p:sp>
      <p:sp>
        <p:nvSpPr>
          <p:cNvPr id="37" name="TextBox 36"/>
          <p:cNvSpPr txBox="1"/>
          <p:nvPr/>
        </p:nvSpPr>
        <p:spPr>
          <a:xfrm>
            <a:off x="658368" y="5870448"/>
            <a:ext cx="6400800" cy="219456"/>
          </a:xfrm>
          <a:prstGeom prst="rect">
            <a:avLst/>
          </a:prstGeom>
          <a:noFill/>
        </p:spPr>
        <p:txBody>
          <a:bodyPr wrap="square" lIns="0" rIns="0" tIns="0" bIns="0" anchor="t">
            <a:spAutoFit/>
          </a:bodyPr>
          <a:lstStyle/>
          <a:p>
            <a:pPr algn="l">
              <a:lnSpc>
                <a:spcPct val="128000"/>
              </a:lnSpc>
            </a:pPr>
            <a:r>
              <a:rPr sz="900" b="1" i="0">
                <a:solidFill>
                  <a:srgbClr val="8A9CFF"/>
                </a:solidFill>
                <a:latin typeface="Satoshi"/>
              </a:rPr>
              <a:t>August 2026  ·  Version 1.0  ·  CONFIDENTIAL, internal use only</a:t>
            </a:r>
          </a:p>
        </p:txBody>
      </p:sp>
      <p:sp>
        <p:nvSpPr>
          <p:cNvPr id="38" name="TextBox 37"/>
          <p:cNvSpPr txBox="1"/>
          <p:nvPr/>
        </p:nvSpPr>
        <p:spPr>
          <a:xfrm>
            <a:off x="8790401" y="5870448"/>
            <a:ext cx="2743200" cy="219456"/>
          </a:xfrm>
          <a:prstGeom prst="rect">
            <a:avLst/>
          </a:prstGeom>
          <a:noFill/>
        </p:spPr>
        <p:txBody>
          <a:bodyPr wrap="square" lIns="0" rIns="0" tIns="0" bIns="0" anchor="t">
            <a:spAutoFit/>
          </a:bodyPr>
          <a:lstStyle/>
          <a:p>
            <a:pPr algn="r">
              <a:lnSpc>
                <a:spcPct val="128000"/>
              </a:lnSpc>
            </a:pPr>
            <a:r>
              <a:rPr sz="900" b="0" i="0">
                <a:solidFill>
                  <a:srgbClr val="8A9CFF"/>
                </a:solidFill>
                <a:latin typeface="Satoshi"/>
              </a:rPr>
              <a:t>Structured after the FitXpress Sales Playbook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NAVIGATION</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What's Inside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Nine sections. Section 4 is the working reference. Sections 5 and 6 are the two production lines.</a:t>
            </a:r>
          </a:p>
        </p:txBody>
      </p:sp>
      <p:sp>
        <p:nvSpPr>
          <p:cNvPr id="5" name="Rounded Rectangle 4"/>
          <p:cNvSpPr/>
          <p:nvPr/>
        </p:nvSpPr>
        <p:spPr>
          <a:xfrm>
            <a:off x="658368" y="1938528"/>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38528"/>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2139696"/>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01</a:t>
            </a:r>
          </a:p>
        </p:txBody>
      </p:sp>
      <p:sp>
        <p:nvSpPr>
          <p:cNvPr id="8" name="TextBox 7"/>
          <p:cNvSpPr txBox="1"/>
          <p:nvPr/>
        </p:nvSpPr>
        <p:spPr>
          <a:xfrm>
            <a:off x="896112" y="2560320"/>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Role and scope</a:t>
            </a:r>
          </a:p>
        </p:txBody>
      </p:sp>
      <p:sp>
        <p:nvSpPr>
          <p:cNvPr id="9" name="Rounded Rectangle 8"/>
          <p:cNvSpPr/>
          <p:nvPr/>
        </p:nvSpPr>
        <p:spPr>
          <a:xfrm>
            <a:off x="4344405" y="1938528"/>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405" y="1938528"/>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82149" y="2139696"/>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02</a:t>
            </a:r>
          </a:p>
        </p:txBody>
      </p:sp>
      <p:sp>
        <p:nvSpPr>
          <p:cNvPr id="12" name="TextBox 11"/>
          <p:cNvSpPr txBox="1"/>
          <p:nvPr/>
        </p:nvSpPr>
        <p:spPr>
          <a:xfrm>
            <a:off x="4582149" y="2560320"/>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Brand and voice guardrails</a:t>
            </a:r>
          </a:p>
        </p:txBody>
      </p:sp>
      <p:sp>
        <p:nvSpPr>
          <p:cNvPr id="13" name="Rounded Rectangle 12"/>
          <p:cNvSpPr/>
          <p:nvPr/>
        </p:nvSpPr>
        <p:spPr>
          <a:xfrm>
            <a:off x="8030443" y="1938528"/>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0443" y="1938528"/>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68187" y="2139696"/>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03</a:t>
            </a:r>
          </a:p>
        </p:txBody>
      </p:sp>
      <p:sp>
        <p:nvSpPr>
          <p:cNvPr id="16" name="TextBox 15"/>
          <p:cNvSpPr txBox="1"/>
          <p:nvPr/>
        </p:nvSpPr>
        <p:spPr>
          <a:xfrm>
            <a:off x="8268187" y="2560320"/>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Design system quick reference</a:t>
            </a:r>
          </a:p>
        </p:txBody>
      </p:sp>
      <p:sp>
        <p:nvSpPr>
          <p:cNvPr id="17" name="Rounded Rectangle 16"/>
          <p:cNvSpPr/>
          <p:nvPr/>
        </p:nvSpPr>
        <p:spPr>
          <a:xfrm>
            <a:off x="658368" y="3291840"/>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291840"/>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96112" y="3493008"/>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04</a:t>
            </a:r>
          </a:p>
        </p:txBody>
      </p:sp>
      <p:sp>
        <p:nvSpPr>
          <p:cNvPr id="20" name="TextBox 19"/>
          <p:cNvSpPr txBox="1"/>
          <p:nvPr/>
        </p:nvSpPr>
        <p:spPr>
          <a:xfrm>
            <a:off x="896112" y="3913632"/>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Use-case library, 11 health segments</a:t>
            </a:r>
          </a:p>
        </p:txBody>
      </p:sp>
      <p:sp>
        <p:nvSpPr>
          <p:cNvPr id="21" name="Rounded Rectangle 20"/>
          <p:cNvSpPr/>
          <p:nvPr/>
        </p:nvSpPr>
        <p:spPr>
          <a:xfrm>
            <a:off x="4344405" y="3291840"/>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4405" y="3291840"/>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82149" y="3493008"/>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05</a:t>
            </a:r>
          </a:p>
        </p:txBody>
      </p:sp>
      <p:sp>
        <p:nvSpPr>
          <p:cNvPr id="24" name="TextBox 23"/>
          <p:cNvSpPr txBox="1"/>
          <p:nvPr/>
        </p:nvSpPr>
        <p:spPr>
          <a:xfrm>
            <a:off x="4582149" y="3913632"/>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Deck build playbook</a:t>
            </a:r>
          </a:p>
        </p:txBody>
      </p:sp>
      <p:sp>
        <p:nvSpPr>
          <p:cNvPr id="25" name="Rounded Rectangle 24"/>
          <p:cNvSpPr/>
          <p:nvPr/>
        </p:nvSpPr>
        <p:spPr>
          <a:xfrm>
            <a:off x="8030443" y="3291840"/>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0443" y="3291840"/>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8187" y="3493008"/>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06</a:t>
            </a:r>
          </a:p>
        </p:txBody>
      </p:sp>
      <p:sp>
        <p:nvSpPr>
          <p:cNvPr id="28" name="TextBox 27"/>
          <p:cNvSpPr txBox="1"/>
          <p:nvPr/>
        </p:nvSpPr>
        <p:spPr>
          <a:xfrm>
            <a:off x="8268187" y="3913632"/>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Landing-page build playbook</a:t>
            </a:r>
          </a:p>
        </p:txBody>
      </p:sp>
      <p:sp>
        <p:nvSpPr>
          <p:cNvPr id="29" name="Rounded Rectangle 28"/>
          <p:cNvSpPr/>
          <p:nvPr/>
        </p:nvSpPr>
        <p:spPr>
          <a:xfrm>
            <a:off x="658368" y="4645152"/>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4645152"/>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96112" y="4846320"/>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07</a:t>
            </a:r>
          </a:p>
        </p:txBody>
      </p:sp>
      <p:sp>
        <p:nvSpPr>
          <p:cNvPr id="32" name="TextBox 31"/>
          <p:cNvSpPr txBox="1"/>
          <p:nvPr/>
        </p:nvSpPr>
        <p:spPr>
          <a:xfrm>
            <a:off x="896112" y="5266944"/>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Messaging and proof library</a:t>
            </a:r>
          </a:p>
        </p:txBody>
      </p:sp>
      <p:sp>
        <p:nvSpPr>
          <p:cNvPr id="33" name="Rounded Rectangle 32"/>
          <p:cNvSpPr/>
          <p:nvPr/>
        </p:nvSpPr>
        <p:spPr>
          <a:xfrm>
            <a:off x="4344405" y="4645152"/>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44405" y="4645152"/>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82149" y="4846320"/>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08</a:t>
            </a:r>
          </a:p>
        </p:txBody>
      </p:sp>
      <p:sp>
        <p:nvSpPr>
          <p:cNvPr id="36" name="TextBox 35"/>
          <p:cNvSpPr txBox="1"/>
          <p:nvPr/>
        </p:nvSpPr>
        <p:spPr>
          <a:xfrm>
            <a:off x="4582149" y="5266944"/>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QA checklist</a:t>
            </a:r>
          </a:p>
        </p:txBody>
      </p:sp>
      <p:sp>
        <p:nvSpPr>
          <p:cNvPr id="37" name="Rounded Rectangle 36"/>
          <p:cNvSpPr/>
          <p:nvPr/>
        </p:nvSpPr>
        <p:spPr>
          <a:xfrm>
            <a:off x="8030443" y="4645152"/>
            <a:ext cx="3503157" cy="1170432"/>
          </a:xfrm>
          <a:prstGeom prst="roundRect">
            <a:avLst>
              <a:gd name="adj" fmla="val 2170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30443" y="4645152"/>
            <a:ext cx="50292" cy="117043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68187" y="4846320"/>
            <a:ext cx="914400" cy="365760"/>
          </a:xfrm>
          <a:prstGeom prst="rect">
            <a:avLst/>
          </a:prstGeom>
          <a:noFill/>
        </p:spPr>
        <p:txBody>
          <a:bodyPr wrap="square" lIns="0" rIns="0" tIns="0" bIns="0" anchor="t">
            <a:spAutoFit/>
          </a:bodyPr>
          <a:lstStyle/>
          <a:p>
            <a:pPr algn="l">
              <a:lnSpc>
                <a:spcPct val="128000"/>
              </a:lnSpc>
            </a:pPr>
            <a:r>
              <a:rPr sz="2300" b="1" i="0">
                <a:solidFill>
                  <a:srgbClr val="B1BDFF"/>
                </a:solidFill>
                <a:latin typeface="Satoshi"/>
              </a:rPr>
              <a:t>09</a:t>
            </a:r>
          </a:p>
        </p:txBody>
      </p:sp>
      <p:sp>
        <p:nvSpPr>
          <p:cNvPr id="40" name="TextBox 39"/>
          <p:cNvSpPr txBox="1"/>
          <p:nvPr/>
        </p:nvSpPr>
        <p:spPr>
          <a:xfrm>
            <a:off x="8268187" y="5266944"/>
            <a:ext cx="3045957" cy="402336"/>
          </a:xfrm>
          <a:prstGeom prst="rect">
            <a:avLst/>
          </a:prstGeom>
          <a:noFill/>
        </p:spPr>
        <p:txBody>
          <a:bodyPr wrap="square" lIns="0" rIns="0" tIns="0" bIns="0" anchor="t">
            <a:spAutoFit/>
          </a:bodyPr>
          <a:lstStyle/>
          <a:p>
            <a:pPr algn="l">
              <a:lnSpc>
                <a:spcPct val="116000"/>
              </a:lnSpc>
            </a:pPr>
            <a:r>
              <a:rPr sz="1250" b="1" i="0">
                <a:solidFill>
                  <a:srgbClr val="050F40"/>
                </a:solidFill>
                <a:latin typeface="Satoshi"/>
              </a:rPr>
              <a:t>Open items to resolve</a:t>
            </a:r>
          </a:p>
        </p:txBody>
      </p:sp>
      <p:sp>
        <p:nvSpPr>
          <p:cNvPr id="41" name="TextBox 4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42" name="TextBox 4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 / 61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72000" t="30000" r="28000" b="7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420624"/>
            <a:ext cx="10875233" cy="219456"/>
          </a:xfrm>
          <a:prstGeom prst="rect">
            <a:avLst/>
          </a:prstGeom>
          <a:noFill/>
        </p:spPr>
        <p:txBody>
          <a:bodyPr wrap="square" lIns="0" rIns="0" tIns="0" bIns="0">
            <a:spAutoFit/>
          </a:bodyPr>
          <a:lstStyle/>
          <a:p>
            <a:r>
              <a:rPr sz="1000" b="1" spc="170">
                <a:solidFill>
                  <a:srgbClr val="8A9CFF"/>
                </a:solidFill>
                <a:latin typeface="Satoshi"/>
              </a:rPr>
              <a:t>THE RULE ABOVE ALL THE OTHERS</a:t>
            </a:r>
          </a:p>
        </p:txBody>
      </p:sp>
      <p:sp>
        <p:nvSpPr>
          <p:cNvPr id="33" name="TextBox 32"/>
          <p:cNvSpPr txBox="1"/>
          <p:nvPr/>
        </p:nvSpPr>
        <p:spPr>
          <a:xfrm>
            <a:off x="658368" y="786384"/>
            <a:ext cx="7863840" cy="1371600"/>
          </a:xfrm>
          <a:prstGeom prst="rect">
            <a:avLst/>
          </a:prstGeom>
          <a:noFill/>
        </p:spPr>
        <p:txBody>
          <a:bodyPr wrap="square" lIns="0" rIns="0" tIns="0" bIns="0" anchor="t">
            <a:spAutoFit/>
          </a:bodyPr>
          <a:lstStyle/>
          <a:p>
            <a:pPr algn="l">
              <a:lnSpc>
                <a:spcPct val="110000"/>
              </a:lnSpc>
            </a:pPr>
            <a:r>
              <a:rPr sz="3100" b="1" i="0">
                <a:solidFill>
                  <a:srgbClr val="FFFFFF"/>
                </a:solidFill>
                <a:latin typeface="Satoshi"/>
              </a:rPr>
              <a:t>Every figure in a deck or on a page
comes from proof-points.md.</a:t>
            </a:r>
          </a:p>
        </p:txBody>
      </p:sp>
      <p:sp>
        <p:nvSpPr>
          <p:cNvPr id="34" name="TextBox 33"/>
          <p:cNvSpPr txBox="1"/>
          <p:nvPr/>
        </p:nvSpPr>
        <p:spPr>
          <a:xfrm>
            <a:off x="658368" y="2212848"/>
            <a:ext cx="7680960" cy="658368"/>
          </a:xfrm>
          <a:prstGeom prst="rect">
            <a:avLst/>
          </a:prstGeom>
          <a:noFill/>
        </p:spPr>
        <p:txBody>
          <a:bodyPr wrap="square" lIns="0" rIns="0" tIns="0" bIns="0" anchor="t">
            <a:spAutoFit/>
          </a:bodyPr>
          <a:lstStyle/>
          <a:p>
            <a:pPr algn="l">
              <a:lnSpc>
                <a:spcPct val="136000"/>
              </a:lnSpc>
            </a:pPr>
            <a:r>
              <a:rPr sz="1200" b="0" i="0">
                <a:solidFill>
                  <a:srgbClr val="D8DEFF"/>
                </a:solidFill>
                <a:latin typeface="Satoshi"/>
              </a:rPr>
              <a:t>A number that is not there does not ship. It goes into an Open items block, and the slot stays visibly empty until Vadim confirms it. This is the fastest way this function either earns or loses credibility with a buyer doing diligence.</a:t>
            </a:r>
          </a:p>
        </p:txBody>
      </p:sp>
      <p:sp>
        <p:nvSpPr>
          <p:cNvPr id="35" name="Rounded Rectangle 34"/>
          <p:cNvSpPr/>
          <p:nvPr/>
        </p:nvSpPr>
        <p:spPr>
          <a:xfrm>
            <a:off x="658368" y="3218688"/>
            <a:ext cx="2540500" cy="1207008"/>
          </a:xfrm>
          <a:prstGeom prst="roundRect">
            <a:avLst>
              <a:gd name="adj" fmla="val 2104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8368" y="3218688"/>
            <a:ext cx="2540500"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419856"/>
            <a:ext cx="2174740" cy="274320"/>
          </a:xfrm>
          <a:prstGeom prst="rect">
            <a:avLst/>
          </a:prstGeom>
          <a:noFill/>
        </p:spPr>
        <p:txBody>
          <a:bodyPr wrap="square" lIns="0" rIns="0" tIns="0" bIns="0" anchor="t">
            <a:spAutoFit/>
          </a:bodyPr>
          <a:lstStyle/>
          <a:p>
            <a:pPr algn="l">
              <a:lnSpc>
                <a:spcPct val="128000"/>
              </a:lnSpc>
            </a:pPr>
            <a:r>
              <a:rPr sz="1150" b="1" i="0">
                <a:solidFill>
                  <a:srgbClr val="FFFFFF"/>
                </a:solidFill>
                <a:latin typeface="Satoshi"/>
              </a:rPr>
              <a:t>Need a number</a:t>
            </a:r>
          </a:p>
        </p:txBody>
      </p:sp>
      <p:sp>
        <p:nvSpPr>
          <p:cNvPr id="38" name="TextBox 37"/>
          <p:cNvSpPr txBox="1"/>
          <p:nvPr/>
        </p:nvSpPr>
        <p:spPr>
          <a:xfrm>
            <a:off x="841247" y="3767328"/>
            <a:ext cx="2174740" cy="493776"/>
          </a:xfrm>
          <a:prstGeom prst="rect">
            <a:avLst/>
          </a:prstGeom>
          <a:noFill/>
        </p:spPr>
        <p:txBody>
          <a:bodyPr wrap="square" lIns="0" rIns="0" tIns="0" bIns="0" anchor="t">
            <a:spAutoFit/>
          </a:bodyPr>
          <a:lstStyle/>
          <a:p>
            <a:pPr algn="l">
              <a:lnSpc>
                <a:spcPct val="130000"/>
              </a:lnSpc>
            </a:pPr>
            <a:r>
              <a:rPr sz="860" b="0" i="0">
                <a:solidFill>
                  <a:srgbClr val="B1BDFF"/>
                </a:solidFill>
                <a:latin typeface="Satoshi"/>
              </a:rPr>
              <a:t>A deck slot or a page section calls for a figure</a:t>
            </a:r>
          </a:p>
        </p:txBody>
      </p:sp>
      <p:sp>
        <p:nvSpPr>
          <p:cNvPr id="39" name="TextBox 38"/>
          <p:cNvSpPr txBox="1"/>
          <p:nvPr/>
        </p:nvSpPr>
        <p:spPr>
          <a:xfrm>
            <a:off x="3198868" y="3694176"/>
            <a:ext cx="237744" cy="256032"/>
          </a:xfrm>
          <a:prstGeom prst="rect">
            <a:avLst/>
          </a:prstGeom>
          <a:noFill/>
        </p:spPr>
        <p:txBody>
          <a:bodyPr wrap="square" lIns="0" rIns="0" tIns="0" bIns="0" anchor="t">
            <a:spAutoFit/>
          </a:bodyPr>
          <a:lstStyle/>
          <a:p>
            <a:pPr algn="ctr">
              <a:lnSpc>
                <a:spcPct val="128000"/>
              </a:lnSpc>
            </a:pPr>
            <a:r>
              <a:rPr sz="1700" b="1" i="0">
                <a:solidFill>
                  <a:srgbClr val="8A9CFF"/>
                </a:solidFill>
                <a:latin typeface="Satoshi"/>
              </a:rPr>
              <a:t>›</a:t>
            </a:r>
          </a:p>
        </p:txBody>
      </p:sp>
      <p:sp>
        <p:nvSpPr>
          <p:cNvPr id="40" name="Rounded Rectangle 39"/>
          <p:cNvSpPr/>
          <p:nvPr/>
        </p:nvSpPr>
        <p:spPr>
          <a:xfrm>
            <a:off x="3436612" y="3218688"/>
            <a:ext cx="2540500" cy="1207008"/>
          </a:xfrm>
          <a:prstGeom prst="roundRect">
            <a:avLst>
              <a:gd name="adj" fmla="val 2104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3436612" y="3218688"/>
            <a:ext cx="2540500"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19492" y="3419856"/>
            <a:ext cx="2174740" cy="274320"/>
          </a:xfrm>
          <a:prstGeom prst="rect">
            <a:avLst/>
          </a:prstGeom>
          <a:noFill/>
        </p:spPr>
        <p:txBody>
          <a:bodyPr wrap="square" lIns="0" rIns="0" tIns="0" bIns="0" anchor="t">
            <a:spAutoFit/>
          </a:bodyPr>
          <a:lstStyle/>
          <a:p>
            <a:pPr algn="l">
              <a:lnSpc>
                <a:spcPct val="128000"/>
              </a:lnSpc>
            </a:pPr>
            <a:r>
              <a:rPr sz="1150" b="1" i="0">
                <a:solidFill>
                  <a:srgbClr val="FFFFFF"/>
                </a:solidFill>
                <a:latin typeface="Satoshi"/>
              </a:rPr>
              <a:t>Check proof-points.md</a:t>
            </a:r>
          </a:p>
        </p:txBody>
      </p:sp>
      <p:sp>
        <p:nvSpPr>
          <p:cNvPr id="43" name="TextBox 42"/>
          <p:cNvSpPr txBox="1"/>
          <p:nvPr/>
        </p:nvSpPr>
        <p:spPr>
          <a:xfrm>
            <a:off x="3619492" y="3767328"/>
            <a:ext cx="2174740" cy="493776"/>
          </a:xfrm>
          <a:prstGeom prst="rect">
            <a:avLst/>
          </a:prstGeom>
          <a:noFill/>
        </p:spPr>
        <p:txBody>
          <a:bodyPr wrap="square" lIns="0" rIns="0" tIns="0" bIns="0" anchor="t">
            <a:spAutoFit/>
          </a:bodyPr>
          <a:lstStyle/>
          <a:p>
            <a:pPr algn="l">
              <a:lnSpc>
                <a:spcPct val="130000"/>
              </a:lnSpc>
            </a:pPr>
            <a:r>
              <a:rPr sz="860" b="0" i="0">
                <a:solidFill>
                  <a:srgbClr val="B1BDFF"/>
                </a:solidFill>
                <a:latin typeface="Satoshi"/>
              </a:rPr>
              <a:t>The approved proof set in section 7 is the whole permitted universe</a:t>
            </a:r>
          </a:p>
        </p:txBody>
      </p:sp>
      <p:sp>
        <p:nvSpPr>
          <p:cNvPr id="44" name="TextBox 43"/>
          <p:cNvSpPr txBox="1"/>
          <p:nvPr/>
        </p:nvSpPr>
        <p:spPr>
          <a:xfrm>
            <a:off x="5977112" y="3694176"/>
            <a:ext cx="237744" cy="256032"/>
          </a:xfrm>
          <a:prstGeom prst="rect">
            <a:avLst/>
          </a:prstGeom>
          <a:noFill/>
        </p:spPr>
        <p:txBody>
          <a:bodyPr wrap="square" lIns="0" rIns="0" tIns="0" bIns="0" anchor="t">
            <a:spAutoFit/>
          </a:bodyPr>
          <a:lstStyle/>
          <a:p>
            <a:pPr algn="ctr">
              <a:lnSpc>
                <a:spcPct val="128000"/>
              </a:lnSpc>
            </a:pPr>
            <a:r>
              <a:rPr sz="1700" b="1" i="0">
                <a:solidFill>
                  <a:srgbClr val="8A9CFF"/>
                </a:solidFill>
                <a:latin typeface="Satoshi"/>
              </a:rPr>
              <a:t>›</a:t>
            </a:r>
          </a:p>
        </p:txBody>
      </p:sp>
      <p:sp>
        <p:nvSpPr>
          <p:cNvPr id="45" name="Rounded Rectangle 44"/>
          <p:cNvSpPr/>
          <p:nvPr/>
        </p:nvSpPr>
        <p:spPr>
          <a:xfrm>
            <a:off x="6214856" y="3218688"/>
            <a:ext cx="2540500" cy="1207008"/>
          </a:xfrm>
          <a:prstGeom prst="roundRect">
            <a:avLst>
              <a:gd name="adj" fmla="val 2104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214856" y="3218688"/>
            <a:ext cx="2540500"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397736" y="3419856"/>
            <a:ext cx="2174740" cy="274320"/>
          </a:xfrm>
          <a:prstGeom prst="rect">
            <a:avLst/>
          </a:prstGeom>
          <a:noFill/>
        </p:spPr>
        <p:txBody>
          <a:bodyPr wrap="square" lIns="0" rIns="0" tIns="0" bIns="0" anchor="t">
            <a:spAutoFit/>
          </a:bodyPr>
          <a:lstStyle/>
          <a:p>
            <a:pPr algn="l">
              <a:lnSpc>
                <a:spcPct val="128000"/>
              </a:lnSpc>
            </a:pPr>
            <a:r>
              <a:rPr sz="1150" b="1" i="0">
                <a:solidFill>
                  <a:srgbClr val="FFFFFF"/>
                </a:solidFill>
                <a:latin typeface="Satoshi"/>
              </a:rPr>
              <a:t>Not there?</a:t>
            </a:r>
          </a:p>
        </p:txBody>
      </p:sp>
      <p:sp>
        <p:nvSpPr>
          <p:cNvPr id="48" name="TextBox 47"/>
          <p:cNvSpPr txBox="1"/>
          <p:nvPr/>
        </p:nvSpPr>
        <p:spPr>
          <a:xfrm>
            <a:off x="6397736" y="3767328"/>
            <a:ext cx="2174740" cy="493776"/>
          </a:xfrm>
          <a:prstGeom prst="rect">
            <a:avLst/>
          </a:prstGeom>
          <a:noFill/>
        </p:spPr>
        <p:txBody>
          <a:bodyPr wrap="square" lIns="0" rIns="0" tIns="0" bIns="0" anchor="t">
            <a:spAutoFit/>
          </a:bodyPr>
          <a:lstStyle/>
          <a:p>
            <a:pPr algn="l">
              <a:lnSpc>
                <a:spcPct val="130000"/>
              </a:lnSpc>
            </a:pPr>
            <a:r>
              <a:rPr sz="860" b="0" i="0">
                <a:solidFill>
                  <a:srgbClr val="B1BDFF"/>
                </a:solidFill>
                <a:latin typeface="Satoshi"/>
              </a:rPr>
              <a:t>Do not approximate, do not borrow from an adjacent vertical, do not average</a:t>
            </a:r>
          </a:p>
        </p:txBody>
      </p:sp>
      <p:sp>
        <p:nvSpPr>
          <p:cNvPr id="49" name="TextBox 48"/>
          <p:cNvSpPr txBox="1"/>
          <p:nvPr/>
        </p:nvSpPr>
        <p:spPr>
          <a:xfrm>
            <a:off x="8755357" y="3694176"/>
            <a:ext cx="237744" cy="256032"/>
          </a:xfrm>
          <a:prstGeom prst="rect">
            <a:avLst/>
          </a:prstGeom>
          <a:noFill/>
        </p:spPr>
        <p:txBody>
          <a:bodyPr wrap="square" lIns="0" rIns="0" tIns="0" bIns="0" anchor="t">
            <a:spAutoFit/>
          </a:bodyPr>
          <a:lstStyle/>
          <a:p>
            <a:pPr algn="ctr">
              <a:lnSpc>
                <a:spcPct val="128000"/>
              </a:lnSpc>
            </a:pPr>
            <a:r>
              <a:rPr sz="1700" b="1" i="0">
                <a:solidFill>
                  <a:srgbClr val="8A9CFF"/>
                </a:solidFill>
                <a:latin typeface="Satoshi"/>
              </a:rPr>
              <a:t>›</a:t>
            </a:r>
          </a:p>
        </p:txBody>
      </p:sp>
      <p:sp>
        <p:nvSpPr>
          <p:cNvPr id="50" name="Rounded Rectangle 49"/>
          <p:cNvSpPr/>
          <p:nvPr/>
        </p:nvSpPr>
        <p:spPr>
          <a:xfrm>
            <a:off x="8993101" y="3218688"/>
            <a:ext cx="2540500" cy="1207008"/>
          </a:xfrm>
          <a:prstGeom prst="roundRect">
            <a:avLst>
              <a:gd name="adj" fmla="val 2104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993101" y="3218688"/>
            <a:ext cx="2540500"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75981" y="3419856"/>
            <a:ext cx="2174740" cy="274320"/>
          </a:xfrm>
          <a:prstGeom prst="rect">
            <a:avLst/>
          </a:prstGeom>
          <a:noFill/>
        </p:spPr>
        <p:txBody>
          <a:bodyPr wrap="square" lIns="0" rIns="0" tIns="0" bIns="0" anchor="t">
            <a:spAutoFit/>
          </a:bodyPr>
          <a:lstStyle/>
          <a:p>
            <a:pPr algn="l">
              <a:lnSpc>
                <a:spcPct val="128000"/>
              </a:lnSpc>
            </a:pPr>
            <a:r>
              <a:rPr sz="1150" b="1" i="0">
                <a:solidFill>
                  <a:srgbClr val="FFFFFF"/>
                </a:solidFill>
                <a:latin typeface="Satoshi"/>
              </a:rPr>
              <a:t>Open items block</a:t>
            </a:r>
          </a:p>
        </p:txBody>
      </p:sp>
      <p:sp>
        <p:nvSpPr>
          <p:cNvPr id="53" name="TextBox 52"/>
          <p:cNvSpPr txBox="1"/>
          <p:nvPr/>
        </p:nvSpPr>
        <p:spPr>
          <a:xfrm>
            <a:off x="9175981" y="3767328"/>
            <a:ext cx="2174740" cy="493776"/>
          </a:xfrm>
          <a:prstGeom prst="rect">
            <a:avLst/>
          </a:prstGeom>
          <a:noFill/>
        </p:spPr>
        <p:txBody>
          <a:bodyPr wrap="square" lIns="0" rIns="0" tIns="0" bIns="0" anchor="t">
            <a:spAutoFit/>
          </a:bodyPr>
          <a:lstStyle/>
          <a:p>
            <a:pPr algn="l">
              <a:lnSpc>
                <a:spcPct val="130000"/>
              </a:lnSpc>
            </a:pPr>
            <a:r>
              <a:rPr sz="860" b="0" i="0">
                <a:solidFill>
                  <a:srgbClr val="B1BDFF"/>
                </a:solidFill>
                <a:latin typeface="Satoshi"/>
              </a:rPr>
              <a:t>Record it, leave the slot empty, route it to Vadim</a:t>
            </a:r>
          </a:p>
        </p:txBody>
      </p:sp>
      <p:sp>
        <p:nvSpPr>
          <p:cNvPr id="54" name="TextBox 53"/>
          <p:cNvSpPr txBox="1"/>
          <p:nvPr/>
        </p:nvSpPr>
        <p:spPr>
          <a:xfrm>
            <a:off x="658368" y="4846320"/>
            <a:ext cx="10875233" cy="274320"/>
          </a:xfrm>
          <a:prstGeom prst="rect">
            <a:avLst/>
          </a:prstGeom>
          <a:noFill/>
        </p:spPr>
        <p:txBody>
          <a:bodyPr wrap="square" lIns="0" rIns="0" tIns="0" bIns="0" anchor="t">
            <a:spAutoFit/>
          </a:bodyPr>
          <a:lstStyle/>
          <a:p>
            <a:pPr algn="l">
              <a:lnSpc>
                <a:spcPct val="128000"/>
              </a:lnSpc>
            </a:pPr>
            <a:r>
              <a:rPr sz="1000" b="0" i="1">
                <a:solidFill>
                  <a:srgbClr val="8A9CFF"/>
                </a:solidFill>
                <a:latin typeface="Satoshi"/>
              </a:rPr>
              <a:t>The same discipline applies to customer names and quotes: they come from case-studies/, and only with current written permission.</a:t>
            </a:r>
          </a:p>
        </p:txBody>
      </p:sp>
      <p:sp>
        <p:nvSpPr>
          <p:cNvPr id="55" name="TextBox 54"/>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56" name="TextBox 55"/>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3 / 61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01</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Role and scope</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What Nika owns, who she needs, where the assets live, and what the first two weeks look like.</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4 / 61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01 · ROLE AND SCOPE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What Nika owns, and what routes elsewhere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Owning the wrong thing is as expensive as owning nothing. Everything below the line has another owner or another pipeline.</a:t>
            </a:r>
          </a:p>
        </p:txBody>
      </p:sp>
      <p:sp>
        <p:nvSpPr>
          <p:cNvPr id="5" name="Rounded Rectangle 4"/>
          <p:cNvSpPr/>
          <p:nvPr/>
        </p:nvSpPr>
        <p:spPr>
          <a:xfrm>
            <a:off x="658368" y="1828800"/>
            <a:ext cx="5327888" cy="4425696"/>
          </a:xfrm>
          <a:prstGeom prst="roundRect">
            <a:avLst>
              <a:gd name="adj" fmla="val 5739"/>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002536"/>
            <a:ext cx="4925552" cy="256032"/>
          </a:xfrm>
          <a:prstGeom prst="rect">
            <a:avLst/>
          </a:prstGeom>
          <a:noFill/>
        </p:spPr>
        <p:txBody>
          <a:bodyPr wrap="square" lIns="0" rIns="0" tIns="0" bIns="0" anchor="t">
            <a:spAutoFit/>
          </a:bodyPr>
          <a:lstStyle/>
          <a:p>
            <a:pPr algn="l">
              <a:lnSpc>
                <a:spcPct val="128000"/>
              </a:lnSpc>
            </a:pPr>
            <a:r>
              <a:rPr sz="1200" b="1" i="0">
                <a:solidFill>
                  <a:srgbClr val="143DFF"/>
                </a:solidFill>
                <a:latin typeface="Satoshi"/>
              </a:rPr>
              <a:t>Owned end to end</a:t>
            </a:r>
          </a:p>
        </p:txBody>
      </p:sp>
      <p:sp>
        <p:nvSpPr>
          <p:cNvPr id="7" name="TextBox 6"/>
          <p:cNvSpPr txBox="1"/>
          <p:nvPr/>
        </p:nvSpPr>
        <p:spPr>
          <a:xfrm>
            <a:off x="859536" y="2359152"/>
            <a:ext cx="4925552" cy="3712463"/>
          </a:xfrm>
          <a:prstGeom prst="rect">
            <a:avLst/>
          </a:prstGeom>
          <a:noFill/>
        </p:spPr>
        <p:txBody>
          <a:bodyPr wrap="square" lIns="0" rIns="0" tIns="0" bIns="0" anchor="t">
            <a:spAutoFit/>
          </a:bodyPr>
          <a:lstStyle/>
          <a:p>
            <a:pPr algn="l">
              <a:lnSpc>
                <a:spcPct val="126000"/>
              </a:lnSpc>
              <a:spcAft>
                <a:spcPts val="340"/>
              </a:spcAft>
            </a:pPr>
            <a:r>
              <a:rPr sz="860" b="1" i="0">
                <a:solidFill>
                  <a:srgbClr val="143DFF"/>
                </a:solidFill>
                <a:latin typeface="Satoshi"/>
              </a:rPr>
              <a:t>·  </a:t>
            </a:r>
            <a:r>
              <a:rPr sz="860" b="0" i="0">
                <a:solidFill>
                  <a:srgbClr val="4C4C4C"/>
                </a:solidFill>
                <a:latin typeface="Satoshi"/>
              </a:rPr>
              <a:t>Vertical demo decks, FitXpress for X. Copy, structure, slide-level design brief, versioning</a:t>
            </a:r>
          </a:p>
          <a:p>
            <a:pPr algn="l">
              <a:lnSpc>
                <a:spcPct val="126000"/>
              </a:lnSpc>
              <a:spcAft>
                <a:spcPts val="340"/>
              </a:spcAft>
            </a:pPr>
            <a:r>
              <a:rPr sz="860" b="1" i="0">
                <a:solidFill>
                  <a:srgbClr val="143DFF"/>
                </a:solidFill>
                <a:latin typeface="Satoshi"/>
              </a:rPr>
              <a:t>·  </a:t>
            </a:r>
            <a:r>
              <a:rPr sz="860" b="0" i="0">
                <a:solidFill>
                  <a:srgbClr val="4C4C4C"/>
                </a:solidFill>
                <a:latin typeface="Satoshi"/>
              </a:rPr>
              <a:t>First-call and leave-behind decks, short cuts of the demo deck on the same spine</a:t>
            </a:r>
          </a:p>
          <a:p>
            <a:pPr algn="l">
              <a:lnSpc>
                <a:spcPct val="126000"/>
              </a:lnSpc>
              <a:spcAft>
                <a:spcPts val="340"/>
              </a:spcAft>
            </a:pPr>
            <a:r>
              <a:rPr sz="860" b="1" i="0">
                <a:solidFill>
                  <a:srgbClr val="143DFF"/>
                </a:solidFill>
                <a:latin typeface="Satoshi"/>
              </a:rPr>
              <a:t>·  </a:t>
            </a:r>
            <a:r>
              <a:rPr sz="860" b="0" i="0">
                <a:solidFill>
                  <a:srgbClr val="4C4C4C"/>
                </a:solidFill>
                <a:latin typeface="Satoshi"/>
              </a:rPr>
              <a:t>Vertical landing pages on 3dlook.ai, as the driver through the /page pipeline</a:t>
            </a:r>
          </a:p>
          <a:p>
            <a:pPr algn="l">
              <a:lnSpc>
                <a:spcPct val="126000"/>
              </a:lnSpc>
              <a:spcAft>
                <a:spcPts val="340"/>
              </a:spcAft>
            </a:pPr>
            <a:r>
              <a:rPr sz="860" b="1" i="0">
                <a:solidFill>
                  <a:srgbClr val="143DFF"/>
                </a:solidFill>
                <a:latin typeface="Satoshi"/>
              </a:rPr>
              <a:t>·  </a:t>
            </a:r>
            <a:r>
              <a:rPr sz="860" b="0" i="0">
                <a:solidFill>
                  <a:srgbClr val="4C4C4C"/>
                </a:solidFill>
                <a:latin typeface="Satoshi"/>
              </a:rPr>
              <a:t>Campaign landing pages, same section map, shorter, one message each</a:t>
            </a:r>
          </a:p>
          <a:p>
            <a:pPr algn="l">
              <a:lnSpc>
                <a:spcPct val="126000"/>
              </a:lnSpc>
              <a:spcAft>
                <a:spcPts val="340"/>
              </a:spcAft>
            </a:pPr>
            <a:r>
              <a:rPr sz="860" b="1" i="0">
                <a:solidFill>
                  <a:srgbClr val="143DFF"/>
                </a:solidFill>
                <a:latin typeface="Satoshi"/>
              </a:rPr>
              <a:t>·  </a:t>
            </a:r>
            <a:r>
              <a:rPr sz="860" b="0" i="0">
                <a:solidFill>
                  <a:srgbClr val="4C4C4C"/>
                </a:solidFill>
                <a:latin typeface="Satoshi"/>
              </a:rPr>
              <a:t>Two-pagers and one-pagers, using the print variant of the design system</a:t>
            </a:r>
          </a:p>
          <a:p>
            <a:pPr algn="l">
              <a:lnSpc>
                <a:spcPct val="126000"/>
              </a:lnSpc>
              <a:spcAft>
                <a:spcPts val="340"/>
              </a:spcAft>
            </a:pPr>
            <a:r>
              <a:rPr sz="860" b="1" i="0">
                <a:solidFill>
                  <a:srgbClr val="143DFF"/>
                </a:solidFill>
                <a:latin typeface="Satoshi"/>
              </a:rPr>
              <a:t>·  </a:t>
            </a:r>
            <a:r>
              <a:rPr sz="860" b="0" i="0">
                <a:solidFill>
                  <a:srgbClr val="4C4C4C"/>
                </a:solidFill>
                <a:latin typeface="Satoshi"/>
              </a:rPr>
              <a:t>Messaging per segment: hero line, proof set, objection answers, disclaimer</a:t>
            </a:r>
          </a:p>
        </p:txBody>
      </p:sp>
      <p:sp>
        <p:nvSpPr>
          <p:cNvPr id="8" name="Rounded Rectangle 7"/>
          <p:cNvSpPr/>
          <p:nvPr/>
        </p:nvSpPr>
        <p:spPr>
          <a:xfrm>
            <a:off x="6205712" y="1828800"/>
            <a:ext cx="5327888" cy="4425696"/>
          </a:xfrm>
          <a:prstGeom prst="roundRect">
            <a:avLst>
              <a:gd name="adj" fmla="val 5739"/>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6880" y="2002536"/>
            <a:ext cx="4925552" cy="256032"/>
          </a:xfrm>
          <a:prstGeom prst="rect">
            <a:avLst/>
          </a:prstGeom>
          <a:noFill/>
        </p:spPr>
        <p:txBody>
          <a:bodyPr wrap="square" lIns="0" rIns="0" tIns="0" bIns="0" anchor="t">
            <a:spAutoFit/>
          </a:bodyPr>
          <a:lstStyle/>
          <a:p>
            <a:pPr algn="l">
              <a:lnSpc>
                <a:spcPct val="128000"/>
              </a:lnSpc>
            </a:pPr>
            <a:r>
              <a:rPr sz="1200" b="1" i="0">
                <a:solidFill>
                  <a:srgbClr val="050F40"/>
                </a:solidFill>
                <a:latin typeface="Satoshi"/>
              </a:rPr>
              <a:t>Routes elsewhere</a:t>
            </a:r>
          </a:p>
        </p:txBody>
      </p:sp>
      <p:sp>
        <p:nvSpPr>
          <p:cNvPr id="10" name="TextBox 9"/>
          <p:cNvSpPr txBox="1"/>
          <p:nvPr/>
        </p:nvSpPr>
        <p:spPr>
          <a:xfrm>
            <a:off x="6406880" y="2359152"/>
            <a:ext cx="4925552" cy="3712463"/>
          </a:xfrm>
          <a:prstGeom prst="rect">
            <a:avLst/>
          </a:prstGeom>
          <a:noFill/>
        </p:spPr>
        <p:txBody>
          <a:bodyPr wrap="square" lIns="0" rIns="0" tIns="0" bIns="0" anchor="t">
            <a:spAutoFit/>
          </a:bodyPr>
          <a:lstStyle/>
          <a:p>
            <a:pPr algn="l">
              <a:lnSpc>
                <a:spcPct val="126000"/>
              </a:lnSpc>
              <a:spcAft>
                <a:spcPts val="340"/>
              </a:spcAft>
            </a:pPr>
            <a:r>
              <a:rPr sz="860" b="1" i="0">
                <a:solidFill>
                  <a:srgbClr val="050F40"/>
                </a:solidFill>
                <a:latin typeface="Satoshi"/>
              </a:rPr>
              <a:t>·  </a:t>
            </a:r>
            <a:r>
              <a:rPr sz="860" b="0" i="0">
                <a:solidFill>
                  <a:srgbClr val="4C4C4C"/>
                </a:solidFill>
                <a:latin typeface="Satoshi"/>
              </a:rPr>
              <a:t>Blog and SEO articles, route to /new-article. A page brief and an article brief resolve against different plans and will contradict each other</a:t>
            </a:r>
          </a:p>
          <a:p>
            <a:pPr algn="l">
              <a:lnSpc>
                <a:spcPct val="126000"/>
              </a:lnSpc>
              <a:spcAft>
                <a:spcPts val="340"/>
              </a:spcAft>
            </a:pPr>
            <a:r>
              <a:rPr sz="860" b="1" i="0">
                <a:solidFill>
                  <a:srgbClr val="050F40"/>
                </a:solidFill>
                <a:latin typeface="Satoshi"/>
              </a:rPr>
              <a:t>·  </a:t>
            </a:r>
            <a:r>
              <a:rPr sz="860" b="0" i="0">
                <a:solidFill>
                  <a:srgbClr val="4C4C4C"/>
                </a:solidFill>
                <a:latin typeface="Satoshi"/>
              </a:rPr>
              <a:t>Social posts from a published article, route to /post-from-article</a:t>
            </a:r>
          </a:p>
          <a:p>
            <a:pPr algn="l">
              <a:lnSpc>
                <a:spcPct val="126000"/>
              </a:lnSpc>
              <a:spcAft>
                <a:spcPts val="340"/>
              </a:spcAft>
            </a:pPr>
            <a:r>
              <a:rPr sz="860" b="1" i="0">
                <a:solidFill>
                  <a:srgbClr val="050F40"/>
                </a:solidFill>
                <a:latin typeface="Satoshi"/>
              </a:rPr>
              <a:t>·  </a:t>
            </a:r>
            <a:r>
              <a:rPr sz="860" b="0" i="0">
                <a:solidFill>
                  <a:srgbClr val="4C4C4C"/>
                </a:solidFill>
                <a:latin typeface="Satoshi"/>
              </a:rPr>
              <a:t>Outbound sequences, route to /outbound</a:t>
            </a:r>
          </a:p>
          <a:p>
            <a:pPr algn="l">
              <a:lnSpc>
                <a:spcPct val="126000"/>
              </a:lnSpc>
              <a:spcAft>
                <a:spcPts val="340"/>
              </a:spcAft>
            </a:pPr>
            <a:r>
              <a:rPr sz="860" b="1" i="0">
                <a:solidFill>
                  <a:srgbClr val="050F40"/>
                </a:solidFill>
                <a:latin typeface="Satoshi"/>
              </a:rPr>
              <a:t>·  </a:t>
            </a:r>
            <a:r>
              <a:rPr sz="860" b="0" i="0">
                <a:solidFill>
                  <a:srgbClr val="4C4C4C"/>
                </a:solidFill>
                <a:latin typeface="Satoshi"/>
              </a:rPr>
              <a:t>Pricing decisions and exceptions: Katerina Galich or Kate Kondakova</a:t>
            </a:r>
          </a:p>
          <a:p>
            <a:pPr algn="l">
              <a:lnSpc>
                <a:spcPct val="126000"/>
              </a:lnSpc>
              <a:spcAft>
                <a:spcPts val="340"/>
              </a:spcAft>
            </a:pPr>
            <a:r>
              <a:rPr sz="860" b="1" i="0">
                <a:solidFill>
                  <a:srgbClr val="050F40"/>
                </a:solidFill>
                <a:latin typeface="Satoshi"/>
              </a:rPr>
              <a:t>·  </a:t>
            </a:r>
            <a:r>
              <a:rPr sz="860" b="0" i="0">
                <a:solidFill>
                  <a:srgbClr val="4C4C4C"/>
                </a:solidFill>
                <a:latin typeface="Satoshi"/>
              </a:rPr>
              <a:t>Final editorial sign-off on published health copy: Asselya Sekerova, non-optional</a:t>
            </a:r>
          </a:p>
          <a:p>
            <a:pPr algn="l">
              <a:lnSpc>
                <a:spcPct val="126000"/>
              </a:lnSpc>
              <a:spcAft>
                <a:spcPts val="340"/>
              </a:spcAft>
            </a:pPr>
            <a:r>
              <a:rPr sz="860" b="1" i="0">
                <a:solidFill>
                  <a:srgbClr val="050F40"/>
                </a:solidFill>
                <a:latin typeface="Satoshi"/>
              </a:rPr>
              <a:t>·  </a:t>
            </a:r>
            <a:r>
              <a:rPr sz="860" b="0" i="0">
                <a:solidFill>
                  <a:srgbClr val="4C4C4C"/>
                </a:solidFill>
                <a:latin typeface="Satoshi"/>
              </a:rPr>
              <a:t>Claims touching medical, compliance, underwriting or employment: escalate to Whitney Cathcart and Katerina before publishing</a:t>
            </a:r>
          </a:p>
        </p:txBody>
      </p:sp>
      <p:sp>
        <p:nvSpPr>
          <p:cNvPr id="11" name="TextBox 1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12" name="TextBox 1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 / 61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01 · ROLE AND SCOPE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Who Nika needs, and what for</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Weekly: what shipped, what is blocked, which numbers need confirmation. Bi-weekly with Katerina on positioning. Monthly asset audit.</a:t>
            </a:r>
          </a:p>
        </p:txBody>
      </p:sp>
      <p:sp>
        <p:nvSpPr>
          <p:cNvPr id="5" name="Rounded Rectangle 4"/>
          <p:cNvSpPr/>
          <p:nvPr/>
        </p:nvSpPr>
        <p:spPr>
          <a:xfrm>
            <a:off x="658368" y="1828800"/>
            <a:ext cx="3503157" cy="1298448"/>
          </a:xfrm>
          <a:prstGeom prst="roundRect">
            <a:avLst>
              <a:gd name="adj" fmla="val 1956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12984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Katerina Galich · CEO</a:t>
            </a:r>
          </a:p>
        </p:txBody>
      </p:sp>
      <p:sp>
        <p:nvSpPr>
          <p:cNvPr id="8" name="TextBox 7"/>
          <p:cNvSpPr txBox="1"/>
          <p:nvPr/>
        </p:nvSpPr>
        <p:spPr>
          <a:xfrm>
            <a:off x="886968" y="2210308"/>
            <a:ext cx="3100821" cy="743204"/>
          </a:xfrm>
          <a:prstGeom prst="rect">
            <a:avLst/>
          </a:prstGeom>
          <a:noFill/>
        </p:spPr>
        <p:txBody>
          <a:bodyPr wrap="square" lIns="0" rIns="0" tIns="0" bIns="0" anchor="t">
            <a:spAutoFit/>
          </a:bodyPr>
          <a:lstStyle/>
          <a:p>
            <a:pPr algn="l">
              <a:lnSpc>
                <a:spcPct val="130000"/>
              </a:lnSpc>
            </a:pPr>
            <a:r>
              <a:rPr sz="880" b="0" i="0">
                <a:solidFill>
                  <a:srgbClr val="4C4C4C"/>
                </a:solidFill>
                <a:latin typeface="Satoshi"/>
              </a:rPr>
              <a:t>Positioning calls, competitive framing sign-off, pricing exceptions, customer logo and quote permission</a:t>
            </a:r>
          </a:p>
        </p:txBody>
      </p:sp>
      <p:sp>
        <p:nvSpPr>
          <p:cNvPr id="9" name="Rounded Rectangle 8"/>
          <p:cNvSpPr/>
          <p:nvPr/>
        </p:nvSpPr>
        <p:spPr>
          <a:xfrm>
            <a:off x="4344405" y="1828800"/>
            <a:ext cx="3503157" cy="1298448"/>
          </a:xfrm>
          <a:prstGeom prst="roundRect">
            <a:avLst>
              <a:gd name="adj" fmla="val 1956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405" y="1828800"/>
            <a:ext cx="50292" cy="12984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3005"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Whitney Cathcart · Co-founder and CCO</a:t>
            </a:r>
          </a:p>
        </p:txBody>
      </p:sp>
      <p:sp>
        <p:nvSpPr>
          <p:cNvPr id="12" name="TextBox 11"/>
          <p:cNvSpPr txBox="1"/>
          <p:nvPr/>
        </p:nvSpPr>
        <p:spPr>
          <a:xfrm>
            <a:off x="4573005" y="2210308"/>
            <a:ext cx="3100821" cy="743204"/>
          </a:xfrm>
          <a:prstGeom prst="rect">
            <a:avLst/>
          </a:prstGeom>
          <a:noFill/>
        </p:spPr>
        <p:txBody>
          <a:bodyPr wrap="square" lIns="0" rIns="0" tIns="0" bIns="0" anchor="t">
            <a:spAutoFit/>
          </a:bodyPr>
          <a:lstStyle/>
          <a:p>
            <a:pPr algn="l">
              <a:lnSpc>
                <a:spcPct val="130000"/>
              </a:lnSpc>
            </a:pPr>
            <a:r>
              <a:rPr sz="880" b="0" i="0">
                <a:solidFill>
                  <a:srgbClr val="4C4C4C"/>
                </a:solidFill>
                <a:latin typeface="Satoshi"/>
              </a:rPr>
              <a:t>Deck guidance, and claims framing on every regulated vertical</a:t>
            </a:r>
          </a:p>
        </p:txBody>
      </p:sp>
      <p:sp>
        <p:nvSpPr>
          <p:cNvPr id="13" name="Rounded Rectangle 12"/>
          <p:cNvSpPr/>
          <p:nvPr/>
        </p:nvSpPr>
        <p:spPr>
          <a:xfrm>
            <a:off x="8030443" y="1828800"/>
            <a:ext cx="3503157" cy="1298448"/>
          </a:xfrm>
          <a:prstGeom prst="roundRect">
            <a:avLst>
              <a:gd name="adj" fmla="val 1956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0443" y="1828800"/>
            <a:ext cx="50292" cy="12984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9043"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Vadim Bilan · Marketing</a:t>
            </a:r>
          </a:p>
        </p:txBody>
      </p:sp>
      <p:sp>
        <p:nvSpPr>
          <p:cNvPr id="16" name="TextBox 15"/>
          <p:cNvSpPr txBox="1"/>
          <p:nvPr/>
        </p:nvSpPr>
        <p:spPr>
          <a:xfrm>
            <a:off x="8259043" y="2210308"/>
            <a:ext cx="3100821" cy="743204"/>
          </a:xfrm>
          <a:prstGeom prst="rect">
            <a:avLst/>
          </a:prstGeom>
          <a:noFill/>
        </p:spPr>
        <p:txBody>
          <a:bodyPr wrap="square" lIns="0" rIns="0" tIns="0" bIns="0" anchor="t">
            <a:spAutoFit/>
          </a:bodyPr>
          <a:lstStyle/>
          <a:p>
            <a:pPr algn="l">
              <a:lnSpc>
                <a:spcPct val="130000"/>
              </a:lnSpc>
            </a:pPr>
            <a:r>
              <a:rPr sz="880" b="0" i="0">
                <a:solidFill>
                  <a:srgbClr val="4C4C4C"/>
                </a:solidFill>
                <a:latin typeface="Satoshi"/>
              </a:rPr>
              <a:t>Number confirmation, proof-points.md updates, brand asset access, the repo and the automation pipelines</a:t>
            </a:r>
          </a:p>
        </p:txBody>
      </p:sp>
      <p:sp>
        <p:nvSpPr>
          <p:cNvPr id="17" name="Rounded Rectangle 16"/>
          <p:cNvSpPr/>
          <p:nvPr/>
        </p:nvSpPr>
        <p:spPr>
          <a:xfrm>
            <a:off x="658368" y="3310128"/>
            <a:ext cx="3503157" cy="1298448"/>
          </a:xfrm>
          <a:prstGeom prst="roundRect">
            <a:avLst>
              <a:gd name="adj" fmla="val 1956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310128"/>
            <a:ext cx="50292" cy="12984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3465576"/>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Asselya Sekerova · Editorial</a:t>
            </a:r>
          </a:p>
        </p:txBody>
      </p:sp>
      <p:sp>
        <p:nvSpPr>
          <p:cNvPr id="20" name="TextBox 19"/>
          <p:cNvSpPr txBox="1"/>
          <p:nvPr/>
        </p:nvSpPr>
        <p:spPr>
          <a:xfrm>
            <a:off x="886968" y="3691636"/>
            <a:ext cx="3100821" cy="743203"/>
          </a:xfrm>
          <a:prstGeom prst="rect">
            <a:avLst/>
          </a:prstGeom>
          <a:noFill/>
        </p:spPr>
        <p:txBody>
          <a:bodyPr wrap="square" lIns="0" rIns="0" tIns="0" bIns="0" anchor="t">
            <a:spAutoFit/>
          </a:bodyPr>
          <a:lstStyle/>
          <a:p>
            <a:pPr algn="l">
              <a:lnSpc>
                <a:spcPct val="130000"/>
              </a:lnSpc>
            </a:pPr>
            <a:r>
              <a:rPr sz="880" b="0" i="0">
                <a:solidFill>
                  <a:srgbClr val="4C4C4C"/>
                </a:solidFill>
                <a:latin typeface="Satoshi"/>
              </a:rPr>
              <a:t>Final review of health copy before publish. Non-optional</a:t>
            </a:r>
          </a:p>
        </p:txBody>
      </p:sp>
      <p:sp>
        <p:nvSpPr>
          <p:cNvPr id="21" name="Rounded Rectangle 20"/>
          <p:cNvSpPr/>
          <p:nvPr/>
        </p:nvSpPr>
        <p:spPr>
          <a:xfrm>
            <a:off x="4344405" y="3310128"/>
            <a:ext cx="3503157" cy="1298448"/>
          </a:xfrm>
          <a:prstGeom prst="roundRect">
            <a:avLst>
              <a:gd name="adj" fmla="val 1956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4405" y="3310128"/>
            <a:ext cx="50292" cy="12984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3005" y="3465576"/>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Max Kucherenko · VP Product</a:t>
            </a:r>
          </a:p>
        </p:txBody>
      </p:sp>
      <p:sp>
        <p:nvSpPr>
          <p:cNvPr id="24" name="TextBox 23"/>
          <p:cNvSpPr txBox="1"/>
          <p:nvPr/>
        </p:nvSpPr>
        <p:spPr>
          <a:xfrm>
            <a:off x="4573005" y="3691636"/>
            <a:ext cx="3100821" cy="743203"/>
          </a:xfrm>
          <a:prstGeom prst="rect">
            <a:avLst/>
          </a:prstGeom>
          <a:noFill/>
        </p:spPr>
        <p:txBody>
          <a:bodyPr wrap="square" lIns="0" rIns="0" tIns="0" bIns="0" anchor="t">
            <a:spAutoFit/>
          </a:bodyPr>
          <a:lstStyle/>
          <a:p>
            <a:pPr algn="l">
              <a:lnSpc>
                <a:spcPct val="130000"/>
              </a:lnSpc>
            </a:pPr>
            <a:r>
              <a:rPr sz="880" b="0" i="0">
                <a:solidFill>
                  <a:srgbClr val="4C4C4C"/>
                </a:solidFill>
                <a:latin typeface="Satoshi"/>
              </a:rPr>
              <a:t>Capability questions, roadmap status, what may be promised</a:t>
            </a:r>
          </a:p>
        </p:txBody>
      </p:sp>
      <p:sp>
        <p:nvSpPr>
          <p:cNvPr id="25" name="Rounded Rectangle 24"/>
          <p:cNvSpPr/>
          <p:nvPr/>
        </p:nvSpPr>
        <p:spPr>
          <a:xfrm>
            <a:off x="8030443" y="3310128"/>
            <a:ext cx="3503157" cy="1298448"/>
          </a:xfrm>
          <a:prstGeom prst="roundRect">
            <a:avLst>
              <a:gd name="adj" fmla="val 19561"/>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0443" y="3310128"/>
            <a:ext cx="50292" cy="12984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59043" y="3465576"/>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Nick, Olena, Kateryna · Business development</a:t>
            </a:r>
          </a:p>
        </p:txBody>
      </p:sp>
      <p:sp>
        <p:nvSpPr>
          <p:cNvPr id="28" name="TextBox 27"/>
          <p:cNvSpPr txBox="1"/>
          <p:nvPr/>
        </p:nvSpPr>
        <p:spPr>
          <a:xfrm>
            <a:off x="8259043" y="3691636"/>
            <a:ext cx="3100821" cy="743203"/>
          </a:xfrm>
          <a:prstGeom prst="rect">
            <a:avLst/>
          </a:prstGeom>
          <a:noFill/>
        </p:spPr>
        <p:txBody>
          <a:bodyPr wrap="square" lIns="0" rIns="0" tIns="0" bIns="0" anchor="t">
            <a:spAutoFit/>
          </a:bodyPr>
          <a:lstStyle/>
          <a:p>
            <a:pPr algn="l">
              <a:lnSpc>
                <a:spcPct val="130000"/>
              </a:lnSpc>
            </a:pPr>
            <a:r>
              <a:rPr sz="880" b="0" i="0">
                <a:solidFill>
                  <a:srgbClr val="4C4C4C"/>
                </a:solidFill>
                <a:latin typeface="Satoshi"/>
              </a:rPr>
              <a:t>The real objections and the vertical specifics a page or deck needs. The source for what a buyer in this market actually asks</a:t>
            </a:r>
          </a:p>
        </p:txBody>
      </p:sp>
      <p:sp>
        <p:nvSpPr>
          <p:cNvPr id="29" name="Rounded Rectangle 28"/>
          <p:cNvSpPr/>
          <p:nvPr/>
        </p:nvSpPr>
        <p:spPr>
          <a:xfrm>
            <a:off x="658368" y="4754880"/>
            <a:ext cx="10875233" cy="822960"/>
          </a:xfrm>
          <a:prstGeom prst="roundRect">
            <a:avLst>
              <a:gd name="adj" fmla="val 30864"/>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 y="48737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ESCALATE IMMEDIATELY</a:t>
            </a:r>
          </a:p>
        </p:txBody>
      </p:sp>
      <p:sp>
        <p:nvSpPr>
          <p:cNvPr id="31" name="TextBox 30"/>
          <p:cNvSpPr txBox="1"/>
          <p:nvPr/>
        </p:nvSpPr>
        <p:spPr>
          <a:xfrm>
            <a:off x="877824" y="5065776"/>
            <a:ext cx="10418033" cy="402336"/>
          </a:xfrm>
          <a:prstGeom prst="rect">
            <a:avLst/>
          </a:prstGeom>
          <a:noFill/>
        </p:spPr>
        <p:txBody>
          <a:bodyPr wrap="square" lIns="0" rIns="0" tIns="0" bIns="0" anchor="t">
            <a:spAutoFit/>
          </a:bodyPr>
          <a:lstStyle/>
          <a:p>
            <a:pPr algn="l">
              <a:lnSpc>
                <a:spcPct val="114000"/>
              </a:lnSpc>
            </a:pPr>
            <a:r>
              <a:rPr sz="1150" b="1" i="0">
                <a:solidFill>
                  <a:srgbClr val="FFFFFF"/>
                </a:solidFill>
                <a:latin typeface="Satoshi"/>
              </a:rPr>
              <a:t>A deck or page needs a figure that does not exist  ·  a customer name or quote is requested without written permission  ·  a claim starts drifting toward diagnosis, eligibility decisioning or guaranteed compliance</a:t>
            </a:r>
          </a:p>
        </p:txBody>
      </p:sp>
      <p:sp>
        <p:nvSpPr>
          <p:cNvPr id="32" name="TextBox 31"/>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3" name="TextBox 32"/>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6 / 61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01 · ROLE AND SCOPE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Where the assets live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Local repo governs voice, claims and design. Drive holds the existing collateral and the raw buyer material.</a:t>
            </a:r>
          </a:p>
        </p:txBody>
      </p:sp>
      <p:sp>
        <p:nvSpPr>
          <p:cNvPr id="5" name="TextBox 4"/>
          <p:cNvSpPr txBox="1"/>
          <p:nvPr/>
        </p:nvSpPr>
        <p:spPr>
          <a:xfrm>
            <a:off x="658368" y="1828800"/>
            <a:ext cx="10875233" cy="219456"/>
          </a:xfrm>
          <a:prstGeom prst="rect">
            <a:avLst/>
          </a:prstGeom>
          <a:noFill/>
        </p:spPr>
        <p:txBody>
          <a:bodyPr wrap="square" lIns="0" rIns="0" tIns="0" bIns="0" anchor="t">
            <a:spAutoFit/>
          </a:bodyPr>
          <a:lstStyle/>
          <a:p>
            <a:pPr algn="l">
              <a:lnSpc>
                <a:spcPct val="128000"/>
              </a:lnSpc>
            </a:pPr>
            <a:r>
              <a:rPr sz="860" b="1" i="0">
                <a:solidFill>
                  <a:srgbClr val="143DFF"/>
                </a:solidFill>
                <a:latin typeface="Satoshi"/>
              </a:rPr>
              <a:t>LOCAL REPO, THE SOURCE OF TRUTH</a:t>
            </a:r>
          </a:p>
        </p:txBody>
      </p:sp>
      <p:sp>
        <p:nvSpPr>
          <p:cNvPr id="6" name="Rectangle 5"/>
          <p:cNvSpPr/>
          <p:nvPr/>
        </p:nvSpPr>
        <p:spPr>
          <a:xfrm>
            <a:off x="658368" y="210312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8952" y="2153412"/>
            <a:ext cx="3079690"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Path</a:t>
            </a:r>
          </a:p>
        </p:txBody>
      </p:sp>
      <p:sp>
        <p:nvSpPr>
          <p:cNvPr id="8" name="TextBox 7"/>
          <p:cNvSpPr txBox="1"/>
          <p:nvPr/>
        </p:nvSpPr>
        <p:spPr>
          <a:xfrm>
            <a:off x="4021522" y="2153412"/>
            <a:ext cx="7429783"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What it governs</a:t>
            </a:r>
          </a:p>
        </p:txBody>
      </p:sp>
      <p:sp>
        <p:nvSpPr>
          <p:cNvPr id="9" name="Rectangle 8"/>
          <p:cNvSpPr/>
          <p:nvPr/>
        </p:nvSpPr>
        <p:spPr>
          <a:xfrm>
            <a:off x="658368" y="2377439"/>
            <a:ext cx="10875233" cy="24871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37743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418587"/>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proof-points.md</a:t>
            </a:r>
          </a:p>
        </p:txBody>
      </p:sp>
      <p:sp>
        <p:nvSpPr>
          <p:cNvPr id="12" name="TextBox 11"/>
          <p:cNvSpPr txBox="1"/>
          <p:nvPr/>
        </p:nvSpPr>
        <p:spPr>
          <a:xfrm>
            <a:off x="4021522" y="2418587"/>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Every number. Nothing else is a citable figure</a:t>
            </a:r>
          </a:p>
        </p:txBody>
      </p:sp>
      <p:sp>
        <p:nvSpPr>
          <p:cNvPr id="13" name="Rectangle 12"/>
          <p:cNvSpPr/>
          <p:nvPr/>
        </p:nvSpPr>
        <p:spPr>
          <a:xfrm>
            <a:off x="658368" y="2626156"/>
            <a:ext cx="10875233" cy="2487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262615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2667304"/>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about-me.md</a:t>
            </a:r>
          </a:p>
        </p:txBody>
      </p:sp>
      <p:sp>
        <p:nvSpPr>
          <p:cNvPr id="16" name="TextBox 15"/>
          <p:cNvSpPr txBox="1"/>
          <p:nvPr/>
        </p:nvSpPr>
        <p:spPr>
          <a:xfrm>
            <a:off x="4021522" y="2667304"/>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Brand voice, claims discipline, accuracy framing, call-to-action discipline</a:t>
            </a:r>
          </a:p>
        </p:txBody>
      </p:sp>
      <p:sp>
        <p:nvSpPr>
          <p:cNvPr id="17" name="Rectangle 16"/>
          <p:cNvSpPr/>
          <p:nvPr/>
        </p:nvSpPr>
        <p:spPr>
          <a:xfrm>
            <a:off x="658368" y="2874873"/>
            <a:ext cx="10875233" cy="24871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287487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2916021"/>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audience.md</a:t>
            </a:r>
          </a:p>
        </p:txBody>
      </p:sp>
      <p:sp>
        <p:nvSpPr>
          <p:cNvPr id="20" name="TextBox 19"/>
          <p:cNvSpPr txBox="1"/>
          <p:nvPr/>
        </p:nvSpPr>
        <p:spPr>
          <a:xfrm>
            <a:off x="4021522" y="2916021"/>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seven health segments: the hook, and what NOT to say</a:t>
            </a:r>
          </a:p>
        </p:txBody>
      </p:sp>
      <p:sp>
        <p:nvSpPr>
          <p:cNvPr id="21" name="Rectangle 20"/>
          <p:cNvSpPr/>
          <p:nvPr/>
        </p:nvSpPr>
        <p:spPr>
          <a:xfrm>
            <a:off x="658368" y="3123590"/>
            <a:ext cx="10875233" cy="2487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312359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3164738"/>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DESIGN.md</a:t>
            </a:r>
          </a:p>
        </p:txBody>
      </p:sp>
      <p:sp>
        <p:nvSpPr>
          <p:cNvPr id="24" name="TextBox 23"/>
          <p:cNvSpPr txBox="1"/>
          <p:nvPr/>
        </p:nvSpPr>
        <p:spPr>
          <a:xfrm>
            <a:off x="4021522" y="3164738"/>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Every design token. The only design source of truth</a:t>
            </a:r>
          </a:p>
        </p:txBody>
      </p:sp>
      <p:sp>
        <p:nvSpPr>
          <p:cNvPr id="25" name="Rectangle 24"/>
          <p:cNvSpPr/>
          <p:nvPr/>
        </p:nvSpPr>
        <p:spPr>
          <a:xfrm>
            <a:off x="658368" y="3372307"/>
            <a:ext cx="10875233" cy="24871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3372307"/>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3413455"/>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CLAUDE.md</a:t>
            </a:r>
          </a:p>
        </p:txBody>
      </p:sp>
      <p:sp>
        <p:nvSpPr>
          <p:cNvPr id="28" name="TextBox 27"/>
          <p:cNvSpPr txBox="1"/>
          <p:nvPr/>
        </p:nvSpPr>
        <p:spPr>
          <a:xfrm>
            <a:off x="4021522" y="3413455"/>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Company facts, the two-product split, banned words, compliance posture</a:t>
            </a:r>
          </a:p>
        </p:txBody>
      </p:sp>
      <p:sp>
        <p:nvSpPr>
          <p:cNvPr id="29" name="Rectangle 28"/>
          <p:cNvSpPr/>
          <p:nvPr/>
        </p:nvSpPr>
        <p:spPr>
          <a:xfrm>
            <a:off x="658368" y="3621024"/>
            <a:ext cx="10875233" cy="2487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362102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3662172"/>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icp-detail.md · messaging.md</a:t>
            </a:r>
          </a:p>
        </p:txBody>
      </p:sp>
      <p:sp>
        <p:nvSpPr>
          <p:cNvPr id="32" name="TextBox 31"/>
          <p:cNvSpPr txBox="1"/>
          <p:nvPr/>
        </p:nvSpPr>
        <p:spPr>
          <a:xfrm>
            <a:off x="4021522" y="3662172"/>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Buyer titles, revenue thresholds, triggers. Approved hero lines</a:t>
            </a:r>
          </a:p>
        </p:txBody>
      </p:sp>
      <p:sp>
        <p:nvSpPr>
          <p:cNvPr id="33" name="Rectangle 32"/>
          <p:cNvSpPr/>
          <p:nvPr/>
        </p:nvSpPr>
        <p:spPr>
          <a:xfrm>
            <a:off x="658368" y="3869740"/>
            <a:ext cx="10875233" cy="24871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8368" y="386974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 y="3910888"/>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case-studies/</a:t>
            </a:r>
          </a:p>
        </p:txBody>
      </p:sp>
      <p:sp>
        <p:nvSpPr>
          <p:cNvPr id="36" name="TextBox 35"/>
          <p:cNvSpPr txBox="1"/>
          <p:nvPr/>
        </p:nvSpPr>
        <p:spPr>
          <a:xfrm>
            <a:off x="4021522" y="3910888"/>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only place a customer name and a customer number may come from</a:t>
            </a:r>
          </a:p>
        </p:txBody>
      </p:sp>
      <p:sp>
        <p:nvSpPr>
          <p:cNvPr id="37" name="Rectangle 36"/>
          <p:cNvSpPr/>
          <p:nvPr/>
        </p:nvSpPr>
        <p:spPr>
          <a:xfrm>
            <a:off x="658368" y="4118457"/>
            <a:ext cx="10875233" cy="24871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368" y="4118457"/>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952" y="4159605"/>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editorial-guardrails.md · ai-tells-sweep.md</a:t>
            </a:r>
          </a:p>
        </p:txBody>
      </p:sp>
      <p:sp>
        <p:nvSpPr>
          <p:cNvPr id="40" name="TextBox 39"/>
          <p:cNvSpPr txBox="1"/>
          <p:nvPr/>
        </p:nvSpPr>
        <p:spPr>
          <a:xfrm>
            <a:off x="4021522" y="4159605"/>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11 principles, rules M1 and M2, the hard-fail list and the detector</a:t>
            </a:r>
          </a:p>
        </p:txBody>
      </p:sp>
      <p:sp>
        <p:nvSpPr>
          <p:cNvPr id="41" name="Rectangle 40"/>
          <p:cNvSpPr/>
          <p:nvPr/>
        </p:nvSpPr>
        <p:spPr>
          <a:xfrm>
            <a:off x="658368" y="4367174"/>
            <a:ext cx="10875233" cy="24871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58368" y="436717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58952" y="4408322"/>
            <a:ext cx="3079690"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page-builder/ · quality-rubric.md</a:t>
            </a:r>
          </a:p>
        </p:txBody>
      </p:sp>
      <p:sp>
        <p:nvSpPr>
          <p:cNvPr id="44" name="TextBox 43"/>
          <p:cNvSpPr txBox="1"/>
          <p:nvPr/>
        </p:nvSpPr>
        <p:spPr>
          <a:xfrm>
            <a:off x="4021522" y="4408322"/>
            <a:ext cx="7429783" cy="19385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page pipeline gates and the 17-slot kit. The 20-point QC rubric</a:t>
            </a:r>
          </a:p>
        </p:txBody>
      </p:sp>
      <p:sp>
        <p:nvSpPr>
          <p:cNvPr id="45" name="Rectangle 44"/>
          <p:cNvSpPr/>
          <p:nvPr/>
        </p:nvSpPr>
        <p:spPr>
          <a:xfrm>
            <a:off x="658368" y="4615891"/>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8368" y="4626864"/>
            <a:ext cx="10875233" cy="219456"/>
          </a:xfrm>
          <a:prstGeom prst="rect">
            <a:avLst/>
          </a:prstGeom>
          <a:noFill/>
        </p:spPr>
        <p:txBody>
          <a:bodyPr wrap="square" lIns="0" rIns="0" tIns="0" bIns="0" anchor="t">
            <a:spAutoFit/>
          </a:bodyPr>
          <a:lstStyle/>
          <a:p>
            <a:pPr algn="l">
              <a:lnSpc>
                <a:spcPct val="128000"/>
              </a:lnSpc>
            </a:pPr>
            <a:r>
              <a:rPr sz="860" b="1" i="0">
                <a:solidFill>
                  <a:srgbClr val="143DFF"/>
                </a:solidFill>
                <a:latin typeface="Satoshi"/>
              </a:rPr>
              <a:t>DRIVE SALES FOLDER, THE SAME ONE SALES USES</a:t>
            </a:r>
          </a:p>
        </p:txBody>
      </p:sp>
      <p:sp>
        <p:nvSpPr>
          <p:cNvPr id="47" name="Rounded Rectangle 46"/>
          <p:cNvSpPr/>
          <p:nvPr/>
        </p:nvSpPr>
        <p:spPr>
          <a:xfrm>
            <a:off x="658368" y="4882896"/>
            <a:ext cx="2581648" cy="1042415"/>
          </a:xfrm>
          <a:prstGeom prst="roundRect">
            <a:avLst>
              <a:gd name="adj" fmla="val 24366"/>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32103" y="5038344"/>
            <a:ext cx="2234176" cy="144373"/>
          </a:xfrm>
          <a:prstGeom prst="rect">
            <a:avLst/>
          </a:prstGeom>
          <a:noFill/>
        </p:spPr>
        <p:txBody>
          <a:bodyPr wrap="square" lIns="0" rIns="0" tIns="0" bIns="0" anchor="t">
            <a:spAutoFit/>
          </a:bodyPr>
          <a:lstStyle/>
          <a:p>
            <a:pPr algn="l">
              <a:lnSpc>
                <a:spcPct val="114000"/>
              </a:lnSpc>
            </a:pPr>
            <a:r>
              <a:rPr sz="980" b="1" i="0">
                <a:solidFill>
                  <a:srgbClr val="050F40"/>
                </a:solidFill>
                <a:latin typeface="Satoshi"/>
              </a:rPr>
              <a:t>Marketing docs &amp; Decks</a:t>
            </a:r>
          </a:p>
        </p:txBody>
      </p:sp>
      <p:sp>
        <p:nvSpPr>
          <p:cNvPr id="49" name="TextBox 48"/>
          <p:cNvSpPr txBox="1"/>
          <p:nvPr/>
        </p:nvSpPr>
        <p:spPr>
          <a:xfrm>
            <a:off x="832103" y="5246725"/>
            <a:ext cx="2234176" cy="504850"/>
          </a:xfrm>
          <a:prstGeom prst="rect">
            <a:avLst/>
          </a:prstGeom>
          <a:noFill/>
        </p:spPr>
        <p:txBody>
          <a:bodyPr wrap="square" lIns="0" rIns="0" tIns="0" bIns="0" anchor="t">
            <a:spAutoFit/>
          </a:bodyPr>
          <a:lstStyle/>
          <a:p>
            <a:pPr algn="l">
              <a:lnSpc>
                <a:spcPct val="130000"/>
              </a:lnSpc>
            </a:pPr>
            <a:r>
              <a:rPr sz="800" b="0" i="0">
                <a:solidFill>
                  <a:srgbClr val="4C4C4C"/>
                </a:solidFill>
                <a:latin typeface="Satoshi"/>
              </a:rPr>
              <a:t>Insurance underwriting and telehealth demo decks (May 2026), the 2-pager, integration guidelines</a:t>
            </a:r>
          </a:p>
        </p:txBody>
      </p:sp>
      <p:sp>
        <p:nvSpPr>
          <p:cNvPr id="50" name="Rounded Rectangle 49"/>
          <p:cNvSpPr/>
          <p:nvPr/>
        </p:nvSpPr>
        <p:spPr>
          <a:xfrm>
            <a:off x="3422896" y="4882896"/>
            <a:ext cx="2581648" cy="1042415"/>
          </a:xfrm>
          <a:prstGeom prst="roundRect">
            <a:avLst>
              <a:gd name="adj" fmla="val 24366"/>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596632" y="5038344"/>
            <a:ext cx="2234176" cy="144373"/>
          </a:xfrm>
          <a:prstGeom prst="rect">
            <a:avLst/>
          </a:prstGeom>
          <a:noFill/>
        </p:spPr>
        <p:txBody>
          <a:bodyPr wrap="square" lIns="0" rIns="0" tIns="0" bIns="0" anchor="t">
            <a:spAutoFit/>
          </a:bodyPr>
          <a:lstStyle/>
          <a:p>
            <a:pPr algn="l">
              <a:lnSpc>
                <a:spcPct val="114000"/>
              </a:lnSpc>
            </a:pPr>
            <a:r>
              <a:rPr sz="980" b="1" i="0">
                <a:solidFill>
                  <a:srgbClr val="050F40"/>
                </a:solidFill>
                <a:latin typeface="Satoshi"/>
              </a:rPr>
              <a:t>Technology &amp; Accuracy</a:t>
            </a:r>
          </a:p>
        </p:txBody>
      </p:sp>
      <p:sp>
        <p:nvSpPr>
          <p:cNvPr id="52" name="TextBox 51"/>
          <p:cNvSpPr txBox="1"/>
          <p:nvPr/>
        </p:nvSpPr>
        <p:spPr>
          <a:xfrm>
            <a:off x="3596632" y="5246725"/>
            <a:ext cx="2234176" cy="504850"/>
          </a:xfrm>
          <a:prstGeom prst="rect">
            <a:avLst/>
          </a:prstGeom>
          <a:noFill/>
        </p:spPr>
        <p:txBody>
          <a:bodyPr wrap="square" lIns="0" rIns="0" tIns="0" bIns="0" anchor="t">
            <a:spAutoFit/>
          </a:bodyPr>
          <a:lstStyle/>
          <a:p>
            <a:pPr algn="l">
              <a:lnSpc>
                <a:spcPct val="130000"/>
              </a:lnSpc>
            </a:pPr>
            <a:r>
              <a:rPr sz="800" b="0" i="0">
                <a:solidFill>
                  <a:srgbClr val="4C4C4C"/>
                </a:solidFill>
                <a:latin typeface="Satoshi"/>
              </a:rPr>
              <a:t>Accuracy and Repeatability Analysis (April 2026), fat estimation approach, earlier studies</a:t>
            </a:r>
          </a:p>
        </p:txBody>
      </p:sp>
      <p:sp>
        <p:nvSpPr>
          <p:cNvPr id="53" name="Rounded Rectangle 52"/>
          <p:cNvSpPr/>
          <p:nvPr/>
        </p:nvSpPr>
        <p:spPr>
          <a:xfrm>
            <a:off x="6187424" y="4882896"/>
            <a:ext cx="2581648" cy="1042415"/>
          </a:xfrm>
          <a:prstGeom prst="roundRect">
            <a:avLst>
              <a:gd name="adj" fmla="val 24366"/>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61160" y="5038344"/>
            <a:ext cx="2234176" cy="144373"/>
          </a:xfrm>
          <a:prstGeom prst="rect">
            <a:avLst/>
          </a:prstGeom>
          <a:noFill/>
        </p:spPr>
        <p:txBody>
          <a:bodyPr wrap="square" lIns="0" rIns="0" tIns="0" bIns="0" anchor="t">
            <a:spAutoFit/>
          </a:bodyPr>
          <a:lstStyle/>
          <a:p>
            <a:pPr algn="l">
              <a:lnSpc>
                <a:spcPct val="114000"/>
              </a:lnSpc>
            </a:pPr>
            <a:r>
              <a:rPr sz="980" b="1" i="0">
                <a:solidFill>
                  <a:srgbClr val="050F40"/>
                </a:solidFill>
                <a:latin typeface="Satoshi"/>
              </a:rPr>
              <a:t>Useful info</a:t>
            </a:r>
          </a:p>
        </p:txBody>
      </p:sp>
      <p:sp>
        <p:nvSpPr>
          <p:cNvPr id="55" name="TextBox 54"/>
          <p:cNvSpPr txBox="1"/>
          <p:nvPr/>
        </p:nvSpPr>
        <p:spPr>
          <a:xfrm>
            <a:off x="6361160" y="5246725"/>
            <a:ext cx="2234176" cy="504850"/>
          </a:xfrm>
          <a:prstGeom prst="rect">
            <a:avLst/>
          </a:prstGeom>
          <a:noFill/>
        </p:spPr>
        <p:txBody>
          <a:bodyPr wrap="square" lIns="0" rIns="0" tIns="0" bIns="0" anchor="t">
            <a:spAutoFit/>
          </a:bodyPr>
          <a:lstStyle/>
          <a:p>
            <a:pPr algn="l">
              <a:lnSpc>
                <a:spcPct val="130000"/>
              </a:lnSpc>
            </a:pPr>
            <a:r>
              <a:rPr sz="800" b="0" i="0">
                <a:solidFill>
                  <a:srgbClr val="4C4C4C"/>
                </a:solidFill>
                <a:latin typeface="Satoshi"/>
              </a:rPr>
              <a:t>Body Mass Index (BMI) verification use case, Prism Labs analysis, the market-sizing Brainstorm deck</a:t>
            </a:r>
          </a:p>
        </p:txBody>
      </p:sp>
      <p:sp>
        <p:nvSpPr>
          <p:cNvPr id="56" name="Rounded Rectangle 55"/>
          <p:cNvSpPr/>
          <p:nvPr/>
        </p:nvSpPr>
        <p:spPr>
          <a:xfrm>
            <a:off x="8951953" y="4882896"/>
            <a:ext cx="2581648" cy="1042415"/>
          </a:xfrm>
          <a:prstGeom prst="roundRect">
            <a:avLst>
              <a:gd name="adj" fmla="val 24366"/>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125689" y="5038344"/>
            <a:ext cx="2234176" cy="144373"/>
          </a:xfrm>
          <a:prstGeom prst="rect">
            <a:avLst/>
          </a:prstGeom>
          <a:noFill/>
        </p:spPr>
        <p:txBody>
          <a:bodyPr wrap="square" lIns="0" rIns="0" tIns="0" bIns="0" anchor="t">
            <a:spAutoFit/>
          </a:bodyPr>
          <a:lstStyle/>
          <a:p>
            <a:pPr algn="l">
              <a:lnSpc>
                <a:spcPct val="114000"/>
              </a:lnSpc>
            </a:pPr>
            <a:r>
              <a:rPr sz="980" b="1" i="0">
                <a:solidFill>
                  <a:srgbClr val="050F40"/>
                </a:solidFill>
                <a:latin typeface="Satoshi"/>
              </a:rPr>
              <a:t>Nick Omelchak, call transcripts</a:t>
            </a:r>
          </a:p>
        </p:txBody>
      </p:sp>
      <p:sp>
        <p:nvSpPr>
          <p:cNvPr id="58" name="TextBox 57"/>
          <p:cNvSpPr txBox="1"/>
          <p:nvPr/>
        </p:nvSpPr>
        <p:spPr>
          <a:xfrm>
            <a:off x="9125689" y="5246725"/>
            <a:ext cx="2234176" cy="504850"/>
          </a:xfrm>
          <a:prstGeom prst="rect">
            <a:avLst/>
          </a:prstGeom>
          <a:noFill/>
        </p:spPr>
        <p:txBody>
          <a:bodyPr wrap="square" lIns="0" rIns="0" tIns="0" bIns="0" anchor="t">
            <a:spAutoFit/>
          </a:bodyPr>
          <a:lstStyle/>
          <a:p>
            <a:pPr algn="l">
              <a:lnSpc>
                <a:spcPct val="130000"/>
              </a:lnSpc>
            </a:pPr>
            <a:r>
              <a:rPr sz="800" b="0" i="0">
                <a:solidFill>
                  <a:srgbClr val="4C4C4C"/>
                </a:solidFill>
                <a:latin typeface="Satoshi"/>
              </a:rPr>
              <a:t>Real buyer objections in the buyer's own words. The best raw material for a problem slide or a vertical FAQ</a:t>
            </a:r>
          </a:p>
        </p:txBody>
      </p:sp>
      <p:sp>
        <p:nvSpPr>
          <p:cNvPr id="59" name="TextBox 58"/>
          <p:cNvSpPr txBox="1"/>
          <p:nvPr/>
        </p:nvSpPr>
        <p:spPr>
          <a:xfrm>
            <a:off x="658368" y="6016752"/>
            <a:ext cx="10875233" cy="365760"/>
          </a:xfrm>
          <a:prstGeom prst="rect">
            <a:avLst/>
          </a:prstGeom>
          <a:noFill/>
        </p:spPr>
        <p:txBody>
          <a:bodyPr wrap="square" lIns="0" rIns="0" tIns="0" bIns="0" anchor="t">
            <a:spAutoFit/>
          </a:bodyPr>
          <a:lstStyle/>
          <a:p>
            <a:pPr algn="l">
              <a:lnSpc>
                <a:spcPct val="128000"/>
              </a:lnSpc>
            </a:pPr>
            <a:r>
              <a:rPr sz="840" b="0" i="1">
                <a:solidFill>
                  <a:srgbClr val="666666"/>
                </a:solidFill>
                <a:latin typeface="Satoshi"/>
              </a:rPr>
              <a:t>Two cautions. FX Guidance for Decks (Whitney, February 2026) is a shortcut whose target did not resolve, so ask for a re-share. The published 2-pager says "seamlessly embeds" and "under 60 seconds", both now wrong, so treat it as a layout reference and not as copy.</a:t>
            </a:r>
          </a:p>
        </p:txBody>
      </p:sp>
      <p:sp>
        <p:nvSpPr>
          <p:cNvPr id="60" name="TextBox 59"/>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61" name="TextBox 60"/>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7 / 61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01 · ROLE AND SCOPE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first two weeks</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Read, then audit, then ship one real thing. Seeing every gate work once is worth more than reading about all of them.</a:t>
            </a:r>
          </a:p>
        </p:txBody>
      </p:sp>
      <p:sp>
        <p:nvSpPr>
          <p:cNvPr id="5" name="Rounded Rectangle 4"/>
          <p:cNvSpPr/>
          <p:nvPr/>
        </p:nvSpPr>
        <p:spPr>
          <a:xfrm>
            <a:off x="658368" y="1920240"/>
            <a:ext cx="3466581" cy="2121408"/>
          </a:xfrm>
          <a:prstGeom prst="roundRect">
            <a:avLst>
              <a:gd name="adj" fmla="val 11973"/>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920240"/>
            <a:ext cx="3466581"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04672" y="2093976"/>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144268"/>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1</a:t>
            </a:r>
          </a:p>
        </p:txBody>
      </p:sp>
      <p:sp>
        <p:nvSpPr>
          <p:cNvPr id="9" name="TextBox 8"/>
          <p:cNvSpPr txBox="1"/>
          <p:nvPr/>
        </p:nvSpPr>
        <p:spPr>
          <a:xfrm>
            <a:off x="1152144" y="2093976"/>
            <a:ext cx="2826501" cy="274320"/>
          </a:xfrm>
          <a:prstGeom prst="rect">
            <a:avLst/>
          </a:prstGeom>
          <a:noFill/>
        </p:spPr>
        <p:txBody>
          <a:bodyPr wrap="square" lIns="0" rIns="0" tIns="0" bIns="0" anchor="t">
            <a:spAutoFit/>
          </a:bodyPr>
          <a:lstStyle/>
          <a:p>
            <a:pPr algn="l">
              <a:lnSpc>
                <a:spcPct val="112000"/>
              </a:lnSpc>
            </a:pPr>
            <a:r>
              <a:rPr sz="1250" b="1" i="0">
                <a:solidFill>
                  <a:srgbClr val="050F40"/>
                </a:solidFill>
                <a:latin typeface="Satoshi"/>
              </a:rPr>
              <a:t>Days 1 to 3 · Read and calibrate</a:t>
            </a:r>
          </a:p>
        </p:txBody>
      </p:sp>
      <p:sp>
        <p:nvSpPr>
          <p:cNvPr id="10" name="TextBox 9"/>
          <p:cNvSpPr txBox="1"/>
          <p:nvPr/>
        </p:nvSpPr>
        <p:spPr>
          <a:xfrm>
            <a:off x="822959" y="2487168"/>
            <a:ext cx="3137397" cy="1389887"/>
          </a:xfrm>
          <a:prstGeom prst="rect">
            <a:avLst/>
          </a:prstGeom>
          <a:noFill/>
        </p:spPr>
        <p:txBody>
          <a:bodyPr wrap="square" lIns="0" rIns="0" tIns="0" bIns="0" anchor="t">
            <a:spAutoFit/>
          </a:bodyPr>
          <a:lstStyle/>
          <a:p>
            <a:pPr algn="l">
              <a:lnSpc>
                <a:spcPct val="126000"/>
              </a:lnSpc>
            </a:pPr>
            <a:r>
              <a:rPr sz="960" b="0" i="0">
                <a:solidFill>
                  <a:srgbClr val="4C4C4C"/>
                </a:solidFill>
                <a:latin typeface="Satoshi"/>
              </a:rPr>
              <a:t>CLAUDE.md, about-me.md, audience.md, DESIGN.md, proof-points.md, editorial-guardrails.md. Then the insurance underwriting deck copy end to end as the structural exemplar, and the telehealth page structure document as the landing-page exemplar. Then the sales playbook, to hear how sales speaks.</a:t>
            </a:r>
          </a:p>
        </p:txBody>
      </p:sp>
      <p:sp>
        <p:nvSpPr>
          <p:cNvPr id="11" name="TextBox 10"/>
          <p:cNvSpPr txBox="1"/>
          <p:nvPr/>
        </p:nvSpPr>
        <p:spPr>
          <a:xfrm>
            <a:off x="4124949" y="2852927"/>
            <a:ext cx="237744" cy="256032"/>
          </a:xfrm>
          <a:prstGeom prst="rect">
            <a:avLst/>
          </a:prstGeom>
          <a:noFill/>
        </p:spPr>
        <p:txBody>
          <a:bodyPr wrap="square" lIns="0" rIns="0" tIns="0" bIns="0" anchor="t">
            <a:spAutoFit/>
          </a:bodyPr>
          <a:lstStyle/>
          <a:p>
            <a:pPr algn="ctr">
              <a:lnSpc>
                <a:spcPct val="128000"/>
              </a:lnSpc>
            </a:pPr>
            <a:r>
              <a:rPr sz="1700" b="1" i="0">
                <a:solidFill>
                  <a:srgbClr val="8A9CFF"/>
                </a:solidFill>
                <a:latin typeface="Satoshi"/>
              </a:rPr>
              <a:t>›</a:t>
            </a:r>
          </a:p>
        </p:txBody>
      </p:sp>
      <p:sp>
        <p:nvSpPr>
          <p:cNvPr id="12" name="Rounded Rectangle 11"/>
          <p:cNvSpPr/>
          <p:nvPr/>
        </p:nvSpPr>
        <p:spPr>
          <a:xfrm>
            <a:off x="4362693" y="1920240"/>
            <a:ext cx="3466581" cy="2121408"/>
          </a:xfrm>
          <a:prstGeom prst="roundRect">
            <a:avLst>
              <a:gd name="adj" fmla="val 11973"/>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2693" y="1920240"/>
            <a:ext cx="3466581"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508997" y="2093976"/>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8997" y="2144268"/>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2</a:t>
            </a:r>
          </a:p>
        </p:txBody>
      </p:sp>
      <p:sp>
        <p:nvSpPr>
          <p:cNvPr id="16" name="TextBox 15"/>
          <p:cNvSpPr txBox="1"/>
          <p:nvPr/>
        </p:nvSpPr>
        <p:spPr>
          <a:xfrm>
            <a:off x="4856469" y="2093976"/>
            <a:ext cx="2826501" cy="274320"/>
          </a:xfrm>
          <a:prstGeom prst="rect">
            <a:avLst/>
          </a:prstGeom>
          <a:noFill/>
        </p:spPr>
        <p:txBody>
          <a:bodyPr wrap="square" lIns="0" rIns="0" tIns="0" bIns="0" anchor="t">
            <a:spAutoFit/>
          </a:bodyPr>
          <a:lstStyle/>
          <a:p>
            <a:pPr algn="l">
              <a:lnSpc>
                <a:spcPct val="112000"/>
              </a:lnSpc>
            </a:pPr>
            <a:r>
              <a:rPr sz="1250" b="1" i="0">
                <a:solidFill>
                  <a:srgbClr val="050F40"/>
                </a:solidFill>
                <a:latin typeface="Satoshi"/>
              </a:rPr>
              <a:t>Days 4 to 7 · Audit</a:t>
            </a:r>
          </a:p>
        </p:txBody>
      </p:sp>
      <p:sp>
        <p:nvSpPr>
          <p:cNvPr id="17" name="TextBox 16"/>
          <p:cNvSpPr txBox="1"/>
          <p:nvPr/>
        </p:nvSpPr>
        <p:spPr>
          <a:xfrm>
            <a:off x="4527285" y="2487168"/>
            <a:ext cx="3137397" cy="1389887"/>
          </a:xfrm>
          <a:prstGeom prst="rect">
            <a:avLst/>
          </a:prstGeom>
          <a:noFill/>
        </p:spPr>
        <p:txBody>
          <a:bodyPr wrap="square" lIns="0" rIns="0" tIns="0" bIns="0" anchor="t">
            <a:spAutoFit/>
          </a:bodyPr>
          <a:lstStyle/>
          <a:p>
            <a:pPr algn="l">
              <a:lnSpc>
                <a:spcPct val="126000"/>
              </a:lnSpc>
            </a:pPr>
            <a:r>
              <a:rPr sz="960" b="0" i="0">
                <a:solidFill>
                  <a:srgbClr val="4C4C4C"/>
                </a:solidFill>
                <a:latin typeface="Satoshi"/>
              </a:rPr>
              <a:t>Score the existing decks and the six live vertical pages against section 8. Produce one list: every figure in circulation that is not in proof-points.md, every banned word on a live page, every claim that needs Whitney. Section 9 is the starting point for that list, not the end of it.</a:t>
            </a:r>
          </a:p>
        </p:txBody>
      </p:sp>
      <p:sp>
        <p:nvSpPr>
          <p:cNvPr id="18" name="TextBox 17"/>
          <p:cNvSpPr txBox="1"/>
          <p:nvPr/>
        </p:nvSpPr>
        <p:spPr>
          <a:xfrm>
            <a:off x="7829275" y="2852927"/>
            <a:ext cx="237744" cy="256032"/>
          </a:xfrm>
          <a:prstGeom prst="rect">
            <a:avLst/>
          </a:prstGeom>
          <a:noFill/>
        </p:spPr>
        <p:txBody>
          <a:bodyPr wrap="square" lIns="0" rIns="0" tIns="0" bIns="0" anchor="t">
            <a:spAutoFit/>
          </a:bodyPr>
          <a:lstStyle/>
          <a:p>
            <a:pPr algn="ctr">
              <a:lnSpc>
                <a:spcPct val="128000"/>
              </a:lnSpc>
            </a:pPr>
            <a:r>
              <a:rPr sz="1700" b="1" i="0">
                <a:solidFill>
                  <a:srgbClr val="8A9CFF"/>
                </a:solidFill>
                <a:latin typeface="Satoshi"/>
              </a:rPr>
              <a:t>›</a:t>
            </a:r>
          </a:p>
        </p:txBody>
      </p:sp>
      <p:sp>
        <p:nvSpPr>
          <p:cNvPr id="19" name="Rounded Rectangle 18"/>
          <p:cNvSpPr/>
          <p:nvPr/>
        </p:nvSpPr>
        <p:spPr>
          <a:xfrm>
            <a:off x="8067019" y="1920240"/>
            <a:ext cx="3466581" cy="2121408"/>
          </a:xfrm>
          <a:prstGeom prst="roundRect">
            <a:avLst>
              <a:gd name="adj" fmla="val 11973"/>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7019" y="1920240"/>
            <a:ext cx="3466581"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13323" y="2093976"/>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13323" y="2144268"/>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3</a:t>
            </a:r>
          </a:p>
        </p:txBody>
      </p:sp>
      <p:sp>
        <p:nvSpPr>
          <p:cNvPr id="23" name="TextBox 22"/>
          <p:cNvSpPr txBox="1"/>
          <p:nvPr/>
        </p:nvSpPr>
        <p:spPr>
          <a:xfrm>
            <a:off x="8560795" y="2093976"/>
            <a:ext cx="2826501" cy="274320"/>
          </a:xfrm>
          <a:prstGeom prst="rect">
            <a:avLst/>
          </a:prstGeom>
          <a:noFill/>
        </p:spPr>
        <p:txBody>
          <a:bodyPr wrap="square" lIns="0" rIns="0" tIns="0" bIns="0" anchor="t">
            <a:spAutoFit/>
          </a:bodyPr>
          <a:lstStyle/>
          <a:p>
            <a:pPr algn="l">
              <a:lnSpc>
                <a:spcPct val="112000"/>
              </a:lnSpc>
            </a:pPr>
            <a:r>
              <a:rPr sz="1250" b="1" i="0">
                <a:solidFill>
                  <a:srgbClr val="050F40"/>
                </a:solidFill>
                <a:latin typeface="Satoshi"/>
              </a:rPr>
              <a:t>Week 2 · Ship one thing</a:t>
            </a:r>
          </a:p>
        </p:txBody>
      </p:sp>
      <p:sp>
        <p:nvSpPr>
          <p:cNvPr id="24" name="TextBox 23"/>
          <p:cNvSpPr txBox="1"/>
          <p:nvPr/>
        </p:nvSpPr>
        <p:spPr>
          <a:xfrm>
            <a:off x="8231611" y="2487168"/>
            <a:ext cx="3137397" cy="1389887"/>
          </a:xfrm>
          <a:prstGeom prst="rect">
            <a:avLst/>
          </a:prstGeom>
          <a:noFill/>
        </p:spPr>
        <p:txBody>
          <a:bodyPr wrap="square" lIns="0" rIns="0" tIns="0" bIns="0" anchor="t">
            <a:spAutoFit/>
          </a:bodyPr>
          <a:lstStyle/>
          <a:p>
            <a:pPr algn="l">
              <a:lnSpc>
                <a:spcPct val="126000"/>
              </a:lnSpc>
            </a:pPr>
            <a:r>
              <a:rPr sz="960" b="0" i="0">
                <a:solidFill>
                  <a:srgbClr val="4C4C4C"/>
                </a:solidFill>
                <a:latin typeface="Satoshi"/>
              </a:rPr>
              <a:t>Rewrite /for-bmi-verification/, the weakest live page and the vertical with a real customer reference in UK Meds, taking it through the full pipeline in section 6. It is the shortest path to seeing every gate work.</a:t>
            </a:r>
          </a:p>
        </p:txBody>
      </p:sp>
      <p:sp>
        <p:nvSpPr>
          <p:cNvPr id="25" name="Rounded Rectangle 24"/>
          <p:cNvSpPr/>
          <p:nvPr/>
        </p:nvSpPr>
        <p:spPr>
          <a:xfrm>
            <a:off x="658368" y="4352544"/>
            <a:ext cx="10875233" cy="713232"/>
          </a:xfrm>
          <a:prstGeom prst="roundRect">
            <a:avLst>
              <a:gd name="adj" fmla="val 35612"/>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4443983"/>
            <a:ext cx="10418033" cy="530352"/>
          </a:xfrm>
          <a:prstGeom prst="rect">
            <a:avLst/>
          </a:prstGeom>
          <a:noFill/>
        </p:spPr>
        <p:txBody>
          <a:bodyPr wrap="square" lIns="0" rIns="0" tIns="0" bIns="0" anchor="ctr">
            <a:spAutoFit/>
          </a:bodyPr>
          <a:lstStyle/>
          <a:p>
            <a:pPr algn="l">
              <a:lnSpc>
                <a:spcPct val="116000"/>
              </a:lnSpc>
            </a:pPr>
            <a:r>
              <a:rPr sz="1250" b="1" i="0">
                <a:solidFill>
                  <a:srgbClr val="FFFFFF"/>
                </a:solidFill>
                <a:latin typeface="Satoshi"/>
              </a:rPr>
              <a:t>The week-two page rewrite is deliberately the hardest live page, not the easiest. A gate that has never blocked anything has not been tested.</a:t>
            </a:r>
          </a:p>
        </p:txBody>
      </p:sp>
      <p:sp>
        <p:nvSpPr>
          <p:cNvPr id="27" name="TextBox 26"/>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28" name="TextBox 27"/>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8 / 61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02</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Brand and voice guardrails</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Positioning, the voice, claims discipline, the accuracy framing, banned language, and the disclaimer set.</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9 / 61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02 · BRAND AND VOICE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Outcomes and workflow, not accuracy</a:t>
            </a:r>
          </a:p>
        </p:txBody>
      </p:sp>
      <p:sp>
        <p:nvSpPr>
          <p:cNvPr id="4" name="Rounded Rectangle 3"/>
          <p:cNvSpPr/>
          <p:nvPr/>
        </p:nvSpPr>
        <p:spPr>
          <a:xfrm>
            <a:off x="658368" y="1115568"/>
            <a:ext cx="10875233" cy="1060704"/>
          </a:xfrm>
          <a:prstGeom prst="roundRect">
            <a:avLst>
              <a:gd name="adj" fmla="val 23946"/>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34440"/>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THE POSITIONING, IN ONE LINE</a:t>
            </a:r>
          </a:p>
        </p:txBody>
      </p:sp>
      <p:sp>
        <p:nvSpPr>
          <p:cNvPr id="6" name="TextBox 5"/>
          <p:cNvSpPr txBox="1"/>
          <p:nvPr/>
        </p:nvSpPr>
        <p:spPr>
          <a:xfrm>
            <a:off x="877824" y="1426464"/>
            <a:ext cx="10418033" cy="640080"/>
          </a:xfrm>
          <a:prstGeom prst="rect">
            <a:avLst/>
          </a:prstGeom>
          <a:noFill/>
        </p:spPr>
        <p:txBody>
          <a:bodyPr wrap="square" lIns="0" rIns="0" tIns="0" bIns="0" anchor="t">
            <a:spAutoFit/>
          </a:bodyPr>
          <a:lstStyle/>
          <a:p>
            <a:pPr algn="l">
              <a:lnSpc>
                <a:spcPct val="114000"/>
              </a:lnSpc>
            </a:pPr>
            <a:r>
              <a:rPr sz="1400" b="1" i="0">
                <a:solidFill>
                  <a:srgbClr val="FFFFFF"/>
                </a:solidFill>
                <a:latin typeface="Satoshi"/>
              </a:rPr>
              <a:t>FitXpress is a trusted workflow layer for verified body data, for industries where measurement consistency, fraud reduction and audit-ready records drive a business result. It is not a measurement API.</a:t>
            </a:r>
          </a:p>
        </p:txBody>
      </p:sp>
      <p:sp>
        <p:nvSpPr>
          <p:cNvPr id="7" name="Rounded Rectangle 6"/>
          <p:cNvSpPr/>
          <p:nvPr/>
        </p:nvSpPr>
        <p:spPr>
          <a:xfrm>
            <a:off x="658368" y="2359152"/>
            <a:ext cx="5327888" cy="2212848"/>
          </a:xfrm>
          <a:prstGeom prst="roundRect">
            <a:avLst>
              <a:gd name="adj" fmla="val 11478"/>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2532888"/>
            <a:ext cx="4925552" cy="256032"/>
          </a:xfrm>
          <a:prstGeom prst="rect">
            <a:avLst/>
          </a:prstGeom>
          <a:noFill/>
        </p:spPr>
        <p:txBody>
          <a:bodyPr wrap="square" lIns="0" rIns="0" tIns="0" bIns="0" anchor="t">
            <a:spAutoFit/>
          </a:bodyPr>
          <a:lstStyle/>
          <a:p>
            <a:pPr algn="l">
              <a:lnSpc>
                <a:spcPct val="128000"/>
              </a:lnSpc>
            </a:pPr>
            <a:r>
              <a:rPr sz="1200" b="1" i="0">
                <a:solidFill>
                  <a:srgbClr val="050F40"/>
                </a:solidFill>
                <a:latin typeface="Satoshi"/>
              </a:rPr>
              <a:t>Why this matters commercially</a:t>
            </a:r>
          </a:p>
        </p:txBody>
      </p:sp>
      <p:sp>
        <p:nvSpPr>
          <p:cNvPr id="9" name="TextBox 8"/>
          <p:cNvSpPr txBox="1"/>
          <p:nvPr/>
        </p:nvSpPr>
        <p:spPr>
          <a:xfrm>
            <a:off x="859536" y="2889504"/>
            <a:ext cx="4925552" cy="1499616"/>
          </a:xfrm>
          <a:prstGeom prst="rect">
            <a:avLst/>
          </a:prstGeom>
          <a:noFill/>
        </p:spPr>
        <p:txBody>
          <a:bodyPr wrap="square" lIns="0" rIns="0" tIns="0" bIns="0" anchor="t">
            <a:spAutoFit/>
          </a:bodyPr>
          <a:lstStyle/>
          <a:p>
            <a:pPr algn="l">
              <a:lnSpc>
                <a:spcPct val="126000"/>
              </a:lnSpc>
              <a:spcAft>
                <a:spcPts val="340"/>
              </a:spcAft>
            </a:pPr>
            <a:r>
              <a:rPr sz="900" b="1" i="0">
                <a:solidFill>
                  <a:srgbClr val="050F40"/>
                </a:solidFill>
                <a:latin typeface="Satoshi"/>
              </a:rPr>
              <a:t>·  </a:t>
            </a:r>
            <a:r>
              <a:rPr sz="900" b="0" i="0">
                <a:solidFill>
                  <a:srgbClr val="4C4C4C"/>
                </a:solidFill>
                <a:latin typeface="Satoshi"/>
              </a:rPr>
              <a:t>Body scanning commoditizes on a 12 to 36 month horizon as vision foundation models become common</a:t>
            </a:r>
          </a:p>
          <a:p>
            <a:pPr algn="l">
              <a:lnSpc>
                <a:spcPct val="126000"/>
              </a:lnSpc>
              <a:spcAft>
                <a:spcPts val="340"/>
              </a:spcAft>
            </a:pPr>
            <a:r>
              <a:rPr sz="900" b="1" i="0">
                <a:solidFill>
                  <a:srgbClr val="050F40"/>
                </a:solidFill>
                <a:latin typeface="Satoshi"/>
              </a:rPr>
              <a:t>·  </a:t>
            </a:r>
            <a:r>
              <a:rPr sz="900" b="0" i="0">
                <a:solidFill>
                  <a:srgbClr val="4C4C4C"/>
                </a:solidFill>
                <a:latin typeface="Satoshi"/>
              </a:rPr>
              <a:t>Apple or Google may ship native body-measurement primitives</a:t>
            </a:r>
          </a:p>
          <a:p>
            <a:pPr algn="l">
              <a:lnSpc>
                <a:spcPct val="126000"/>
              </a:lnSpc>
              <a:spcAft>
                <a:spcPts val="340"/>
              </a:spcAft>
            </a:pPr>
            <a:r>
              <a:rPr sz="900" b="1" i="0">
                <a:solidFill>
                  <a:srgbClr val="050F40"/>
                </a:solidFill>
                <a:latin typeface="Satoshi"/>
              </a:rPr>
              <a:t>·  </a:t>
            </a:r>
            <a:r>
              <a:rPr sz="900" b="0" i="0">
                <a:solidFill>
                  <a:srgbClr val="4C4C4C"/>
                </a:solidFill>
                <a:latin typeface="Satoshi"/>
              </a:rPr>
              <a:t>A deck that wins on "most accurate" loses the day that happens</a:t>
            </a:r>
          </a:p>
          <a:p>
            <a:pPr algn="l">
              <a:lnSpc>
                <a:spcPct val="126000"/>
              </a:lnSpc>
              <a:spcAft>
                <a:spcPts val="340"/>
              </a:spcAft>
            </a:pPr>
            <a:r>
              <a:rPr sz="900" b="1" i="0">
                <a:solidFill>
                  <a:srgbClr val="050F40"/>
                </a:solidFill>
                <a:latin typeface="Satoshi"/>
              </a:rPr>
              <a:t>·  </a:t>
            </a:r>
            <a:r>
              <a:rPr sz="900" b="0" i="0">
                <a:solidFill>
                  <a:srgbClr val="4C4C4C"/>
                </a:solidFill>
                <a:latin typeface="Satoshi"/>
              </a:rPr>
              <a:t>A deck that wins on workflow integration, governance, auditability and longitudinal reliability does not</a:t>
            </a:r>
          </a:p>
        </p:txBody>
      </p:sp>
      <p:sp>
        <p:nvSpPr>
          <p:cNvPr id="10" name="Rounded Rectangle 9"/>
          <p:cNvSpPr/>
          <p:nvPr/>
        </p:nvSpPr>
        <p:spPr>
          <a:xfrm>
            <a:off x="6205712" y="2359152"/>
            <a:ext cx="5327888" cy="2212848"/>
          </a:xfrm>
          <a:prstGeom prst="roundRect">
            <a:avLst>
              <a:gd name="adj" fmla="val 11478"/>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6880" y="2532888"/>
            <a:ext cx="4925552" cy="256032"/>
          </a:xfrm>
          <a:prstGeom prst="rect">
            <a:avLst/>
          </a:prstGeom>
          <a:noFill/>
        </p:spPr>
        <p:txBody>
          <a:bodyPr wrap="square" lIns="0" rIns="0" tIns="0" bIns="0" anchor="t">
            <a:spAutoFit/>
          </a:bodyPr>
          <a:lstStyle/>
          <a:p>
            <a:pPr algn="l">
              <a:lnSpc>
                <a:spcPct val="128000"/>
              </a:lnSpc>
            </a:pPr>
            <a:r>
              <a:rPr sz="1200" b="1" i="0">
                <a:solidFill>
                  <a:srgbClr val="143DFF"/>
                </a:solidFill>
                <a:latin typeface="Satoshi"/>
              </a:rPr>
              <a:t>The consequence for every artifact</a:t>
            </a:r>
          </a:p>
        </p:txBody>
      </p:sp>
      <p:sp>
        <p:nvSpPr>
          <p:cNvPr id="12" name="TextBox 11"/>
          <p:cNvSpPr txBox="1"/>
          <p:nvPr/>
        </p:nvSpPr>
        <p:spPr>
          <a:xfrm>
            <a:off x="6406880" y="2889504"/>
            <a:ext cx="4925552" cy="1499616"/>
          </a:xfrm>
          <a:prstGeom prst="rect">
            <a:avLst/>
          </a:prstGeom>
          <a:noFill/>
        </p:spPr>
        <p:txBody>
          <a:bodyPr wrap="square" lIns="0" rIns="0" tIns="0" bIns="0" anchor="t">
            <a:spAutoFit/>
          </a:bodyPr>
          <a:lstStyle/>
          <a:p>
            <a:pPr algn="l">
              <a:lnSpc>
                <a:spcPct val="126000"/>
              </a:lnSpc>
              <a:spcAft>
                <a:spcPts val="340"/>
              </a:spcAft>
            </a:pPr>
            <a:r>
              <a:rPr sz="900" b="1" i="0">
                <a:solidFill>
                  <a:srgbClr val="143DFF"/>
                </a:solidFill>
                <a:latin typeface="Satoshi"/>
              </a:rPr>
              <a:t>·  </a:t>
            </a:r>
            <a:r>
              <a:rPr sz="900" b="0" i="0">
                <a:solidFill>
                  <a:srgbClr val="4C4C4C"/>
                </a:solidFill>
                <a:latin typeface="Satoshi"/>
              </a:rPr>
              <a:t>The hero line names the buyer's business outcome</a:t>
            </a:r>
          </a:p>
          <a:p>
            <a:pPr algn="l">
              <a:lnSpc>
                <a:spcPct val="126000"/>
              </a:lnSpc>
              <a:spcAft>
                <a:spcPts val="340"/>
              </a:spcAft>
            </a:pPr>
            <a:r>
              <a:rPr sz="900" b="1" i="0">
                <a:solidFill>
                  <a:srgbClr val="143DFF"/>
                </a:solidFill>
                <a:latin typeface="Satoshi"/>
              </a:rPr>
              <a:t>·  </a:t>
            </a:r>
            <a:r>
              <a:rPr sz="900" b="0" i="0">
                <a:solidFill>
                  <a:srgbClr val="4C4C4C"/>
                </a:solidFill>
                <a:latin typeface="Satoshi"/>
              </a:rPr>
              <a:t>Accuracy appears later, scoped, as support for that outcome</a:t>
            </a:r>
          </a:p>
          <a:p>
            <a:pPr algn="l">
              <a:lnSpc>
                <a:spcPct val="126000"/>
              </a:lnSpc>
              <a:spcAft>
                <a:spcPts val="340"/>
              </a:spcAft>
            </a:pPr>
            <a:r>
              <a:rPr sz="900" b="1" i="0">
                <a:solidFill>
                  <a:srgbClr val="143DFF"/>
                </a:solidFill>
                <a:latin typeface="Satoshi"/>
              </a:rPr>
              <a:t>·  </a:t>
            </a:r>
            <a:r>
              <a:rPr sz="900" b="0" i="0">
                <a:solidFill>
                  <a:srgbClr val="4C4C4C"/>
                </a:solidFill>
                <a:latin typeface="Satoshi"/>
              </a:rPr>
              <a:t>Never lead with "most accurate body scanning", "AI-powered body scanning" alone, "replace your in-person fitting", or "just plug in our API"</a:t>
            </a:r>
          </a:p>
          <a:p>
            <a:pPr algn="l">
              <a:lnSpc>
                <a:spcPct val="126000"/>
              </a:lnSpc>
              <a:spcAft>
                <a:spcPts val="340"/>
              </a:spcAft>
            </a:pPr>
            <a:r>
              <a:rPr sz="900" b="1" i="0">
                <a:solidFill>
                  <a:srgbClr val="143DFF"/>
                </a:solidFill>
                <a:latin typeface="Satoshi"/>
              </a:rPr>
              <a:t>·  </a:t>
            </a:r>
            <a:r>
              <a:rPr sz="900" b="0" i="0">
                <a:solidFill>
                  <a:srgbClr val="4C4C4C"/>
                </a:solidFill>
                <a:latin typeface="Satoshi"/>
              </a:rPr>
              <a:t>Prefer "verified body data" over "accurate measurements", and "trusted workflow layer" over "scanning API"</a:t>
            </a:r>
          </a:p>
        </p:txBody>
      </p:sp>
      <p:sp>
        <p:nvSpPr>
          <p:cNvPr id="13" name="TextBox 12"/>
          <p:cNvSpPr txBox="1"/>
          <p:nvPr/>
        </p:nvSpPr>
        <p:spPr>
          <a:xfrm>
            <a:off x="658368" y="4718304"/>
            <a:ext cx="10875233" cy="365760"/>
          </a:xfrm>
          <a:prstGeom prst="rect">
            <a:avLst/>
          </a:prstGeom>
          <a:noFill/>
        </p:spPr>
        <p:txBody>
          <a:bodyPr wrap="square" lIns="0" rIns="0" tIns="0" bIns="0" anchor="t">
            <a:spAutoFit/>
          </a:bodyPr>
          <a:lstStyle/>
          <a:p>
            <a:pPr algn="l">
              <a:lnSpc>
                <a:spcPct val="130000"/>
              </a:lnSpc>
            </a:pPr>
            <a:r>
              <a:rPr sz="940" b="0" i="1">
                <a:solidFill>
                  <a:srgbClr val="666666"/>
                </a:solidFill>
                <a:latin typeface="Satoshi"/>
              </a:rPr>
              <a:t>Master positioning, for the About slide and the page footer: 3DLOOK is the trusted infrastructure for verified body data, built for industries where measurement consistency, fraud reduction and audit-ready workflows drive business outcomes.</a:t>
            </a:r>
          </a:p>
        </p:txBody>
      </p:sp>
      <p:sp>
        <p:nvSpPr>
          <p:cNvPr id="14" name="TextBox 13"/>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15" name="TextBox 14"/>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10 / 61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02 · BRAND AND VOICE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voice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Calm, specific, evidence-led B2B. It sells by clarifying the buyer's decision, and it names its own limits before anyone else can.</a:t>
            </a:r>
          </a:p>
        </p:txBody>
      </p:sp>
      <p:sp>
        <p:nvSpPr>
          <p:cNvPr id="5" name="Rounded Rectangle 4"/>
          <p:cNvSpPr/>
          <p:nvPr/>
        </p:nvSpPr>
        <p:spPr>
          <a:xfrm>
            <a:off x="658368" y="1828800"/>
            <a:ext cx="258164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14813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84248"/>
            <a:ext cx="2179312"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The reframe move, the signature</a:t>
            </a:r>
          </a:p>
        </p:txBody>
      </p:sp>
      <p:sp>
        <p:nvSpPr>
          <p:cNvPr id="8" name="TextBox 7"/>
          <p:cNvSpPr txBox="1"/>
          <p:nvPr/>
        </p:nvSpPr>
        <p:spPr>
          <a:xfrm>
            <a:off x="886968" y="2202942"/>
            <a:ext cx="2179312" cy="933450"/>
          </a:xfrm>
          <a:prstGeom prst="rect">
            <a:avLst/>
          </a:prstGeom>
          <a:noFill/>
        </p:spPr>
        <p:txBody>
          <a:bodyPr wrap="square" lIns="0" rIns="0" tIns="0" bIns="0" anchor="t">
            <a:spAutoFit/>
          </a:bodyPr>
          <a:lstStyle/>
          <a:p>
            <a:pPr algn="l">
              <a:lnSpc>
                <a:spcPct val="130000"/>
              </a:lnSpc>
            </a:pPr>
            <a:r>
              <a:rPr sz="830" b="0" i="0">
                <a:solidFill>
                  <a:srgbClr val="4C4C4C"/>
                </a:solidFill>
                <a:latin typeface="Satoshi"/>
              </a:rPr>
              <a:t>Open by turning the obvious question into the better one. "How accurate is it?" becomes "accurate enough for which decision?". "DEXA or mobile?" becomes "how do the two fit together inside one program?"</a:t>
            </a:r>
          </a:p>
        </p:txBody>
      </p:sp>
      <p:sp>
        <p:nvSpPr>
          <p:cNvPr id="9" name="Rounded Rectangle 8"/>
          <p:cNvSpPr/>
          <p:nvPr/>
        </p:nvSpPr>
        <p:spPr>
          <a:xfrm>
            <a:off x="3422896" y="1828800"/>
            <a:ext cx="258164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2896" y="1828800"/>
            <a:ext cx="50292" cy="14813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1496" y="1984248"/>
            <a:ext cx="2179312"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Declarative and unhurried</a:t>
            </a:r>
          </a:p>
        </p:txBody>
      </p:sp>
      <p:sp>
        <p:nvSpPr>
          <p:cNvPr id="12" name="TextBox 11"/>
          <p:cNvSpPr txBox="1"/>
          <p:nvPr/>
        </p:nvSpPr>
        <p:spPr>
          <a:xfrm>
            <a:off x="3651496" y="2202942"/>
            <a:ext cx="2179312" cy="933450"/>
          </a:xfrm>
          <a:prstGeom prst="rect">
            <a:avLst/>
          </a:prstGeom>
          <a:noFill/>
        </p:spPr>
        <p:txBody>
          <a:bodyPr wrap="square" lIns="0" rIns="0" tIns="0" bIns="0" anchor="t">
            <a:spAutoFit/>
          </a:bodyPr>
          <a:lstStyle/>
          <a:p>
            <a:pPr algn="l">
              <a:lnSpc>
                <a:spcPct val="130000"/>
              </a:lnSpc>
            </a:pPr>
            <a:r>
              <a:rPr sz="830" b="0" i="0">
                <a:solidFill>
                  <a:srgbClr val="4C4C4C"/>
                </a:solidFill>
                <a:latin typeface="Satoshi"/>
              </a:rPr>
              <a:t>Mostly 15 to 30 word sentences, 2 to 4 sentence paragraphs. An occasional short verdict line for emphasis: "In short." "Production conditions are not lab conditions."</a:t>
            </a:r>
          </a:p>
        </p:txBody>
      </p:sp>
      <p:sp>
        <p:nvSpPr>
          <p:cNvPr id="13" name="Rounded Rectangle 12"/>
          <p:cNvSpPr/>
          <p:nvPr/>
        </p:nvSpPr>
        <p:spPr>
          <a:xfrm>
            <a:off x="6187424" y="1828800"/>
            <a:ext cx="258164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87424" y="1828800"/>
            <a:ext cx="50292" cy="14813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16024" y="1984248"/>
            <a:ext cx="2179312"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Concrete over abstract</a:t>
            </a:r>
          </a:p>
        </p:txBody>
      </p:sp>
      <p:sp>
        <p:nvSpPr>
          <p:cNvPr id="16" name="TextBox 15"/>
          <p:cNvSpPr txBox="1"/>
          <p:nvPr/>
        </p:nvSpPr>
        <p:spPr>
          <a:xfrm>
            <a:off x="6416024" y="2202942"/>
            <a:ext cx="2179312" cy="933450"/>
          </a:xfrm>
          <a:prstGeom prst="rect">
            <a:avLst/>
          </a:prstGeom>
          <a:noFill/>
        </p:spPr>
        <p:txBody>
          <a:bodyPr wrap="square" lIns="0" rIns="0" tIns="0" bIns="0" anchor="t">
            <a:spAutoFit/>
          </a:bodyPr>
          <a:lstStyle/>
          <a:p>
            <a:pPr algn="l">
              <a:lnSpc>
                <a:spcPct val="130000"/>
              </a:lnSpc>
            </a:pPr>
            <a:r>
              <a:rPr sz="830" b="0" i="0">
                <a:solidFill>
                  <a:srgbClr val="4C4C4C"/>
                </a:solidFill>
                <a:latin typeface="Satoshi"/>
              </a:rPr>
              <a:t>Every claim carries a number, a named source, a condition or a disclosed limitation. A vague adjective is missing information.</a:t>
            </a:r>
          </a:p>
        </p:txBody>
      </p:sp>
      <p:sp>
        <p:nvSpPr>
          <p:cNvPr id="17" name="Rounded Rectangle 16"/>
          <p:cNvSpPr/>
          <p:nvPr/>
        </p:nvSpPr>
        <p:spPr>
          <a:xfrm>
            <a:off x="8951953" y="1828800"/>
            <a:ext cx="258164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951953" y="1828800"/>
            <a:ext cx="50292" cy="14813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53" y="1984248"/>
            <a:ext cx="2179312"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Honest about limits</a:t>
            </a:r>
          </a:p>
        </p:txBody>
      </p:sp>
      <p:sp>
        <p:nvSpPr>
          <p:cNvPr id="20" name="TextBox 19"/>
          <p:cNvSpPr txBox="1"/>
          <p:nvPr/>
        </p:nvSpPr>
        <p:spPr>
          <a:xfrm>
            <a:off x="9180553" y="2202942"/>
            <a:ext cx="2179312" cy="933450"/>
          </a:xfrm>
          <a:prstGeom prst="rect">
            <a:avLst/>
          </a:prstGeom>
          <a:noFill/>
        </p:spPr>
        <p:txBody>
          <a:bodyPr wrap="square" lIns="0" rIns="0" tIns="0" bIns="0" anchor="t">
            <a:spAutoFit/>
          </a:bodyPr>
          <a:lstStyle/>
          <a:p>
            <a:pPr algn="l">
              <a:lnSpc>
                <a:spcPct val="130000"/>
              </a:lnSpc>
            </a:pPr>
            <a:r>
              <a:rPr sz="830" b="0" i="0">
                <a:solidFill>
                  <a:srgbClr val="4C4C4C"/>
                </a:solidFill>
                <a:latin typeface="Satoshi"/>
              </a:rPr>
              <a:t>State what the product does not do in the same breath as what it does. This is what makes the rest of the claims credible.</a:t>
            </a:r>
          </a:p>
        </p:txBody>
      </p:sp>
      <p:sp>
        <p:nvSpPr>
          <p:cNvPr id="21" name="Rounded Rectangle 20"/>
          <p:cNvSpPr/>
          <p:nvPr/>
        </p:nvSpPr>
        <p:spPr>
          <a:xfrm>
            <a:off x="658368" y="3493008"/>
            <a:ext cx="258164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3493008"/>
            <a:ext cx="50292" cy="14813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86968" y="3648456"/>
            <a:ext cx="2179312"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Buyer framing</a:t>
            </a:r>
          </a:p>
        </p:txBody>
      </p:sp>
      <p:sp>
        <p:nvSpPr>
          <p:cNvPr id="24" name="TextBox 23"/>
          <p:cNvSpPr txBox="1"/>
          <p:nvPr/>
        </p:nvSpPr>
        <p:spPr>
          <a:xfrm>
            <a:off x="886968" y="3867150"/>
            <a:ext cx="2179312" cy="933450"/>
          </a:xfrm>
          <a:prstGeom prst="rect">
            <a:avLst/>
          </a:prstGeom>
          <a:noFill/>
        </p:spPr>
        <p:txBody>
          <a:bodyPr wrap="square" lIns="0" rIns="0" tIns="0" bIns="0" anchor="t">
            <a:spAutoFit/>
          </a:bodyPr>
          <a:lstStyle/>
          <a:p>
            <a:pPr algn="l">
              <a:lnSpc>
                <a:spcPct val="130000"/>
              </a:lnSpc>
            </a:pPr>
            <a:r>
              <a:rPr sz="830" b="0" i="0">
                <a:solidFill>
                  <a:srgbClr val="4C4C4C"/>
                </a:solidFill>
                <a:latin typeface="Satoshi"/>
              </a:rPr>
              <a:t>"Enterprise teams", "insurers", "care teams", "programs". Use "you" sparingly, mainly on landing pages and conversion sections addressing a decision-maker directly.</a:t>
            </a:r>
          </a:p>
        </p:txBody>
      </p:sp>
      <p:sp>
        <p:nvSpPr>
          <p:cNvPr id="25" name="Rounded Rectangle 24"/>
          <p:cNvSpPr/>
          <p:nvPr/>
        </p:nvSpPr>
        <p:spPr>
          <a:xfrm>
            <a:off x="3422896" y="3493008"/>
            <a:ext cx="258164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422896" y="3493008"/>
            <a:ext cx="50292" cy="14813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1496" y="3648456"/>
            <a:ext cx="2179312"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Neutral authority</a:t>
            </a:r>
          </a:p>
        </p:txBody>
      </p:sp>
      <p:sp>
        <p:nvSpPr>
          <p:cNvPr id="28" name="TextBox 27"/>
          <p:cNvSpPr txBox="1"/>
          <p:nvPr/>
        </p:nvSpPr>
        <p:spPr>
          <a:xfrm>
            <a:off x="3651496" y="3867150"/>
            <a:ext cx="2179312" cy="933450"/>
          </a:xfrm>
          <a:prstGeom prst="rect">
            <a:avLst/>
          </a:prstGeom>
          <a:noFill/>
        </p:spPr>
        <p:txBody>
          <a:bodyPr wrap="square" lIns="0" rIns="0" tIns="0" bIns="0" anchor="t">
            <a:spAutoFit/>
          </a:bodyPr>
          <a:lstStyle/>
          <a:p>
            <a:pPr algn="l">
              <a:lnSpc>
                <a:spcPct val="130000"/>
              </a:lnSpc>
            </a:pPr>
            <a:r>
              <a:rPr sz="830" b="0" i="0">
                <a:solidFill>
                  <a:srgbClr val="4C4C4C"/>
                </a:solidFill>
                <a:latin typeface="Satoshi"/>
              </a:rPr>
              <a:t>Cite external bodies (CDC, Munich Re, Swiss Re, NAIC, LIMRA, ISO) with links, rather than asserting authority in our own voice.</a:t>
            </a:r>
          </a:p>
        </p:txBody>
      </p:sp>
      <p:sp>
        <p:nvSpPr>
          <p:cNvPr id="29" name="Rounded Rectangle 28"/>
          <p:cNvSpPr/>
          <p:nvPr/>
        </p:nvSpPr>
        <p:spPr>
          <a:xfrm>
            <a:off x="6187424" y="3493008"/>
            <a:ext cx="258164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87424" y="3493008"/>
            <a:ext cx="50292" cy="14813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16024" y="3648456"/>
            <a:ext cx="2179312"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Compare by role, not by hype</a:t>
            </a:r>
          </a:p>
        </p:txBody>
      </p:sp>
      <p:sp>
        <p:nvSpPr>
          <p:cNvPr id="32" name="TextBox 31"/>
          <p:cNvSpPr txBox="1"/>
          <p:nvPr/>
        </p:nvSpPr>
        <p:spPr>
          <a:xfrm>
            <a:off x="6416024" y="3867150"/>
            <a:ext cx="2179312" cy="933450"/>
          </a:xfrm>
          <a:prstGeom prst="rect">
            <a:avLst/>
          </a:prstGeom>
          <a:noFill/>
        </p:spPr>
        <p:txBody>
          <a:bodyPr wrap="square" lIns="0" rIns="0" tIns="0" bIns="0" anchor="t">
            <a:spAutoFit/>
          </a:bodyPr>
          <a:lstStyle/>
          <a:p>
            <a:pPr algn="l">
              <a:lnSpc>
                <a:spcPct val="130000"/>
              </a:lnSpc>
            </a:pPr>
            <a:r>
              <a:rPr sz="830" b="0" i="0">
                <a:solidFill>
                  <a:srgbClr val="4C4C4C"/>
                </a:solidFill>
                <a:latin typeface="Satoshi"/>
              </a:rPr>
              <a:t>A comparison answers "which method fits which workflow?". A clean sweep across every row reads as marketing, and buyers discount it.</a:t>
            </a:r>
          </a:p>
        </p:txBody>
      </p:sp>
      <p:sp>
        <p:nvSpPr>
          <p:cNvPr id="33" name="Rounded Rectangle 32"/>
          <p:cNvSpPr/>
          <p:nvPr/>
        </p:nvSpPr>
        <p:spPr>
          <a:xfrm>
            <a:off x="8951953" y="3493008"/>
            <a:ext cx="258164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951953" y="3493008"/>
            <a:ext cx="50292" cy="14813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80553" y="3648456"/>
            <a:ext cx="2179312"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No jokes in published copy</a:t>
            </a:r>
          </a:p>
        </p:txBody>
      </p:sp>
      <p:sp>
        <p:nvSpPr>
          <p:cNvPr id="36" name="TextBox 35"/>
          <p:cNvSpPr txBox="1"/>
          <p:nvPr/>
        </p:nvSpPr>
        <p:spPr>
          <a:xfrm>
            <a:off x="9180553" y="3867150"/>
            <a:ext cx="2179312" cy="933450"/>
          </a:xfrm>
          <a:prstGeom prst="rect">
            <a:avLst/>
          </a:prstGeom>
          <a:noFill/>
        </p:spPr>
        <p:txBody>
          <a:bodyPr wrap="square" lIns="0" rIns="0" tIns="0" bIns="0" anchor="t">
            <a:spAutoFit/>
          </a:bodyPr>
          <a:lstStyle/>
          <a:p>
            <a:pPr algn="l">
              <a:lnSpc>
                <a:spcPct val="130000"/>
              </a:lnSpc>
            </a:pPr>
            <a:r>
              <a:rPr sz="830" b="0" i="0">
                <a:solidFill>
                  <a:srgbClr val="4C4C4C"/>
                </a:solidFill>
                <a:latin typeface="Satoshi"/>
              </a:rPr>
              <a:t>Internal strategy documents may be witty. Customer-facing copy is sober.</a:t>
            </a:r>
          </a:p>
        </p:txBody>
      </p:sp>
      <p:sp>
        <p:nvSpPr>
          <p:cNvPr id="37" name="TextBox 36"/>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8" name="TextBox 37"/>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11 / 61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02 · BRAND AND VOICE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Claims discipline: what FitXpress is, and is not</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left column is a hard fail in any artifact. The right column is the approved substitute, and it is not weaker copy.</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4819727"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Never claim</a:t>
            </a:r>
          </a:p>
        </p:txBody>
      </p:sp>
      <p:sp>
        <p:nvSpPr>
          <p:cNvPr id="7" name="TextBox 6"/>
          <p:cNvSpPr txBox="1"/>
          <p:nvPr/>
        </p:nvSpPr>
        <p:spPr>
          <a:xfrm>
            <a:off x="5761559" y="1879092"/>
            <a:ext cx="5689746"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Say instead</a:t>
            </a:r>
          </a:p>
        </p:txBody>
      </p:sp>
      <p:sp>
        <p:nvSpPr>
          <p:cNvPr id="8" name="Rectangle 7"/>
          <p:cNvSpPr/>
          <p:nvPr/>
        </p:nvSpPr>
        <p:spPr>
          <a:xfrm>
            <a:off x="658368" y="2103120"/>
            <a:ext cx="10875233" cy="40233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44268"/>
            <a:ext cx="4819727" cy="34747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Diagnose a condition</a:t>
            </a:r>
          </a:p>
        </p:txBody>
      </p:sp>
      <p:sp>
        <p:nvSpPr>
          <p:cNvPr id="11" name="TextBox 10"/>
          <p:cNvSpPr txBox="1"/>
          <p:nvPr/>
        </p:nvSpPr>
        <p:spPr>
          <a:xfrm>
            <a:off x="5761559" y="2144268"/>
            <a:ext cx="568974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Provides structured body data that supports clinician review</a:t>
            </a:r>
          </a:p>
        </p:txBody>
      </p:sp>
      <p:sp>
        <p:nvSpPr>
          <p:cNvPr id="12" name="Rectangle 11"/>
          <p:cNvSpPr/>
          <p:nvPr/>
        </p:nvSpPr>
        <p:spPr>
          <a:xfrm>
            <a:off x="658368" y="2505456"/>
            <a:ext cx="10875233"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50545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2546603"/>
            <a:ext cx="4819727" cy="34747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Make treatment, underwriting, hiring or fitness-for-duty decisions</a:t>
            </a:r>
          </a:p>
        </p:txBody>
      </p:sp>
      <p:sp>
        <p:nvSpPr>
          <p:cNvPr id="15" name="TextBox 14"/>
          <p:cNvSpPr txBox="1"/>
          <p:nvPr/>
        </p:nvSpPr>
        <p:spPr>
          <a:xfrm>
            <a:off x="5761559" y="2546603"/>
            <a:ext cx="568974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Supporting evidence, not standalone decisioning</a:t>
            </a:r>
          </a:p>
        </p:txBody>
      </p:sp>
      <p:sp>
        <p:nvSpPr>
          <p:cNvPr id="16" name="Rectangle 15"/>
          <p:cNvSpPr/>
          <p:nvPr/>
        </p:nvSpPr>
        <p:spPr>
          <a:xfrm>
            <a:off x="658368" y="2907791"/>
            <a:ext cx="10875233" cy="40233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2907791"/>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948939"/>
            <a:ext cx="4819727" cy="34747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Replace clinicians, dual-energy X-ray absorptiometry (DEXA), bioelectrical impedance analysis (BIA), calibrated scales or a protocol reference method</a:t>
            </a:r>
          </a:p>
        </p:txBody>
      </p:sp>
      <p:sp>
        <p:nvSpPr>
          <p:cNvPr id="19" name="TextBox 18"/>
          <p:cNvSpPr txBox="1"/>
          <p:nvPr/>
        </p:nvSpPr>
        <p:spPr>
          <a:xfrm>
            <a:off x="5761559" y="2948939"/>
            <a:ext cx="568974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Complements the reference method by collecting remote measurements between clinical assessment points</a:t>
            </a:r>
          </a:p>
        </p:txBody>
      </p:sp>
      <p:sp>
        <p:nvSpPr>
          <p:cNvPr id="20" name="Rectangle 19"/>
          <p:cNvSpPr/>
          <p:nvPr/>
        </p:nvSpPr>
        <p:spPr>
          <a:xfrm>
            <a:off x="658368" y="3310127"/>
            <a:ext cx="10875233"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10127"/>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351275"/>
            <a:ext cx="4819727" cy="34747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Guarantee regulatory compliance</a:t>
            </a:r>
          </a:p>
        </p:txBody>
      </p:sp>
      <p:sp>
        <p:nvSpPr>
          <p:cNvPr id="23" name="TextBox 22"/>
          <p:cNvSpPr txBox="1"/>
          <p:nvPr/>
        </p:nvSpPr>
        <p:spPr>
          <a:xfrm>
            <a:off x="5761559" y="3351275"/>
            <a:ext cx="568974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Supports compliant workflows and audit-ready documentation</a:t>
            </a:r>
          </a:p>
        </p:txBody>
      </p:sp>
      <p:sp>
        <p:nvSpPr>
          <p:cNvPr id="24" name="Rectangle 23"/>
          <p:cNvSpPr/>
          <p:nvPr/>
        </p:nvSpPr>
        <p:spPr>
          <a:xfrm>
            <a:off x="658368" y="3712463"/>
            <a:ext cx="10875233" cy="40233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71246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753611"/>
            <a:ext cx="4819727" cy="34747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Detect fraud automatically</a:t>
            </a:r>
          </a:p>
        </p:txBody>
      </p:sp>
      <p:sp>
        <p:nvSpPr>
          <p:cNvPr id="27" name="TextBox 26"/>
          <p:cNvSpPr txBox="1"/>
          <p:nvPr/>
        </p:nvSpPr>
        <p:spPr>
          <a:xfrm>
            <a:off x="5761559" y="3753611"/>
            <a:ext cx="568974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Supports fraud-prevention workflows by flagging discrepancies for review</a:t>
            </a:r>
          </a:p>
        </p:txBody>
      </p:sp>
      <p:sp>
        <p:nvSpPr>
          <p:cNvPr id="28" name="Rectangle 27"/>
          <p:cNvSpPr/>
          <p:nvPr/>
        </p:nvSpPr>
        <p:spPr>
          <a:xfrm>
            <a:off x="658368" y="4114800"/>
            <a:ext cx="10875233"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411480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155948"/>
            <a:ext cx="4819727" cy="34747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Act as a standalone medical authority</a:t>
            </a:r>
          </a:p>
        </p:txBody>
      </p:sp>
      <p:sp>
        <p:nvSpPr>
          <p:cNvPr id="31" name="TextBox 30"/>
          <p:cNvSpPr txBox="1"/>
          <p:nvPr/>
        </p:nvSpPr>
        <p:spPr>
          <a:xfrm>
            <a:off x="5761559" y="4155948"/>
            <a:ext cx="568974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An intake and documentation layer, alongside clinical oversight</a:t>
            </a:r>
          </a:p>
        </p:txBody>
      </p:sp>
      <p:sp>
        <p:nvSpPr>
          <p:cNvPr id="32" name="Rectangle 31"/>
          <p:cNvSpPr/>
          <p:nvPr/>
        </p:nvSpPr>
        <p:spPr>
          <a:xfrm>
            <a:off x="658368" y="451713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658368" y="4553712"/>
            <a:ext cx="5327888" cy="1481328"/>
          </a:xfrm>
          <a:prstGeom prst="roundRect">
            <a:avLst>
              <a:gd name="adj" fmla="val 17146"/>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59536" y="4727448"/>
            <a:ext cx="4925552" cy="256032"/>
          </a:xfrm>
          <a:prstGeom prst="rect">
            <a:avLst/>
          </a:prstGeom>
          <a:noFill/>
        </p:spPr>
        <p:txBody>
          <a:bodyPr wrap="square" lIns="0" rIns="0" tIns="0" bIns="0" anchor="t">
            <a:spAutoFit/>
          </a:bodyPr>
          <a:lstStyle/>
          <a:p>
            <a:pPr algn="l">
              <a:lnSpc>
                <a:spcPct val="128000"/>
              </a:lnSpc>
            </a:pPr>
            <a:r>
              <a:rPr sz="1100" b="1" i="0">
                <a:solidFill>
                  <a:srgbClr val="050F40"/>
                </a:solidFill>
                <a:latin typeface="Satoshi"/>
              </a:rPr>
              <a:t>The medical framing, exactly</a:t>
            </a:r>
          </a:p>
        </p:txBody>
      </p:sp>
      <p:sp>
        <p:nvSpPr>
          <p:cNvPr id="35" name="TextBox 34"/>
          <p:cNvSpPr txBox="1"/>
          <p:nvPr/>
        </p:nvSpPr>
        <p:spPr>
          <a:xfrm>
            <a:off x="859536" y="5084064"/>
            <a:ext cx="4925552" cy="768096"/>
          </a:xfrm>
          <a:prstGeom prst="rect">
            <a:avLst/>
          </a:prstGeom>
          <a:noFill/>
        </p:spPr>
        <p:txBody>
          <a:bodyPr wrap="square" lIns="0" rIns="0" tIns="0" bIns="0" anchor="t">
            <a:spAutoFit/>
          </a:bodyPr>
          <a:lstStyle/>
          <a:p>
            <a:pPr algn="l">
              <a:lnSpc>
                <a:spcPct val="126000"/>
              </a:lnSpc>
              <a:spcAft>
                <a:spcPts val="340"/>
              </a:spcAft>
            </a:pPr>
            <a:r>
              <a:rPr sz="840" b="1" i="0">
                <a:solidFill>
                  <a:srgbClr val="050F40"/>
                </a:solidFill>
                <a:latin typeface="Satoshi"/>
              </a:rPr>
              <a:t>·  </a:t>
            </a:r>
            <a:r>
              <a:rPr sz="840" b="0" i="0">
                <a:solidFill>
                  <a:srgbClr val="4C4C4C"/>
                </a:solidFill>
                <a:latin typeface="Satoshi"/>
              </a:rPr>
              <a:t>"FitXpress is not positioned as a medical device." In that wording</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Never "medical device regulation does not apply"</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Compliance is framed on data-privacy frameworks (HIPAA, GDPR, SOC 2 where applicable), not on medical-device frameworks (FDA Class II, CE-MDR)</a:t>
            </a:r>
          </a:p>
        </p:txBody>
      </p:sp>
      <p:sp>
        <p:nvSpPr>
          <p:cNvPr id="36" name="Rounded Rectangle 35"/>
          <p:cNvSpPr/>
          <p:nvPr/>
        </p:nvSpPr>
        <p:spPr>
          <a:xfrm>
            <a:off x="6205712" y="4553712"/>
            <a:ext cx="5327888" cy="1481328"/>
          </a:xfrm>
          <a:prstGeom prst="roundRect">
            <a:avLst>
              <a:gd name="adj" fmla="val 17146"/>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6880" y="4727448"/>
            <a:ext cx="4925552" cy="256032"/>
          </a:xfrm>
          <a:prstGeom prst="rect">
            <a:avLst/>
          </a:prstGeom>
          <a:noFill/>
        </p:spPr>
        <p:txBody>
          <a:bodyPr wrap="square" lIns="0" rIns="0" tIns="0" bIns="0" anchor="t">
            <a:spAutoFit/>
          </a:bodyPr>
          <a:lstStyle/>
          <a:p>
            <a:pPr algn="l">
              <a:lnSpc>
                <a:spcPct val="128000"/>
              </a:lnSpc>
            </a:pPr>
            <a:r>
              <a:rPr sz="1100" b="1" i="0">
                <a:solidFill>
                  <a:srgbClr val="143DFF"/>
                </a:solidFill>
                <a:latin typeface="Satoshi"/>
              </a:rPr>
              <a:t>Never claimed at all</a:t>
            </a:r>
          </a:p>
        </p:txBody>
      </p:sp>
      <p:sp>
        <p:nvSpPr>
          <p:cNvPr id="38" name="TextBox 37"/>
          <p:cNvSpPr txBox="1"/>
          <p:nvPr/>
        </p:nvSpPr>
        <p:spPr>
          <a:xfrm>
            <a:off x="6406880" y="5084064"/>
            <a:ext cx="4925552" cy="768096"/>
          </a:xfrm>
          <a:prstGeom prst="rect">
            <a:avLst/>
          </a:prstGeom>
          <a:noFill/>
        </p:spPr>
        <p:txBody>
          <a:bodyPr wrap="square" lIns="0" rIns="0" tIns="0" bIns="0" anchor="t">
            <a:spAutoFit/>
          </a:bodyPr>
          <a:lstStyle/>
          <a:p>
            <a:pPr algn="l">
              <a:lnSpc>
                <a:spcPct val="126000"/>
              </a:lnSpc>
              <a:spcAft>
                <a:spcPts val="340"/>
              </a:spcAft>
            </a:pPr>
            <a:r>
              <a:rPr sz="840" b="1" i="0">
                <a:solidFill>
                  <a:srgbClr val="143DFF"/>
                </a:solidFill>
                <a:latin typeface="Satoshi"/>
              </a:rPr>
              <a:t>·  </a:t>
            </a:r>
            <a:r>
              <a:rPr sz="840" b="0" i="0">
                <a:solidFill>
                  <a:srgbClr val="4C4C4C"/>
                </a:solidFill>
                <a:latin typeface="Satoshi"/>
              </a:rPr>
              <a:t>Food and Drug Administration (FDA) clearance</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Medical advice or diagnosis</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SOC 2 certification, which is in progress. Confirm with Vadim before any mention</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Direct processing of protected health information</a:t>
            </a:r>
          </a:p>
        </p:txBody>
      </p:sp>
      <p:sp>
        <p:nvSpPr>
          <p:cNvPr id="39" name="TextBox 38"/>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40" name="TextBox 39"/>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12 / 61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02 · BRAND AND VOICE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Repeatability is not accuracy</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single framing most often broken, and the one that sells. Mixing the two produces a figure that describes nothing.</a:t>
            </a:r>
          </a:p>
        </p:txBody>
      </p:sp>
      <p:sp>
        <p:nvSpPr>
          <p:cNvPr id="5" name="Rounded Rectangle 4"/>
          <p:cNvSpPr/>
          <p:nvPr/>
        </p:nvSpPr>
        <p:spPr>
          <a:xfrm>
            <a:off x="658368" y="1828800"/>
            <a:ext cx="5327888" cy="1572768"/>
          </a:xfrm>
          <a:prstGeom prst="roundRect">
            <a:avLst>
              <a:gd name="adj" fmla="val 16149"/>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002536"/>
            <a:ext cx="4925552" cy="256032"/>
          </a:xfrm>
          <a:prstGeom prst="rect">
            <a:avLst/>
          </a:prstGeom>
          <a:noFill/>
        </p:spPr>
        <p:txBody>
          <a:bodyPr wrap="square" lIns="0" rIns="0" tIns="0" bIns="0" anchor="t">
            <a:spAutoFit/>
          </a:bodyPr>
          <a:lstStyle/>
          <a:p>
            <a:pPr algn="l">
              <a:lnSpc>
                <a:spcPct val="128000"/>
              </a:lnSpc>
            </a:pPr>
            <a:r>
              <a:rPr sz="1200" b="1" i="0">
                <a:solidFill>
                  <a:srgbClr val="050F40"/>
                </a:solidFill>
                <a:latin typeface="Satoshi"/>
              </a:rPr>
              <a:t>Accuracy</a:t>
            </a:r>
          </a:p>
        </p:txBody>
      </p:sp>
      <p:sp>
        <p:nvSpPr>
          <p:cNvPr id="7" name="TextBox 6"/>
          <p:cNvSpPr txBox="1"/>
          <p:nvPr/>
        </p:nvSpPr>
        <p:spPr>
          <a:xfrm>
            <a:off x="859536" y="2359152"/>
            <a:ext cx="4925552" cy="859536"/>
          </a:xfrm>
          <a:prstGeom prst="rect">
            <a:avLst/>
          </a:prstGeom>
          <a:noFill/>
        </p:spPr>
        <p:txBody>
          <a:bodyPr wrap="square" lIns="0" rIns="0" tIns="0" bIns="0" anchor="t">
            <a:spAutoFit/>
          </a:bodyPr>
          <a:lstStyle/>
          <a:p>
            <a:pPr algn="l">
              <a:lnSpc>
                <a:spcPct val="126000"/>
              </a:lnSpc>
              <a:spcAft>
                <a:spcPts val="340"/>
              </a:spcAft>
            </a:pPr>
            <a:r>
              <a:rPr sz="860" b="1" i="0">
                <a:solidFill>
                  <a:srgbClr val="050F40"/>
                </a:solidFill>
                <a:latin typeface="Satoshi"/>
              </a:rPr>
              <a:t>·  </a:t>
            </a:r>
            <a:r>
              <a:rPr sz="860" b="0" i="0">
                <a:solidFill>
                  <a:srgbClr val="4C4C4C"/>
                </a:solidFill>
                <a:latin typeface="Satoshi"/>
              </a:rPr>
              <a:t>Measured against a reference method</a:t>
            </a:r>
          </a:p>
          <a:p>
            <a:pPr algn="l">
              <a:lnSpc>
                <a:spcPct val="126000"/>
              </a:lnSpc>
              <a:spcAft>
                <a:spcPts val="340"/>
              </a:spcAft>
            </a:pPr>
            <a:r>
              <a:rPr sz="860" b="1" i="0">
                <a:solidFill>
                  <a:srgbClr val="050F40"/>
                </a:solidFill>
                <a:latin typeface="Satoshi"/>
              </a:rPr>
              <a:t>·  </a:t>
            </a:r>
            <a:r>
              <a:rPr sz="860" b="0" i="0">
                <a:solidFill>
                  <a:srgbClr val="4C4C4C"/>
                </a:solidFill>
                <a:latin typeface="Satoshi"/>
              </a:rPr>
              <a:t>Only meaningful with four conditions named: reference method, measurement protocol, population tested, intended workflow</a:t>
            </a:r>
          </a:p>
          <a:p>
            <a:pPr algn="l">
              <a:lnSpc>
                <a:spcPct val="126000"/>
              </a:lnSpc>
              <a:spcAft>
                <a:spcPts val="340"/>
              </a:spcAft>
            </a:pPr>
            <a:r>
              <a:rPr sz="860" b="1" i="0">
                <a:solidFill>
                  <a:srgbClr val="050F40"/>
                </a:solidFill>
                <a:latin typeface="Satoshi"/>
              </a:rPr>
              <a:t>·  </a:t>
            </a:r>
            <a:r>
              <a:rPr sz="860" b="0" i="0">
                <a:solidFill>
                  <a:srgbClr val="4C4C4C"/>
                </a:solidFill>
                <a:latin typeface="Satoshi"/>
              </a:rPr>
              <a:t>Never reduced to one universal number. Always qualify: accurate for which decision, against which reference, under which capture protocol, for which population, at what tolerance</a:t>
            </a:r>
          </a:p>
        </p:txBody>
      </p:sp>
      <p:sp>
        <p:nvSpPr>
          <p:cNvPr id="8" name="Rounded Rectangle 7"/>
          <p:cNvSpPr/>
          <p:nvPr/>
        </p:nvSpPr>
        <p:spPr>
          <a:xfrm>
            <a:off x="6205712" y="1828800"/>
            <a:ext cx="5327888" cy="1572768"/>
          </a:xfrm>
          <a:prstGeom prst="roundRect">
            <a:avLst>
              <a:gd name="adj" fmla="val 16149"/>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6880" y="2002536"/>
            <a:ext cx="4925552" cy="256032"/>
          </a:xfrm>
          <a:prstGeom prst="rect">
            <a:avLst/>
          </a:prstGeom>
          <a:noFill/>
        </p:spPr>
        <p:txBody>
          <a:bodyPr wrap="square" lIns="0" rIns="0" tIns="0" bIns="0" anchor="t">
            <a:spAutoFit/>
          </a:bodyPr>
          <a:lstStyle/>
          <a:p>
            <a:pPr algn="l">
              <a:lnSpc>
                <a:spcPct val="128000"/>
              </a:lnSpc>
            </a:pPr>
            <a:r>
              <a:rPr sz="1200" b="1" i="0">
                <a:solidFill>
                  <a:srgbClr val="143DFF"/>
                </a:solidFill>
                <a:latin typeface="Satoshi"/>
              </a:rPr>
              <a:t>Repeatability</a:t>
            </a:r>
          </a:p>
        </p:txBody>
      </p:sp>
      <p:sp>
        <p:nvSpPr>
          <p:cNvPr id="10" name="TextBox 9"/>
          <p:cNvSpPr txBox="1"/>
          <p:nvPr/>
        </p:nvSpPr>
        <p:spPr>
          <a:xfrm>
            <a:off x="6406880" y="2359152"/>
            <a:ext cx="4925552" cy="859536"/>
          </a:xfrm>
          <a:prstGeom prst="rect">
            <a:avLst/>
          </a:prstGeom>
          <a:noFill/>
        </p:spPr>
        <p:txBody>
          <a:bodyPr wrap="square" lIns="0" rIns="0" tIns="0" bIns="0" anchor="t">
            <a:spAutoFit/>
          </a:bodyPr>
          <a:lstStyle/>
          <a:p>
            <a:pPr algn="l">
              <a:lnSpc>
                <a:spcPct val="126000"/>
              </a:lnSpc>
              <a:spcAft>
                <a:spcPts val="340"/>
              </a:spcAft>
            </a:pPr>
            <a:r>
              <a:rPr sz="860" b="1" i="0">
                <a:solidFill>
                  <a:srgbClr val="143DFF"/>
                </a:solidFill>
                <a:latin typeface="Satoshi"/>
              </a:rPr>
              <a:t>·  </a:t>
            </a:r>
            <a:r>
              <a:rPr sz="860" b="0" i="0">
                <a:solidFill>
                  <a:srgbClr val="4C4C4C"/>
                </a:solidFill>
                <a:latin typeface="Satoshi"/>
              </a:rPr>
              <a:t>Scan-to-scan consistency</a:t>
            </a:r>
          </a:p>
          <a:p>
            <a:pPr algn="l">
              <a:lnSpc>
                <a:spcPct val="126000"/>
              </a:lnSpc>
              <a:spcAft>
                <a:spcPts val="340"/>
              </a:spcAft>
            </a:pPr>
            <a:r>
              <a:rPr sz="860" b="1" i="0">
                <a:solidFill>
                  <a:srgbClr val="143DFF"/>
                </a:solidFill>
                <a:latin typeface="Satoshi"/>
              </a:rPr>
              <a:t>·  </a:t>
            </a:r>
            <a:r>
              <a:rPr sz="860" b="0" i="0">
                <a:solidFill>
                  <a:srgbClr val="4C4C4C"/>
                </a:solidFill>
                <a:latin typeface="Satoshi"/>
              </a:rPr>
              <a:t>What matters for longitudinal use: glucagon-like peptide-1 (GLP-1) progress over 30, 60 and 90 days, year-over-year underwriting refreshes, survivorship monitoring</a:t>
            </a:r>
          </a:p>
          <a:p>
            <a:pPr algn="l">
              <a:lnSpc>
                <a:spcPct val="126000"/>
              </a:lnSpc>
              <a:spcAft>
                <a:spcPts val="340"/>
              </a:spcAft>
            </a:pPr>
            <a:r>
              <a:rPr sz="860" b="1" i="0">
                <a:solidFill>
                  <a:srgbClr val="143DFF"/>
                </a:solidFill>
                <a:latin typeface="Satoshi"/>
              </a:rPr>
              <a:t>·  </a:t>
            </a:r>
            <a:r>
              <a:rPr sz="860" b="0" i="0">
                <a:solidFill>
                  <a:srgbClr val="4C4C4C"/>
                </a:solidFill>
                <a:latin typeface="Satoshi"/>
              </a:rPr>
              <a:t>Written as "&lt; 1 cm". Locked convention</a:t>
            </a:r>
          </a:p>
        </p:txBody>
      </p:sp>
      <p:sp>
        <p:nvSpPr>
          <p:cNvPr id="11" name="TextBox 10"/>
          <p:cNvSpPr txBox="1"/>
          <p:nvPr/>
        </p:nvSpPr>
        <p:spPr>
          <a:xfrm>
            <a:off x="658368" y="3547872"/>
            <a:ext cx="10875233" cy="219456"/>
          </a:xfrm>
          <a:prstGeom prst="rect">
            <a:avLst/>
          </a:prstGeom>
          <a:noFill/>
        </p:spPr>
        <p:txBody>
          <a:bodyPr wrap="square" lIns="0" rIns="0" tIns="0" bIns="0" anchor="t">
            <a:spAutoFit/>
          </a:bodyPr>
          <a:lstStyle/>
          <a:p>
            <a:pPr algn="l">
              <a:lnSpc>
                <a:spcPct val="128000"/>
              </a:lnSpc>
            </a:pPr>
            <a:r>
              <a:rPr sz="860" b="1" i="0">
                <a:solidFill>
                  <a:srgbClr val="143DFF"/>
                </a:solidFill>
                <a:latin typeface="Satoshi"/>
              </a:rPr>
              <a:t>TWO BENCHMARKS, NEVER COMBINED</a:t>
            </a:r>
          </a:p>
        </p:txBody>
      </p:sp>
      <p:sp>
        <p:nvSpPr>
          <p:cNvPr id="12" name="Rounded Rectangle 11"/>
          <p:cNvSpPr/>
          <p:nvPr/>
        </p:nvSpPr>
        <p:spPr>
          <a:xfrm>
            <a:off x="658368" y="3803904"/>
            <a:ext cx="5327888" cy="1005840"/>
          </a:xfrm>
          <a:prstGeom prst="roundRect">
            <a:avLst>
              <a:gd name="adj" fmla="val 25252"/>
            </a:avLst>
          </a:prstGeom>
          <a:solidFill>
            <a:srgbClr val="FFFFFF"/>
          </a:solidFill>
          <a:ln w="15240">
            <a:solidFill>
              <a:srgbClr val="B1B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3950208"/>
            <a:ext cx="4925552" cy="219456"/>
          </a:xfrm>
          <a:prstGeom prst="rect">
            <a:avLst/>
          </a:prstGeom>
          <a:noFill/>
        </p:spPr>
        <p:txBody>
          <a:bodyPr wrap="square" lIns="0" rIns="0" tIns="0" bIns="0" anchor="t">
            <a:spAutoFit/>
          </a:bodyPr>
          <a:lstStyle/>
          <a:p>
            <a:pPr algn="l">
              <a:lnSpc>
                <a:spcPct val="128000"/>
              </a:lnSpc>
            </a:pPr>
            <a:r>
              <a:rPr sz="1000" b="1" i="0">
                <a:solidFill>
                  <a:srgbClr val="050F40"/>
                </a:solidFill>
                <a:latin typeface="Satoshi"/>
              </a:rPr>
              <a:t>1 · Internal validation, against expert manual measurement</a:t>
            </a:r>
          </a:p>
        </p:txBody>
      </p:sp>
      <p:sp>
        <p:nvSpPr>
          <p:cNvPr id="14" name="TextBox 13"/>
          <p:cNvSpPr txBox="1"/>
          <p:nvPr/>
        </p:nvSpPr>
        <p:spPr>
          <a:xfrm>
            <a:off x="859536" y="4224528"/>
            <a:ext cx="4925552" cy="512064"/>
          </a:xfrm>
          <a:prstGeom prst="rect">
            <a:avLst/>
          </a:prstGeom>
          <a:noFill/>
        </p:spPr>
        <p:txBody>
          <a:bodyPr wrap="square" lIns="0" rIns="0" tIns="0" bIns="0" anchor="t">
            <a:spAutoFit/>
          </a:bodyPr>
          <a:lstStyle/>
          <a:p>
            <a:pPr algn="l">
              <a:lnSpc>
                <a:spcPct val="128000"/>
              </a:lnSpc>
            </a:pPr>
            <a:r>
              <a:rPr sz="880" b="0" i="0">
                <a:solidFill>
                  <a:srgbClr val="4C4C4C"/>
                </a:solidFill>
                <a:latin typeface="Satoshi"/>
              </a:rPr>
              <a:t>96 to 97% accuracy, typical absolute error 1.5 to 2.0 cm, scan-to-scan repeatability &lt; 1 cm. USABLE: this set is in proof-points.md.</a:t>
            </a:r>
          </a:p>
        </p:txBody>
      </p:sp>
      <p:sp>
        <p:nvSpPr>
          <p:cNvPr id="15" name="Rounded Rectangle 14"/>
          <p:cNvSpPr/>
          <p:nvPr/>
        </p:nvSpPr>
        <p:spPr>
          <a:xfrm>
            <a:off x="6205712" y="3803904"/>
            <a:ext cx="5327888" cy="1005840"/>
          </a:xfrm>
          <a:prstGeom prst="roundRect">
            <a:avLst>
              <a:gd name="adj" fmla="val 25252"/>
            </a:avLst>
          </a:prstGeom>
          <a:solidFill>
            <a:srgbClr val="F2F2F2"/>
          </a:solidFill>
          <a:ln w="1524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6880" y="3950208"/>
            <a:ext cx="4925552" cy="219456"/>
          </a:xfrm>
          <a:prstGeom prst="rect">
            <a:avLst/>
          </a:prstGeom>
          <a:noFill/>
        </p:spPr>
        <p:txBody>
          <a:bodyPr wrap="square" lIns="0" rIns="0" tIns="0" bIns="0" anchor="t">
            <a:spAutoFit/>
          </a:bodyPr>
          <a:lstStyle/>
          <a:p>
            <a:pPr algn="l">
              <a:lnSpc>
                <a:spcPct val="128000"/>
              </a:lnSpc>
            </a:pPr>
            <a:r>
              <a:rPr sz="1000" b="1" i="0">
                <a:solidFill>
                  <a:srgbClr val="4C4C4C"/>
                </a:solidFill>
                <a:latin typeface="Satoshi"/>
              </a:rPr>
              <a:t>2 · The ISO multi-company benchmark</a:t>
            </a:r>
          </a:p>
        </p:txBody>
      </p:sp>
      <p:sp>
        <p:nvSpPr>
          <p:cNvPr id="17" name="TextBox 16"/>
          <p:cNvSpPr txBox="1"/>
          <p:nvPr/>
        </p:nvSpPr>
        <p:spPr>
          <a:xfrm>
            <a:off x="6406880" y="4224528"/>
            <a:ext cx="4925552" cy="512064"/>
          </a:xfrm>
          <a:prstGeom prst="rect">
            <a:avLst/>
          </a:prstGeom>
          <a:noFill/>
        </p:spPr>
        <p:txBody>
          <a:bodyPr wrap="square" lIns="0" rIns="0" tIns="0" bIns="0" anchor="t">
            <a:spAutoFit/>
          </a:bodyPr>
          <a:lstStyle/>
          <a:p>
            <a:pPr algn="l">
              <a:lnSpc>
                <a:spcPct val="128000"/>
              </a:lnSpc>
            </a:pPr>
            <a:r>
              <a:rPr sz="880" b="0" i="0">
                <a:solidFill>
                  <a:srgbClr val="4C4C4C"/>
                </a:solidFill>
                <a:latin typeface="Satoshi"/>
              </a:rPr>
              <a:t>Reported as 0.40 cm session-to-session repeatability. NOT in proof-points.md, though it is in both shipped decks. Treat as pending. See section 9, item 2.</a:t>
            </a:r>
          </a:p>
        </p:txBody>
      </p:sp>
      <p:sp>
        <p:nvSpPr>
          <p:cNvPr id="18" name="Rounded Rectangle 17"/>
          <p:cNvSpPr/>
          <p:nvPr/>
        </p:nvSpPr>
        <p:spPr>
          <a:xfrm>
            <a:off x="658368" y="4956048"/>
            <a:ext cx="10875233" cy="1097280"/>
          </a:xfrm>
          <a:prstGeom prst="roundRect">
            <a:avLst>
              <a:gd name="adj" fmla="val 23148"/>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 y="5074920"/>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THE REUSABLE PARAGRAPH, ADAPT THE VERTICAL AND THE DECISION</a:t>
            </a:r>
          </a:p>
        </p:txBody>
      </p:sp>
      <p:sp>
        <p:nvSpPr>
          <p:cNvPr id="20" name="TextBox 19"/>
          <p:cNvSpPr txBox="1"/>
          <p:nvPr/>
        </p:nvSpPr>
        <p:spPr>
          <a:xfrm>
            <a:off x="877824" y="5266944"/>
            <a:ext cx="10418033" cy="676656"/>
          </a:xfrm>
          <a:prstGeom prst="rect">
            <a:avLst/>
          </a:prstGeom>
          <a:noFill/>
        </p:spPr>
        <p:txBody>
          <a:bodyPr wrap="square" lIns="0" rIns="0" tIns="0" bIns="0" anchor="t">
            <a:spAutoFit/>
          </a:bodyPr>
          <a:lstStyle/>
          <a:p>
            <a:pPr algn="l">
              <a:lnSpc>
                <a:spcPct val="114000"/>
              </a:lnSpc>
            </a:pPr>
            <a:r>
              <a:rPr sz="1050" b="1" i="0">
                <a:solidFill>
                  <a:srgbClr val="FFFFFF"/>
                </a:solidFill>
                <a:latin typeface="Satoshi"/>
              </a:rPr>
              <a:t>The better diligence question is: accurate enough for which decision? For [decision in this vertical], what matters is whether a change between scans is real rather than measurement noise. Against expert manual measurement, FitXpress reaches 96 to 97% accuracy with a typical absolute error of 1.5 to 2.0 cm, and scan-to-scan variance stays &lt; 1 cm. Detailed methodology is available under NDA. FitXpress is not positioned as a medical device, and it supports clinician review rather than replacing it.</a:t>
            </a:r>
          </a:p>
        </p:txBody>
      </p:sp>
      <p:sp>
        <p:nvSpPr>
          <p:cNvPr id="21" name="TextBox 2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22" name="TextBox 2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13 / 61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02 · BRAND AND VOICE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Words to use, words never to use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banned list is a grep, so it is cheap to check and there is no excuse for a miss. The constructions are the expensive part.</a:t>
            </a:r>
          </a:p>
        </p:txBody>
      </p:sp>
      <p:sp>
        <p:nvSpPr>
          <p:cNvPr id="5" name="Rounded Rectangle 4"/>
          <p:cNvSpPr/>
          <p:nvPr/>
        </p:nvSpPr>
        <p:spPr>
          <a:xfrm>
            <a:off x="658368" y="1828800"/>
            <a:ext cx="5327888" cy="1920240"/>
          </a:xfrm>
          <a:prstGeom prst="roundRect">
            <a:avLst>
              <a:gd name="adj" fmla="val 13227"/>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002536"/>
            <a:ext cx="4925552" cy="256032"/>
          </a:xfrm>
          <a:prstGeom prst="rect">
            <a:avLst/>
          </a:prstGeom>
          <a:noFill/>
        </p:spPr>
        <p:txBody>
          <a:bodyPr wrap="square" lIns="0" rIns="0" tIns="0" bIns="0" anchor="t">
            <a:spAutoFit/>
          </a:bodyPr>
          <a:lstStyle/>
          <a:p>
            <a:pPr algn="l">
              <a:lnSpc>
                <a:spcPct val="128000"/>
              </a:lnSpc>
            </a:pPr>
            <a:r>
              <a:rPr sz="1200" b="1" i="0">
                <a:solidFill>
                  <a:srgbClr val="143DFF"/>
                </a:solidFill>
                <a:latin typeface="Satoshi"/>
              </a:rPr>
              <a:t>Use</a:t>
            </a:r>
          </a:p>
        </p:txBody>
      </p:sp>
      <p:sp>
        <p:nvSpPr>
          <p:cNvPr id="7" name="TextBox 6"/>
          <p:cNvSpPr txBox="1"/>
          <p:nvPr/>
        </p:nvSpPr>
        <p:spPr>
          <a:xfrm>
            <a:off x="859536" y="2359152"/>
            <a:ext cx="4925552" cy="1207008"/>
          </a:xfrm>
          <a:prstGeom prst="rect">
            <a:avLst/>
          </a:prstGeom>
          <a:noFill/>
        </p:spPr>
        <p:txBody>
          <a:bodyPr wrap="square" lIns="0" rIns="0" tIns="0" bIns="0" anchor="t">
            <a:spAutoFit/>
          </a:bodyPr>
          <a:lstStyle/>
          <a:p>
            <a:pPr algn="l">
              <a:lnSpc>
                <a:spcPct val="126000"/>
              </a:lnSpc>
              <a:spcAft>
                <a:spcPts val="333"/>
              </a:spcAft>
            </a:pPr>
            <a:r>
              <a:rPr sz="823" b="1" i="0">
                <a:solidFill>
                  <a:srgbClr val="143DFF"/>
                </a:solidFill>
                <a:latin typeface="Satoshi"/>
              </a:rPr>
              <a:t>·  </a:t>
            </a:r>
            <a:r>
              <a:rPr sz="823" b="0" i="0">
                <a:solidFill>
                  <a:srgbClr val="4C4C4C"/>
                </a:solidFill>
                <a:latin typeface="Satoshi"/>
              </a:rPr>
              <a:t>Operational verbs: supports, helps standardize, provides structured records, reduces manual intake, standardizes capture, supports review, improves documentation consistency, reduces rework, supports scan-to-scan comparison</a:t>
            </a:r>
          </a:p>
          <a:p>
            <a:pPr algn="l">
              <a:lnSpc>
                <a:spcPct val="126000"/>
              </a:lnSpc>
              <a:spcAft>
                <a:spcPts val="333"/>
              </a:spcAft>
            </a:pPr>
            <a:r>
              <a:rPr sz="823" b="1" i="0">
                <a:solidFill>
                  <a:srgbClr val="143DFF"/>
                </a:solidFill>
                <a:latin typeface="Satoshi"/>
              </a:rPr>
              <a:t>·  </a:t>
            </a:r>
            <a:r>
              <a:rPr sz="823" b="0" i="0">
                <a:solidFill>
                  <a:srgbClr val="4C4C4C"/>
                </a:solidFill>
                <a:latin typeface="Satoshi"/>
              </a:rPr>
              <a:t>Precise hedges: designed to, can support, where the workflow or protocol allows, supporting evidence rather than standalone decisioning, not a replacement for clinician review, an intake and documentation layer</a:t>
            </a:r>
          </a:p>
          <a:p>
            <a:pPr algn="l">
              <a:lnSpc>
                <a:spcPct val="126000"/>
              </a:lnSpc>
              <a:spcAft>
                <a:spcPts val="333"/>
              </a:spcAft>
            </a:pPr>
            <a:r>
              <a:rPr sz="823" b="1" i="0">
                <a:solidFill>
                  <a:srgbClr val="143DFF"/>
                </a:solidFill>
                <a:latin typeface="Satoshi"/>
              </a:rPr>
              <a:t>·  </a:t>
            </a:r>
            <a:r>
              <a:rPr sz="823" b="0" i="0">
                <a:solidFill>
                  <a:srgbClr val="4C4C4C"/>
                </a:solidFill>
                <a:latin typeface="Satoshi"/>
              </a:rPr>
              <a:t>Framing phrases: accurate enough for which decision? · compare by role, not by hype</a:t>
            </a:r>
          </a:p>
          <a:p>
            <a:pPr algn="l">
              <a:lnSpc>
                <a:spcPct val="126000"/>
              </a:lnSpc>
              <a:spcAft>
                <a:spcPts val="333"/>
              </a:spcAft>
            </a:pPr>
            <a:r>
              <a:rPr sz="823" b="1" i="0">
                <a:solidFill>
                  <a:srgbClr val="143DFF"/>
                </a:solidFill>
                <a:latin typeface="Satoshi"/>
              </a:rPr>
              <a:t>·  </a:t>
            </a:r>
            <a:r>
              <a:rPr sz="823" b="0" i="0">
                <a:solidFill>
                  <a:srgbClr val="4C4C4C"/>
                </a:solidFill>
                <a:latin typeface="Satoshi"/>
              </a:rPr>
              <a:t>"Supports clinician review" is the workhorse phrase. Use it often, and honestly</a:t>
            </a:r>
          </a:p>
        </p:txBody>
      </p:sp>
      <p:sp>
        <p:nvSpPr>
          <p:cNvPr id="8" name="Rounded Rectangle 7"/>
          <p:cNvSpPr/>
          <p:nvPr/>
        </p:nvSpPr>
        <p:spPr>
          <a:xfrm>
            <a:off x="6205712" y="1828800"/>
            <a:ext cx="5327888" cy="1920240"/>
          </a:xfrm>
          <a:prstGeom prst="roundRect">
            <a:avLst>
              <a:gd name="adj" fmla="val 1322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6880" y="2002536"/>
            <a:ext cx="4925552" cy="256032"/>
          </a:xfrm>
          <a:prstGeom prst="rect">
            <a:avLst/>
          </a:prstGeom>
          <a:noFill/>
        </p:spPr>
        <p:txBody>
          <a:bodyPr wrap="square" lIns="0" rIns="0" tIns="0" bIns="0" anchor="t">
            <a:spAutoFit/>
          </a:bodyPr>
          <a:lstStyle/>
          <a:p>
            <a:pPr algn="l">
              <a:lnSpc>
                <a:spcPct val="128000"/>
              </a:lnSpc>
            </a:pPr>
            <a:r>
              <a:rPr sz="1200" b="1" i="0">
                <a:solidFill>
                  <a:srgbClr val="050F40"/>
                </a:solidFill>
                <a:latin typeface="Satoshi"/>
              </a:rPr>
              <a:t>Never use</a:t>
            </a:r>
          </a:p>
        </p:txBody>
      </p:sp>
      <p:sp>
        <p:nvSpPr>
          <p:cNvPr id="10" name="TextBox 9"/>
          <p:cNvSpPr txBox="1"/>
          <p:nvPr/>
        </p:nvSpPr>
        <p:spPr>
          <a:xfrm>
            <a:off x="6406880" y="2359152"/>
            <a:ext cx="4925552" cy="1207008"/>
          </a:xfrm>
          <a:prstGeom prst="rect">
            <a:avLst/>
          </a:prstGeom>
          <a:noFill/>
        </p:spPr>
        <p:txBody>
          <a:bodyPr wrap="square" lIns="0" rIns="0" tIns="0" bIns="0" anchor="t">
            <a:spAutoFit/>
          </a:bodyPr>
          <a:lstStyle/>
          <a:p>
            <a:pPr algn="l">
              <a:lnSpc>
                <a:spcPct val="126000"/>
              </a:lnSpc>
              <a:spcAft>
                <a:spcPts val="333"/>
              </a:spcAft>
            </a:pPr>
            <a:r>
              <a:rPr sz="823" b="1" i="0">
                <a:solidFill>
                  <a:srgbClr val="050F40"/>
                </a:solidFill>
                <a:latin typeface="Satoshi"/>
              </a:rPr>
              <a:t>·  </a:t>
            </a:r>
            <a:r>
              <a:rPr sz="823" b="0" i="0">
                <a:solidFill>
                  <a:srgbClr val="4C4C4C"/>
                </a:solidFill>
                <a:latin typeface="Satoshi"/>
              </a:rPr>
              <a:t>Banned words: leverage, utilize, harness, robust, seamless, comprehensive, revolutionize, cutting-edge, state-of-the-art, game-changer, disrupt, delve, tapestry, realm, groundbreaking, best-in-class, industry-leading, world-class, unparalleled, and figurative "navigate"</a:t>
            </a:r>
          </a:p>
          <a:p>
            <a:pPr algn="l">
              <a:lnSpc>
                <a:spcPct val="126000"/>
              </a:lnSpc>
              <a:spcAft>
                <a:spcPts val="333"/>
              </a:spcAft>
            </a:pPr>
            <a:r>
              <a:rPr sz="823" b="1" i="0">
                <a:solidFill>
                  <a:srgbClr val="050F40"/>
                </a:solidFill>
                <a:latin typeface="Satoshi"/>
              </a:rPr>
              <a:t>·  </a:t>
            </a:r>
            <a:r>
              <a:rPr sz="823" b="0" i="0">
                <a:solidFill>
                  <a:srgbClr val="4C4C4C"/>
                </a:solidFill>
                <a:latin typeface="Satoshi"/>
              </a:rPr>
              <a:t>Banned phrasings: "In today's fast-paced world", "Unlock the power of", "Are you struggling with?", "It's no secret that", "Let's dive in", and "AI-powered" standing alone as a value claim</a:t>
            </a:r>
          </a:p>
          <a:p>
            <a:pPr algn="l">
              <a:lnSpc>
                <a:spcPct val="126000"/>
              </a:lnSpc>
              <a:spcAft>
                <a:spcPts val="333"/>
              </a:spcAft>
            </a:pPr>
            <a:r>
              <a:rPr sz="823" b="1" i="0">
                <a:solidFill>
                  <a:srgbClr val="050F40"/>
                </a:solidFill>
                <a:latin typeface="Satoshi"/>
              </a:rPr>
              <a:t>·  </a:t>
            </a:r>
            <a:r>
              <a:rPr sz="823" b="0" i="0">
                <a:solidFill>
                  <a:srgbClr val="4C4C4C"/>
                </a:solidFill>
                <a:latin typeface="Satoshi"/>
              </a:rPr>
              <a:t>Asselya's word rules: never "objective" about our own output, never "the reader" or "this guide", never "by hand", never "plus" as a connector, never "let", never "so" introducing a benefit</a:t>
            </a:r>
          </a:p>
        </p:txBody>
      </p:sp>
      <p:sp>
        <p:nvSpPr>
          <p:cNvPr id="11" name="TextBox 10"/>
          <p:cNvSpPr txBox="1"/>
          <p:nvPr/>
        </p:nvSpPr>
        <p:spPr>
          <a:xfrm>
            <a:off x="658368" y="3895344"/>
            <a:ext cx="10875233" cy="219456"/>
          </a:xfrm>
          <a:prstGeom prst="rect">
            <a:avLst/>
          </a:prstGeom>
          <a:noFill/>
        </p:spPr>
        <p:txBody>
          <a:bodyPr wrap="square" lIns="0" rIns="0" tIns="0" bIns="0" anchor="t">
            <a:spAutoFit/>
          </a:bodyPr>
          <a:lstStyle/>
          <a:p>
            <a:pPr algn="l">
              <a:lnSpc>
                <a:spcPct val="128000"/>
              </a:lnSpc>
            </a:pPr>
            <a:r>
              <a:rPr sz="860" b="1" i="0">
                <a:solidFill>
                  <a:srgbClr val="143DFF"/>
                </a:solidFill>
                <a:latin typeface="Satoshi"/>
              </a:rPr>
              <a:t>BANNED CONSTRUCTIONS, AND THE FIX</a:t>
            </a:r>
          </a:p>
        </p:txBody>
      </p:sp>
      <p:sp>
        <p:nvSpPr>
          <p:cNvPr id="12" name="Rectangle 11"/>
          <p:cNvSpPr/>
          <p:nvPr/>
        </p:nvSpPr>
        <p:spPr>
          <a:xfrm>
            <a:off x="658368" y="4151376"/>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4201668"/>
            <a:ext cx="2862185"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Construction</a:t>
            </a:r>
          </a:p>
        </p:txBody>
      </p:sp>
      <p:sp>
        <p:nvSpPr>
          <p:cNvPr id="14" name="TextBox 13"/>
          <p:cNvSpPr txBox="1"/>
          <p:nvPr/>
        </p:nvSpPr>
        <p:spPr>
          <a:xfrm>
            <a:off x="3804017" y="4201668"/>
            <a:ext cx="4819727"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Why</a:t>
            </a:r>
          </a:p>
        </p:txBody>
      </p:sp>
      <p:sp>
        <p:nvSpPr>
          <p:cNvPr id="15" name="TextBox 14"/>
          <p:cNvSpPr txBox="1"/>
          <p:nvPr/>
        </p:nvSpPr>
        <p:spPr>
          <a:xfrm>
            <a:off x="8806624" y="4201668"/>
            <a:ext cx="2644680"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Fix</a:t>
            </a:r>
          </a:p>
        </p:txBody>
      </p:sp>
      <p:sp>
        <p:nvSpPr>
          <p:cNvPr id="16" name="Rectangle 15"/>
          <p:cNvSpPr/>
          <p:nvPr/>
        </p:nvSpPr>
        <p:spPr>
          <a:xfrm>
            <a:off x="658368" y="4425696"/>
            <a:ext cx="10875233" cy="36576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442569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4466844"/>
            <a:ext cx="2862185"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"It's not just X, it's Y", "not only X but also Y"</a:t>
            </a:r>
          </a:p>
        </p:txBody>
      </p:sp>
      <p:sp>
        <p:nvSpPr>
          <p:cNvPr id="19" name="TextBox 18"/>
          <p:cNvSpPr txBox="1"/>
          <p:nvPr/>
        </p:nvSpPr>
        <p:spPr>
          <a:xfrm>
            <a:off x="3804017" y="4466844"/>
            <a:ext cx="4819727"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most reliable AI signature in English marketing copy, and it survives casual editing</a:t>
            </a:r>
          </a:p>
        </p:txBody>
      </p:sp>
      <p:sp>
        <p:nvSpPr>
          <p:cNvPr id="20" name="TextBox 19"/>
          <p:cNvSpPr txBox="1"/>
          <p:nvPr/>
        </p:nvSpPr>
        <p:spPr>
          <a:xfrm>
            <a:off x="8806624" y="4466844"/>
            <a:ext cx="2644680"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State Y directly</a:t>
            </a:r>
          </a:p>
        </p:txBody>
      </p:sp>
      <p:sp>
        <p:nvSpPr>
          <p:cNvPr id="21" name="Rectangle 20"/>
          <p:cNvSpPr/>
          <p:nvPr/>
        </p:nvSpPr>
        <p:spPr>
          <a:xfrm>
            <a:off x="658368" y="4791456"/>
            <a:ext cx="10875233"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8368" y="479145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58952" y="4832604"/>
            <a:ext cx="2862185"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Adjectival punch triads: "fast, reliable, scalable"</a:t>
            </a:r>
          </a:p>
        </p:txBody>
      </p:sp>
      <p:sp>
        <p:nvSpPr>
          <p:cNvPr id="24" name="TextBox 23"/>
          <p:cNvSpPr txBox="1"/>
          <p:nvPr/>
        </p:nvSpPr>
        <p:spPr>
          <a:xfrm>
            <a:off x="3804017" y="4832604"/>
            <a:ext cx="4819727"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Reads generated. A list of real things ("positioning, posture, equipment") is a list and is fine</a:t>
            </a:r>
          </a:p>
        </p:txBody>
      </p:sp>
      <p:sp>
        <p:nvSpPr>
          <p:cNvPr id="25" name="TextBox 24"/>
          <p:cNvSpPr txBox="1"/>
          <p:nvPr/>
        </p:nvSpPr>
        <p:spPr>
          <a:xfrm>
            <a:off x="8806624" y="4832604"/>
            <a:ext cx="2644680"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Two adjectives, or one with a condition</a:t>
            </a:r>
          </a:p>
        </p:txBody>
      </p:sp>
      <p:sp>
        <p:nvSpPr>
          <p:cNvPr id="26" name="Rectangle 25"/>
          <p:cNvSpPr/>
          <p:nvPr/>
        </p:nvSpPr>
        <p:spPr>
          <a:xfrm>
            <a:off x="658368" y="5157216"/>
            <a:ext cx="10875233" cy="36576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515721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8952" y="5198364"/>
            <a:ext cx="2862185"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Em dash and en dash</a:t>
            </a:r>
          </a:p>
        </p:txBody>
      </p:sp>
      <p:sp>
        <p:nvSpPr>
          <p:cNvPr id="29" name="TextBox 28"/>
          <p:cNvSpPr txBox="1"/>
          <p:nvPr/>
        </p:nvSpPr>
        <p:spPr>
          <a:xfrm>
            <a:off x="3804017" y="5198364"/>
            <a:ext cx="4819727"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Banned in all contexts, no exceptions</a:t>
            </a:r>
          </a:p>
        </p:txBody>
      </p:sp>
      <p:sp>
        <p:nvSpPr>
          <p:cNvPr id="30" name="TextBox 29"/>
          <p:cNvSpPr txBox="1"/>
          <p:nvPr/>
        </p:nvSpPr>
        <p:spPr>
          <a:xfrm>
            <a:off x="8806624" y="5198364"/>
            <a:ext cx="2644680"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Comma, full stop, or brackets</a:t>
            </a:r>
          </a:p>
        </p:txBody>
      </p:sp>
      <p:sp>
        <p:nvSpPr>
          <p:cNvPr id="31" name="Rectangle 30"/>
          <p:cNvSpPr/>
          <p:nvPr/>
        </p:nvSpPr>
        <p:spPr>
          <a:xfrm>
            <a:off x="658368" y="5522976"/>
            <a:ext cx="10875233" cy="3657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552297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 y="5564124"/>
            <a:ext cx="2862185"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Corrective negation "X, not Y"</a:t>
            </a:r>
          </a:p>
        </p:txBody>
      </p:sp>
      <p:sp>
        <p:nvSpPr>
          <p:cNvPr id="34" name="TextBox 33"/>
          <p:cNvSpPr txBox="1"/>
          <p:nvPr/>
        </p:nvSpPr>
        <p:spPr>
          <a:xfrm>
            <a:off x="3804017" y="5564124"/>
            <a:ext cx="4819727"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Sounds corrective and dismissive. Exception: a necessary product, clinical, legal or regulatory boundary</a:t>
            </a:r>
          </a:p>
        </p:txBody>
      </p:sp>
      <p:sp>
        <p:nvSpPr>
          <p:cNvPr id="35" name="TextBox 34"/>
          <p:cNvSpPr txBox="1"/>
          <p:nvPr/>
        </p:nvSpPr>
        <p:spPr>
          <a:xfrm>
            <a:off x="8806624" y="5564124"/>
            <a:ext cx="2644680" cy="31089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Lead with the recommended approach and explain its purpose</a:t>
            </a:r>
          </a:p>
        </p:txBody>
      </p:sp>
      <p:sp>
        <p:nvSpPr>
          <p:cNvPr id="36" name="Rectangle 35"/>
          <p:cNvSpPr/>
          <p:nvPr/>
        </p:nvSpPr>
        <p:spPr>
          <a:xfrm>
            <a:off x="658368" y="588873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5760720"/>
            <a:ext cx="10875233" cy="329184"/>
          </a:xfrm>
          <a:prstGeom prst="rect">
            <a:avLst/>
          </a:prstGeom>
          <a:noFill/>
        </p:spPr>
        <p:txBody>
          <a:bodyPr wrap="square" lIns="0" rIns="0" tIns="0" bIns="0" anchor="t">
            <a:spAutoFit/>
          </a:bodyPr>
          <a:lstStyle/>
          <a:p>
            <a:pPr algn="l">
              <a:lnSpc>
                <a:spcPct val="128000"/>
              </a:lnSpc>
            </a:pPr>
            <a:r>
              <a:rPr sz="860" b="0" i="1">
                <a:solidFill>
                  <a:srgbClr val="666666"/>
                </a:solidFill>
                <a:latin typeface="Satoshi"/>
              </a:rPr>
              <a:t>Rules M1 and M2. M1: expand every abbreviation at first use, including the obvious ones and every cited regulator. M2: one clear negative statement of scope, stated once, with no second negation chained onto it. The AI-tells sweep is a separate pass after writing, never during.</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14 / 61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02 · BRAND AND VOICE</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Disclaimer boilerplate for sensitive verticals</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A scope note early, not a disclaimer bolted on at the end, plus an italic line near any accuracy or eligibility claim. Keep the first sentence intact, adapt the second clause.</a:t>
            </a:r>
          </a:p>
        </p:txBody>
      </p:sp>
      <p:sp>
        <p:nvSpPr>
          <p:cNvPr id="5" name="Rounded Rectangle 4"/>
          <p:cNvSpPr/>
          <p:nvPr/>
        </p:nvSpPr>
        <p:spPr>
          <a:xfrm>
            <a:off x="658368" y="1554480"/>
            <a:ext cx="10875233" cy="786384"/>
          </a:xfrm>
          <a:prstGeom prst="roundRect">
            <a:avLst>
              <a:gd name="adj" fmla="val 32299"/>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6733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UNIVERSAL BASE, EVERY SENSITIVE VERTICAL</a:t>
            </a:r>
          </a:p>
        </p:txBody>
      </p:sp>
      <p:sp>
        <p:nvSpPr>
          <p:cNvPr id="7" name="TextBox 6"/>
          <p:cNvSpPr txBox="1"/>
          <p:nvPr/>
        </p:nvSpPr>
        <p:spPr>
          <a:xfrm>
            <a:off x="877824" y="1865376"/>
            <a:ext cx="10418033" cy="365759"/>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FitXpress is not positioned as a medical device. It provides structured body data that supports clinical and operational workflows.</a:t>
            </a:r>
          </a:p>
        </p:txBody>
      </p:sp>
      <p:sp>
        <p:nvSpPr>
          <p:cNvPr id="8" name="Rectangle 7"/>
          <p:cNvSpPr/>
          <p:nvPr/>
        </p:nvSpPr>
        <p:spPr>
          <a:xfrm>
            <a:off x="658368" y="2487168"/>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 y="2537460"/>
            <a:ext cx="2644680"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Vertical</a:t>
            </a:r>
          </a:p>
        </p:txBody>
      </p:sp>
      <p:sp>
        <p:nvSpPr>
          <p:cNvPr id="10" name="TextBox 9"/>
          <p:cNvSpPr txBox="1"/>
          <p:nvPr/>
        </p:nvSpPr>
        <p:spPr>
          <a:xfrm>
            <a:off x="3586512" y="2537460"/>
            <a:ext cx="7864792"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The second clause</a:t>
            </a:r>
          </a:p>
        </p:txBody>
      </p:sp>
      <p:sp>
        <p:nvSpPr>
          <p:cNvPr id="11" name="Rectangle 10"/>
          <p:cNvSpPr/>
          <p:nvPr/>
        </p:nvSpPr>
        <p:spPr>
          <a:xfrm>
            <a:off x="658368" y="2761487"/>
            <a:ext cx="10875233" cy="29718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761487"/>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802635"/>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Telehealth, GLP-1 and weight loss</a:t>
            </a:r>
          </a:p>
        </p:txBody>
      </p:sp>
      <p:sp>
        <p:nvSpPr>
          <p:cNvPr id="14" name="TextBox 13"/>
          <p:cNvSpPr txBox="1"/>
          <p:nvPr/>
        </p:nvSpPr>
        <p:spPr>
          <a:xfrm>
            <a:off x="3586512" y="2802635"/>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 supports remote progress tracking and clinician review; treatment decisions remain with the care team</a:t>
            </a:r>
          </a:p>
        </p:txBody>
      </p:sp>
      <p:sp>
        <p:nvSpPr>
          <p:cNvPr id="15" name="Rectangle 14"/>
          <p:cNvSpPr/>
          <p:nvPr/>
        </p:nvSpPr>
        <p:spPr>
          <a:xfrm>
            <a:off x="658368" y="3058668"/>
            <a:ext cx="10875233"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05866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099815"/>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Online pharmacy and remote prescribing</a:t>
            </a:r>
          </a:p>
        </p:txBody>
      </p:sp>
      <p:sp>
        <p:nvSpPr>
          <p:cNvPr id="18" name="TextBox 17"/>
          <p:cNvSpPr txBox="1"/>
          <p:nvPr/>
        </p:nvSpPr>
        <p:spPr>
          <a:xfrm>
            <a:off x="3586512" y="3099815"/>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 supports eligibility verification workflows and audit-ready documentation; prescribing and eligibility determinations remain with the prescriber</a:t>
            </a:r>
          </a:p>
        </p:txBody>
      </p:sp>
      <p:sp>
        <p:nvSpPr>
          <p:cNvPr id="19" name="Rectangle 18"/>
          <p:cNvSpPr/>
          <p:nvPr/>
        </p:nvSpPr>
        <p:spPr>
          <a:xfrm>
            <a:off x="658368" y="3355848"/>
            <a:ext cx="10875233" cy="29718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335584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396996"/>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Insurance underwriting</a:t>
            </a:r>
          </a:p>
        </p:txBody>
      </p:sp>
      <p:sp>
        <p:nvSpPr>
          <p:cNvPr id="22" name="TextBox 21"/>
          <p:cNvSpPr txBox="1"/>
          <p:nvPr/>
        </p:nvSpPr>
        <p:spPr>
          <a:xfrm>
            <a:off x="3586512" y="3396996"/>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Outputs are supporting evidence for underwriter review; risk classification and pricing decisions remain with the carrier</a:t>
            </a:r>
          </a:p>
        </p:txBody>
      </p:sp>
      <p:sp>
        <p:nvSpPr>
          <p:cNvPr id="23" name="Rectangle 22"/>
          <p:cNvSpPr/>
          <p:nvPr/>
        </p:nvSpPr>
        <p:spPr>
          <a:xfrm>
            <a:off x="658368" y="3653028"/>
            <a:ext cx="10875233"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365302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3694176"/>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Health plans and employer wellness</a:t>
            </a:r>
          </a:p>
        </p:txBody>
      </p:sp>
      <p:sp>
        <p:nvSpPr>
          <p:cNvPr id="26" name="TextBox 25"/>
          <p:cNvSpPr txBox="1"/>
          <p:nvPr/>
        </p:nvSpPr>
        <p:spPr>
          <a:xfrm>
            <a:off x="3586512" y="3694176"/>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 supports remote verification and documentation for incentive programs; reward and eligibility determinations remain with the program administrator</a:t>
            </a:r>
          </a:p>
        </p:txBody>
      </p:sp>
      <p:sp>
        <p:nvSpPr>
          <p:cNvPr id="27" name="Rectangle 26"/>
          <p:cNvSpPr/>
          <p:nvPr/>
        </p:nvSpPr>
        <p:spPr>
          <a:xfrm>
            <a:off x="658368" y="3950208"/>
            <a:ext cx="10875233" cy="29718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58368" y="395020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58952" y="3991356"/>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Bariatric and metabolic clinics</a:t>
            </a:r>
          </a:p>
        </p:txBody>
      </p:sp>
      <p:sp>
        <p:nvSpPr>
          <p:cNvPr id="30" name="TextBox 29"/>
          <p:cNvSpPr txBox="1"/>
          <p:nvPr/>
        </p:nvSpPr>
        <p:spPr>
          <a:xfrm>
            <a:off x="3586512" y="3991356"/>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 supports remote pre-qualification workflows; surgical candidacy remains the clinical team's determination</a:t>
            </a:r>
          </a:p>
        </p:txBody>
      </p:sp>
      <p:sp>
        <p:nvSpPr>
          <p:cNvPr id="31" name="Rectangle 30"/>
          <p:cNvSpPr/>
          <p:nvPr/>
        </p:nvSpPr>
        <p:spPr>
          <a:xfrm>
            <a:off x="658368" y="4247388"/>
            <a:ext cx="10875233"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368" y="424738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952" y="4288536"/>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Occupational health</a:t>
            </a:r>
          </a:p>
        </p:txBody>
      </p:sp>
      <p:sp>
        <p:nvSpPr>
          <p:cNvPr id="34" name="TextBox 33"/>
          <p:cNvSpPr txBox="1"/>
          <p:nvPr/>
        </p:nvSpPr>
        <p:spPr>
          <a:xfrm>
            <a:off x="3586512" y="4288536"/>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 supports screening intake and documentation; fitness-for-duty and clearance determinations remain with the occupational health provider</a:t>
            </a:r>
          </a:p>
        </p:txBody>
      </p:sp>
      <p:sp>
        <p:nvSpPr>
          <p:cNvPr id="35" name="Rectangle 34"/>
          <p:cNvSpPr/>
          <p:nvPr/>
        </p:nvSpPr>
        <p:spPr>
          <a:xfrm>
            <a:off x="658368" y="4544568"/>
            <a:ext cx="10875233" cy="29718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8368" y="454456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952" y="4585716"/>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Clinical trials</a:t>
            </a:r>
          </a:p>
        </p:txBody>
      </p:sp>
      <p:sp>
        <p:nvSpPr>
          <p:cNvPr id="38" name="TextBox 37"/>
          <p:cNvSpPr txBox="1"/>
          <p:nvPr/>
        </p:nvSpPr>
        <p:spPr>
          <a:xfrm>
            <a:off x="3586512" y="4585716"/>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 standardizes and documents anthropometric capture; endpoint validation and protocol compliance remain with the sponsor and the investigator</a:t>
            </a:r>
          </a:p>
        </p:txBody>
      </p:sp>
      <p:sp>
        <p:nvSpPr>
          <p:cNvPr id="39" name="Rectangle 38"/>
          <p:cNvSpPr/>
          <p:nvPr/>
        </p:nvSpPr>
        <p:spPr>
          <a:xfrm>
            <a:off x="658368" y="4841748"/>
            <a:ext cx="10875233" cy="2971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484174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8952" y="4882896"/>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Plastic surgery</a:t>
            </a:r>
          </a:p>
        </p:txBody>
      </p:sp>
      <p:sp>
        <p:nvSpPr>
          <p:cNvPr id="42" name="TextBox 41"/>
          <p:cNvSpPr txBox="1"/>
          <p:nvPr/>
        </p:nvSpPr>
        <p:spPr>
          <a:xfrm>
            <a:off x="3586512" y="4882896"/>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 supports remote pre-screening and planning input; surgical and anaesthetic risk assessment remains with the surgeon</a:t>
            </a:r>
          </a:p>
        </p:txBody>
      </p:sp>
      <p:sp>
        <p:nvSpPr>
          <p:cNvPr id="43" name="Rectangle 42"/>
          <p:cNvSpPr/>
          <p:nvPr/>
        </p:nvSpPr>
        <p:spPr>
          <a:xfrm>
            <a:off x="658368" y="5138928"/>
            <a:ext cx="10875233" cy="29718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368" y="513892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8952" y="5180076"/>
            <a:ext cx="2644680" cy="24231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BCRL and oncology survivorship</a:t>
            </a:r>
          </a:p>
        </p:txBody>
      </p:sp>
      <p:sp>
        <p:nvSpPr>
          <p:cNvPr id="46" name="TextBox 45"/>
          <p:cNvSpPr txBox="1"/>
          <p:nvPr/>
        </p:nvSpPr>
        <p:spPr>
          <a:xfrm>
            <a:off x="3586512" y="5180076"/>
            <a:ext cx="7864792" cy="24231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It supports remote monitoring workflows and reproducible body records; it does not detect or diagnose lymphedema, and clinical assessment remains with the care team</a:t>
            </a:r>
          </a:p>
        </p:txBody>
      </p:sp>
      <p:sp>
        <p:nvSpPr>
          <p:cNvPr id="47" name="Rectangle 46"/>
          <p:cNvSpPr/>
          <p:nvPr/>
        </p:nvSpPr>
        <p:spPr>
          <a:xfrm>
            <a:off x="658368" y="543610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8368" y="5358383"/>
            <a:ext cx="10875233" cy="402336"/>
          </a:xfrm>
          <a:prstGeom prst="rect">
            <a:avLst/>
          </a:prstGeom>
          <a:noFill/>
        </p:spPr>
        <p:txBody>
          <a:bodyPr wrap="square" lIns="0" rIns="0" tIns="0" bIns="0" anchor="t">
            <a:spAutoFit/>
          </a:bodyPr>
          <a:lstStyle/>
          <a:p>
            <a:pPr algn="l">
              <a:lnSpc>
                <a:spcPct val="130000"/>
              </a:lnSpc>
            </a:pPr>
            <a:r>
              <a:rPr sz="840" b="0" i="1">
                <a:solidFill>
                  <a:srgbClr val="666666"/>
                </a:solidFill>
                <a:latin typeface="Satoshi"/>
              </a:rPr>
              <a:t>Always safe: "supports compliant workflows", "audit-ready documentation", "HIPAA-aware and GDPR-aligned". Never "makes you compliant", never "guarantees compliance". Every control is stated with its limit: pose validation, clothing detection and live capture reduce error and fraud exposure, and they do not remove the need for capture instructions, retake logic or deployment-specific thresholds. Breast cancer-related lymphedema (BCRL) is the most compliance-sensitive vertical: lead with the scope note, and route every draft to Whitney.</a:t>
            </a:r>
          </a:p>
        </p:txBody>
      </p:sp>
      <p:sp>
        <p:nvSpPr>
          <p:cNvPr id="49" name="TextBox 48"/>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50" name="TextBox 49"/>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15 / 61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03</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Design system quick reference</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DESIGN.md is the only design source of truth. Use tokens exactly as written. Never introduce a font, colour or radius that is not in it.</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16 / 61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03 · DESIGN SYSTEM</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Colour, and how it is weighted</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Clinical precision with consumer-app polish. Restraint over density, product over icons, precision as a visual language, depth rather than flat fills.</a:t>
            </a:r>
          </a:p>
        </p:txBody>
      </p:sp>
      <p:sp>
        <p:nvSpPr>
          <p:cNvPr id="5" name="Rounded Rectangle 4"/>
          <p:cNvSpPr/>
          <p:nvPr/>
        </p:nvSpPr>
        <p:spPr>
          <a:xfrm>
            <a:off x="658368" y="1828800"/>
            <a:ext cx="2595364" cy="1060704"/>
          </a:xfrm>
          <a:prstGeom prst="roundRect">
            <a:avLst>
              <a:gd name="adj" fmla="val 23946"/>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7" y="2011680"/>
            <a:ext cx="2229604" cy="274320"/>
          </a:xfrm>
          <a:prstGeom prst="rect">
            <a:avLst/>
          </a:prstGeom>
          <a:noFill/>
        </p:spPr>
        <p:txBody>
          <a:bodyPr wrap="square" lIns="0" rIns="0" tIns="0" bIns="0" anchor="t">
            <a:spAutoFit/>
          </a:bodyPr>
          <a:lstStyle/>
          <a:p>
            <a:pPr algn="l">
              <a:lnSpc>
                <a:spcPct val="128000"/>
              </a:lnSpc>
            </a:pPr>
            <a:r>
              <a:rPr sz="1500" b="1" i="0">
                <a:solidFill>
                  <a:srgbClr val="FFFFFF"/>
                </a:solidFill>
                <a:latin typeface="Satoshi"/>
              </a:rPr>
              <a:t>#143DFF</a:t>
            </a:r>
          </a:p>
        </p:txBody>
      </p:sp>
      <p:sp>
        <p:nvSpPr>
          <p:cNvPr id="7" name="TextBox 6"/>
          <p:cNvSpPr txBox="1"/>
          <p:nvPr/>
        </p:nvSpPr>
        <p:spPr>
          <a:xfrm>
            <a:off x="841247" y="2359152"/>
            <a:ext cx="2229604" cy="457200"/>
          </a:xfrm>
          <a:prstGeom prst="rect">
            <a:avLst/>
          </a:prstGeom>
          <a:noFill/>
        </p:spPr>
        <p:txBody>
          <a:bodyPr wrap="square" lIns="0" rIns="0" tIns="0" bIns="0" anchor="t">
            <a:spAutoFit/>
          </a:bodyPr>
          <a:lstStyle/>
          <a:p>
            <a:pPr algn="l">
              <a:lnSpc>
                <a:spcPct val="126000"/>
              </a:lnSpc>
            </a:pPr>
            <a:r>
              <a:rPr sz="840" b="0" i="0">
                <a:solidFill>
                  <a:srgbClr val="FFFFFF"/>
                </a:solidFill>
                <a:latin typeface="Satoshi"/>
              </a:rPr>
              <a:t>Electric blue
The single sharp accent</a:t>
            </a:r>
          </a:p>
        </p:txBody>
      </p:sp>
      <p:sp>
        <p:nvSpPr>
          <p:cNvPr id="8" name="Rounded Rectangle 7"/>
          <p:cNvSpPr/>
          <p:nvPr/>
        </p:nvSpPr>
        <p:spPr>
          <a:xfrm>
            <a:off x="3418324" y="1828800"/>
            <a:ext cx="2595364" cy="1060704"/>
          </a:xfrm>
          <a:prstGeom prst="roundRect">
            <a:avLst>
              <a:gd name="adj" fmla="val 23946"/>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1204" y="2011680"/>
            <a:ext cx="2229604" cy="274320"/>
          </a:xfrm>
          <a:prstGeom prst="rect">
            <a:avLst/>
          </a:prstGeom>
          <a:noFill/>
        </p:spPr>
        <p:txBody>
          <a:bodyPr wrap="square" lIns="0" rIns="0" tIns="0" bIns="0" anchor="t">
            <a:spAutoFit/>
          </a:bodyPr>
          <a:lstStyle/>
          <a:p>
            <a:pPr algn="l">
              <a:lnSpc>
                <a:spcPct val="128000"/>
              </a:lnSpc>
            </a:pPr>
            <a:r>
              <a:rPr sz="1500" b="1" i="0">
                <a:solidFill>
                  <a:srgbClr val="FFFFFF"/>
                </a:solidFill>
                <a:latin typeface="Satoshi"/>
              </a:rPr>
              <a:t>#050F40</a:t>
            </a:r>
          </a:p>
        </p:txBody>
      </p:sp>
      <p:sp>
        <p:nvSpPr>
          <p:cNvPr id="10" name="TextBox 9"/>
          <p:cNvSpPr txBox="1"/>
          <p:nvPr/>
        </p:nvSpPr>
        <p:spPr>
          <a:xfrm>
            <a:off x="3601204" y="2359152"/>
            <a:ext cx="2229604" cy="457200"/>
          </a:xfrm>
          <a:prstGeom prst="rect">
            <a:avLst/>
          </a:prstGeom>
          <a:noFill/>
        </p:spPr>
        <p:txBody>
          <a:bodyPr wrap="square" lIns="0" rIns="0" tIns="0" bIns="0" anchor="t">
            <a:spAutoFit/>
          </a:bodyPr>
          <a:lstStyle/>
          <a:p>
            <a:pPr algn="l">
              <a:lnSpc>
                <a:spcPct val="126000"/>
              </a:lnSpc>
            </a:pPr>
            <a:r>
              <a:rPr sz="840" b="0" i="0">
                <a:solidFill>
                  <a:srgbClr val="FFFFFF"/>
                </a:solidFill>
                <a:latin typeface="Satoshi"/>
              </a:rPr>
              <a:t>Navy
Hero, proof bands, CTA band, footer</a:t>
            </a:r>
          </a:p>
        </p:txBody>
      </p:sp>
      <p:sp>
        <p:nvSpPr>
          <p:cNvPr id="11" name="Rounded Rectangle 10"/>
          <p:cNvSpPr/>
          <p:nvPr/>
        </p:nvSpPr>
        <p:spPr>
          <a:xfrm>
            <a:off x="6178280" y="1828800"/>
            <a:ext cx="2595364" cy="1060704"/>
          </a:xfrm>
          <a:prstGeom prst="roundRect">
            <a:avLst>
              <a:gd name="adj" fmla="val 23946"/>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1160" y="2011680"/>
            <a:ext cx="2229604" cy="274320"/>
          </a:xfrm>
          <a:prstGeom prst="rect">
            <a:avLst/>
          </a:prstGeom>
          <a:noFill/>
        </p:spPr>
        <p:txBody>
          <a:bodyPr wrap="square" lIns="0" rIns="0" tIns="0" bIns="0" anchor="t">
            <a:spAutoFit/>
          </a:bodyPr>
          <a:lstStyle/>
          <a:p>
            <a:pPr algn="l">
              <a:lnSpc>
                <a:spcPct val="128000"/>
              </a:lnSpc>
            </a:pPr>
            <a:r>
              <a:rPr sz="1500" b="1" i="0">
                <a:solidFill>
                  <a:srgbClr val="FFFFFF"/>
                </a:solidFill>
                <a:latin typeface="Satoshi"/>
              </a:rPr>
              <a:t>#000000</a:t>
            </a:r>
          </a:p>
        </p:txBody>
      </p:sp>
      <p:sp>
        <p:nvSpPr>
          <p:cNvPr id="13" name="TextBox 12"/>
          <p:cNvSpPr txBox="1"/>
          <p:nvPr/>
        </p:nvSpPr>
        <p:spPr>
          <a:xfrm>
            <a:off x="6361160" y="2359152"/>
            <a:ext cx="2229604" cy="457200"/>
          </a:xfrm>
          <a:prstGeom prst="rect">
            <a:avLst/>
          </a:prstGeom>
          <a:noFill/>
        </p:spPr>
        <p:txBody>
          <a:bodyPr wrap="square" lIns="0" rIns="0" tIns="0" bIns="0" anchor="t">
            <a:spAutoFit/>
          </a:bodyPr>
          <a:lstStyle/>
          <a:p>
            <a:pPr algn="l">
              <a:lnSpc>
                <a:spcPct val="126000"/>
              </a:lnSpc>
            </a:pPr>
            <a:r>
              <a:rPr sz="840" b="0" i="0">
                <a:solidFill>
                  <a:srgbClr val="FFFFFF"/>
                </a:solidFill>
                <a:latin typeface="Satoshi"/>
              </a:rPr>
              <a:t>Black
Dark buttons, high-contrast type</a:t>
            </a:r>
          </a:p>
        </p:txBody>
      </p:sp>
      <p:sp>
        <p:nvSpPr>
          <p:cNvPr id="14" name="Rounded Rectangle 13"/>
          <p:cNvSpPr/>
          <p:nvPr/>
        </p:nvSpPr>
        <p:spPr>
          <a:xfrm>
            <a:off x="8938237" y="1828800"/>
            <a:ext cx="2595364" cy="1060704"/>
          </a:xfrm>
          <a:prstGeom prst="roundRect">
            <a:avLst>
              <a:gd name="adj" fmla="val 23946"/>
            </a:avLst>
          </a:prstGeom>
          <a:solidFill>
            <a:srgbClr val="FFFFFF"/>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21117" y="2011680"/>
            <a:ext cx="2229604" cy="274320"/>
          </a:xfrm>
          <a:prstGeom prst="rect">
            <a:avLst/>
          </a:prstGeom>
          <a:noFill/>
        </p:spPr>
        <p:txBody>
          <a:bodyPr wrap="square" lIns="0" rIns="0" tIns="0" bIns="0" anchor="t">
            <a:spAutoFit/>
          </a:bodyPr>
          <a:lstStyle/>
          <a:p>
            <a:pPr algn="l">
              <a:lnSpc>
                <a:spcPct val="128000"/>
              </a:lnSpc>
            </a:pPr>
            <a:r>
              <a:rPr sz="1500" b="1" i="0">
                <a:solidFill>
                  <a:srgbClr val="050F40"/>
                </a:solidFill>
                <a:latin typeface="Satoshi"/>
              </a:rPr>
              <a:t>#FFFFFF</a:t>
            </a:r>
          </a:p>
        </p:txBody>
      </p:sp>
      <p:sp>
        <p:nvSpPr>
          <p:cNvPr id="16" name="TextBox 15"/>
          <p:cNvSpPr txBox="1"/>
          <p:nvPr/>
        </p:nvSpPr>
        <p:spPr>
          <a:xfrm>
            <a:off x="9121117" y="2359152"/>
            <a:ext cx="2229604" cy="457200"/>
          </a:xfrm>
          <a:prstGeom prst="rect">
            <a:avLst/>
          </a:prstGeom>
          <a:noFill/>
        </p:spPr>
        <p:txBody>
          <a:bodyPr wrap="square" lIns="0" rIns="0" tIns="0" bIns="0" anchor="t">
            <a:spAutoFit/>
          </a:bodyPr>
          <a:lstStyle/>
          <a:p>
            <a:pPr algn="l">
              <a:lnSpc>
                <a:spcPct val="126000"/>
              </a:lnSpc>
            </a:pPr>
            <a:r>
              <a:rPr sz="840" b="0" i="0">
                <a:solidFill>
                  <a:srgbClr val="666666"/>
                </a:solidFill>
                <a:latin typeface="Satoshi"/>
              </a:rPr>
              <a:t>White
Dominant on content zones</a:t>
            </a:r>
          </a:p>
        </p:txBody>
      </p:sp>
      <p:sp>
        <p:nvSpPr>
          <p:cNvPr id="17" name="TextBox 16"/>
          <p:cNvSpPr txBox="1"/>
          <p:nvPr/>
        </p:nvSpPr>
        <p:spPr>
          <a:xfrm>
            <a:off x="658368" y="3072384"/>
            <a:ext cx="10875233" cy="201168"/>
          </a:xfrm>
          <a:prstGeom prst="rect">
            <a:avLst/>
          </a:prstGeom>
          <a:noFill/>
        </p:spPr>
        <p:txBody>
          <a:bodyPr wrap="square" lIns="0" rIns="0" tIns="0" bIns="0" anchor="t">
            <a:spAutoFit/>
          </a:bodyPr>
          <a:lstStyle/>
          <a:p>
            <a:pPr algn="l">
              <a:lnSpc>
                <a:spcPct val="128000"/>
              </a:lnSpc>
            </a:pPr>
            <a:r>
              <a:rPr sz="800" b="1" i="0">
                <a:solidFill>
                  <a:srgbClr val="143DFF"/>
                </a:solidFill>
                <a:latin typeface="Satoshi"/>
              </a:rPr>
              <a:t>BLUE SCALE, TEN STEPS</a:t>
            </a:r>
          </a:p>
        </p:txBody>
      </p:sp>
      <p:sp>
        <p:nvSpPr>
          <p:cNvPr id="18" name="Rounded Rectangle 17"/>
          <p:cNvSpPr/>
          <p:nvPr/>
        </p:nvSpPr>
        <p:spPr>
          <a:xfrm>
            <a:off x="658368" y="3310128"/>
            <a:ext cx="1038145" cy="365760"/>
          </a:xfrm>
          <a:prstGeom prst="roundRect">
            <a:avLst>
              <a:gd name="adj" fmla="val 50000"/>
            </a:avLst>
          </a:prstGeom>
          <a:solidFill>
            <a:srgbClr val="ECEFFF"/>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#ECEFFF</a:t>
            </a:r>
          </a:p>
        </p:txBody>
      </p:sp>
      <p:sp>
        <p:nvSpPr>
          <p:cNvPr id="20" name="Rounded Rectangle 19"/>
          <p:cNvSpPr/>
          <p:nvPr/>
        </p:nvSpPr>
        <p:spPr>
          <a:xfrm>
            <a:off x="1751377" y="3310128"/>
            <a:ext cx="1038145" cy="365760"/>
          </a:xfrm>
          <a:prstGeom prst="roundRect">
            <a:avLst>
              <a:gd name="adj" fmla="val 50000"/>
            </a:avLst>
          </a:prstGeom>
          <a:solidFill>
            <a:srgbClr val="D8DE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751377"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#D8DEFF</a:t>
            </a:r>
          </a:p>
        </p:txBody>
      </p:sp>
      <p:sp>
        <p:nvSpPr>
          <p:cNvPr id="22" name="Rounded Rectangle 21"/>
          <p:cNvSpPr/>
          <p:nvPr/>
        </p:nvSpPr>
        <p:spPr>
          <a:xfrm>
            <a:off x="2844387" y="3310128"/>
            <a:ext cx="1038145" cy="365760"/>
          </a:xfrm>
          <a:prstGeom prst="roundRect">
            <a:avLst>
              <a:gd name="adj" fmla="val 50000"/>
            </a:avLst>
          </a:prstGeom>
          <a:solidFill>
            <a:srgbClr val="B1B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44387"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#B1BDFF</a:t>
            </a:r>
          </a:p>
        </p:txBody>
      </p:sp>
      <p:sp>
        <p:nvSpPr>
          <p:cNvPr id="24" name="Rounded Rectangle 23"/>
          <p:cNvSpPr/>
          <p:nvPr/>
        </p:nvSpPr>
        <p:spPr>
          <a:xfrm>
            <a:off x="3937397" y="3310128"/>
            <a:ext cx="1038145" cy="365760"/>
          </a:xfrm>
          <a:prstGeom prst="roundRect">
            <a:avLst>
              <a:gd name="adj" fmla="val 50000"/>
            </a:avLst>
          </a:prstGeom>
          <a:solidFill>
            <a:srgbClr val="8A9C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937397"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#8A9CFF</a:t>
            </a:r>
          </a:p>
        </p:txBody>
      </p:sp>
      <p:sp>
        <p:nvSpPr>
          <p:cNvPr id="26" name="Rounded Rectangle 25"/>
          <p:cNvSpPr/>
          <p:nvPr/>
        </p:nvSpPr>
        <p:spPr>
          <a:xfrm>
            <a:off x="5030407" y="3310128"/>
            <a:ext cx="1038145" cy="365760"/>
          </a:xfrm>
          <a:prstGeom prst="roundRect">
            <a:avLst>
              <a:gd name="adj" fmla="val 50000"/>
            </a:avLst>
          </a:prstGeom>
          <a:solidFill>
            <a:srgbClr val="4F6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30407"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#4F6DFF</a:t>
            </a:r>
          </a:p>
        </p:txBody>
      </p:sp>
      <p:sp>
        <p:nvSpPr>
          <p:cNvPr id="28" name="Rounded Rectangle 27"/>
          <p:cNvSpPr/>
          <p:nvPr/>
        </p:nvSpPr>
        <p:spPr>
          <a:xfrm>
            <a:off x="6123416" y="3310128"/>
            <a:ext cx="1038145" cy="36576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23416"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#143DFF</a:t>
            </a:r>
          </a:p>
        </p:txBody>
      </p:sp>
      <p:sp>
        <p:nvSpPr>
          <p:cNvPr id="30" name="Rounded Rectangle 29"/>
          <p:cNvSpPr/>
          <p:nvPr/>
        </p:nvSpPr>
        <p:spPr>
          <a:xfrm>
            <a:off x="7216426" y="3310128"/>
            <a:ext cx="1038145" cy="365760"/>
          </a:xfrm>
          <a:prstGeom prst="roundRect">
            <a:avLst>
              <a:gd name="adj" fmla="val 50000"/>
            </a:avLst>
          </a:prstGeom>
          <a:solidFill>
            <a:srgbClr val="0F2EC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16426"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#0F2ECD</a:t>
            </a:r>
          </a:p>
        </p:txBody>
      </p:sp>
      <p:sp>
        <p:nvSpPr>
          <p:cNvPr id="32" name="Rounded Rectangle 31"/>
          <p:cNvSpPr/>
          <p:nvPr/>
        </p:nvSpPr>
        <p:spPr>
          <a:xfrm>
            <a:off x="8309436" y="3310128"/>
            <a:ext cx="1038145" cy="365760"/>
          </a:xfrm>
          <a:prstGeom prst="roundRect">
            <a:avLst>
              <a:gd name="adj" fmla="val 50000"/>
            </a:avLst>
          </a:prstGeom>
          <a:solidFill>
            <a:srgbClr val="0B22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09436"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#0B2299</a:t>
            </a:r>
          </a:p>
        </p:txBody>
      </p:sp>
      <p:sp>
        <p:nvSpPr>
          <p:cNvPr id="34" name="Rounded Rectangle 33"/>
          <p:cNvSpPr/>
          <p:nvPr/>
        </p:nvSpPr>
        <p:spPr>
          <a:xfrm>
            <a:off x="9402446" y="3310128"/>
            <a:ext cx="1038145" cy="365760"/>
          </a:xfrm>
          <a:prstGeom prst="roundRect">
            <a:avLst>
              <a:gd name="adj" fmla="val 50000"/>
            </a:avLst>
          </a:prstGeom>
          <a:solidFill>
            <a:srgbClr val="081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402446"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#08186B</a:t>
            </a:r>
          </a:p>
        </p:txBody>
      </p:sp>
      <p:sp>
        <p:nvSpPr>
          <p:cNvPr id="36" name="Rounded Rectangle 35"/>
          <p:cNvSpPr/>
          <p:nvPr/>
        </p:nvSpPr>
        <p:spPr>
          <a:xfrm>
            <a:off x="10495455" y="3310128"/>
            <a:ext cx="1038145" cy="365760"/>
          </a:xfrm>
          <a:prstGeom prst="roundRect">
            <a:avLst>
              <a:gd name="adj" fmla="val 50000"/>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495455" y="37124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#050F40</a:t>
            </a:r>
          </a:p>
        </p:txBody>
      </p:sp>
      <p:sp>
        <p:nvSpPr>
          <p:cNvPr id="38" name="TextBox 37"/>
          <p:cNvSpPr txBox="1"/>
          <p:nvPr/>
        </p:nvSpPr>
        <p:spPr>
          <a:xfrm>
            <a:off x="658368" y="3986784"/>
            <a:ext cx="10875233" cy="201168"/>
          </a:xfrm>
          <a:prstGeom prst="rect">
            <a:avLst/>
          </a:prstGeom>
          <a:noFill/>
        </p:spPr>
        <p:txBody>
          <a:bodyPr wrap="square" lIns="0" rIns="0" tIns="0" bIns="0" anchor="t">
            <a:spAutoFit/>
          </a:bodyPr>
          <a:lstStyle/>
          <a:p>
            <a:pPr algn="l">
              <a:lnSpc>
                <a:spcPct val="128000"/>
              </a:lnSpc>
            </a:pPr>
            <a:r>
              <a:rPr sz="800" b="1" i="0">
                <a:solidFill>
                  <a:srgbClr val="143DFF"/>
                </a:solidFill>
                <a:latin typeface="Satoshi"/>
              </a:rPr>
              <a:t>GRAY SCALE, TEN STEPS</a:t>
            </a:r>
          </a:p>
        </p:txBody>
      </p:sp>
      <p:sp>
        <p:nvSpPr>
          <p:cNvPr id="39" name="Rounded Rectangle 38"/>
          <p:cNvSpPr/>
          <p:nvPr/>
        </p:nvSpPr>
        <p:spPr>
          <a:xfrm>
            <a:off x="658368" y="4224528"/>
            <a:ext cx="1038145" cy="365760"/>
          </a:xfrm>
          <a:prstGeom prst="roundRect">
            <a:avLst>
              <a:gd name="adj" fmla="val 50000"/>
            </a:avLst>
          </a:prstGeom>
          <a:solidFill>
            <a:srgbClr val="F9F9F9"/>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8368"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#F9F9F9</a:t>
            </a:r>
          </a:p>
        </p:txBody>
      </p:sp>
      <p:sp>
        <p:nvSpPr>
          <p:cNvPr id="41" name="Rounded Rectangle 40"/>
          <p:cNvSpPr/>
          <p:nvPr/>
        </p:nvSpPr>
        <p:spPr>
          <a:xfrm>
            <a:off x="1751377" y="4224528"/>
            <a:ext cx="1038145" cy="365760"/>
          </a:xfrm>
          <a:prstGeom prst="roundRect">
            <a:avLst>
              <a:gd name="adj" fmla="val 50000"/>
            </a:avLst>
          </a:prstGeom>
          <a:solidFill>
            <a:srgbClr val="F2F2F2"/>
          </a:solidFill>
          <a:ln w="1270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751377"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#F2F2F2</a:t>
            </a:r>
          </a:p>
        </p:txBody>
      </p:sp>
      <p:sp>
        <p:nvSpPr>
          <p:cNvPr id="43" name="Rounded Rectangle 42"/>
          <p:cNvSpPr/>
          <p:nvPr/>
        </p:nvSpPr>
        <p:spPr>
          <a:xfrm>
            <a:off x="2844387" y="4224528"/>
            <a:ext cx="1038145" cy="365760"/>
          </a:xfrm>
          <a:prstGeom prst="roundRect">
            <a:avLst>
              <a:gd name="adj" fmla="val 50000"/>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844387"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#E5E5E5</a:t>
            </a:r>
          </a:p>
        </p:txBody>
      </p:sp>
      <p:sp>
        <p:nvSpPr>
          <p:cNvPr id="45" name="Rounded Rectangle 44"/>
          <p:cNvSpPr/>
          <p:nvPr/>
        </p:nvSpPr>
        <p:spPr>
          <a:xfrm>
            <a:off x="3937397" y="4224528"/>
            <a:ext cx="1038145" cy="365760"/>
          </a:xfrm>
          <a:prstGeom prst="roundRect">
            <a:avLst>
              <a:gd name="adj" fmla="val 50000"/>
            </a:avLst>
          </a:prstGeom>
          <a:solidFill>
            <a:srgbClr val="D1D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937397"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#D1D1D1</a:t>
            </a:r>
          </a:p>
        </p:txBody>
      </p:sp>
      <p:sp>
        <p:nvSpPr>
          <p:cNvPr id="47" name="Rounded Rectangle 46"/>
          <p:cNvSpPr/>
          <p:nvPr/>
        </p:nvSpPr>
        <p:spPr>
          <a:xfrm>
            <a:off x="5030407" y="4224528"/>
            <a:ext cx="1038145" cy="365760"/>
          </a:xfrm>
          <a:prstGeom prst="roundRect">
            <a:avLst>
              <a:gd name="adj" fmla="val 50000"/>
            </a:avLst>
          </a:prstGeom>
          <a:solidFill>
            <a:srgbClr val="A8A8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030407"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#A8A8A8</a:t>
            </a:r>
          </a:p>
        </p:txBody>
      </p:sp>
      <p:sp>
        <p:nvSpPr>
          <p:cNvPr id="49" name="Rounded Rectangle 48"/>
          <p:cNvSpPr/>
          <p:nvPr/>
        </p:nvSpPr>
        <p:spPr>
          <a:xfrm>
            <a:off x="6123416" y="4224528"/>
            <a:ext cx="1038145" cy="365760"/>
          </a:xfrm>
          <a:prstGeom prst="roundRect">
            <a:avLst>
              <a:gd name="adj" fmla="val 50000"/>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3416"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#808080</a:t>
            </a:r>
          </a:p>
        </p:txBody>
      </p:sp>
      <p:sp>
        <p:nvSpPr>
          <p:cNvPr id="51" name="Rounded Rectangle 50"/>
          <p:cNvSpPr/>
          <p:nvPr/>
        </p:nvSpPr>
        <p:spPr>
          <a:xfrm>
            <a:off x="7216426" y="4224528"/>
            <a:ext cx="1038145" cy="365760"/>
          </a:xfrm>
          <a:prstGeom prst="roundRect">
            <a:avLst>
              <a:gd name="adj" fmla="val 50000"/>
            </a:avLst>
          </a:prstGeom>
          <a:solidFill>
            <a:srgbClr val="6666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216426"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#666666</a:t>
            </a:r>
          </a:p>
        </p:txBody>
      </p:sp>
      <p:sp>
        <p:nvSpPr>
          <p:cNvPr id="53" name="Rounded Rectangle 52"/>
          <p:cNvSpPr/>
          <p:nvPr/>
        </p:nvSpPr>
        <p:spPr>
          <a:xfrm>
            <a:off x="8309436" y="4224528"/>
            <a:ext cx="1038145" cy="365760"/>
          </a:xfrm>
          <a:prstGeom prst="roundRect">
            <a:avLst>
              <a:gd name="adj" fmla="val 50000"/>
            </a:avLst>
          </a:prstGeom>
          <a:solidFill>
            <a:srgbClr val="4C4C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309436"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#4C4C4C</a:t>
            </a:r>
          </a:p>
        </p:txBody>
      </p:sp>
      <p:sp>
        <p:nvSpPr>
          <p:cNvPr id="55" name="Rounded Rectangle 54"/>
          <p:cNvSpPr/>
          <p:nvPr/>
        </p:nvSpPr>
        <p:spPr>
          <a:xfrm>
            <a:off x="9402446" y="4224528"/>
            <a:ext cx="1038145" cy="365760"/>
          </a:xfrm>
          <a:prstGeom prst="roundRect">
            <a:avLst>
              <a:gd name="adj" fmla="val 50000"/>
            </a:avLst>
          </a:prstGeom>
          <a:solidFill>
            <a:srgbClr val="3333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02446"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#333333</a:t>
            </a:r>
          </a:p>
        </p:txBody>
      </p:sp>
      <p:sp>
        <p:nvSpPr>
          <p:cNvPr id="57" name="Rounded Rectangle 56"/>
          <p:cNvSpPr/>
          <p:nvPr/>
        </p:nvSpPr>
        <p:spPr>
          <a:xfrm>
            <a:off x="10495455" y="4224528"/>
            <a:ext cx="1038145" cy="365760"/>
          </a:xfrm>
          <a:prstGeom prst="roundRect">
            <a:avLst>
              <a:gd name="adj" fmla="val 50000"/>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0495455" y="4626864"/>
            <a:ext cx="1038145" cy="164592"/>
          </a:xfrm>
          <a:prstGeom prst="rect">
            <a:avLst/>
          </a:prstGeom>
          <a:noFill/>
        </p:spPr>
        <p:txBody>
          <a:bodyPr wrap="square" lIns="0" rIns="0" tIns="0" bIns="0" anchor="t">
            <a:spAutoFit/>
          </a:bodyPr>
          <a:lstStyle/>
          <a:p>
            <a:pPr algn="ctr">
              <a:lnSpc>
                <a:spcPct val="128000"/>
              </a:lnSpc>
            </a:pPr>
            <a:r>
              <a:rPr sz="620" b="0" i="0">
                <a:solidFill>
                  <a:srgbClr val="808080"/>
                </a:solidFill>
                <a:latin typeface="Satoshi"/>
              </a:rPr>
              <a:t>#1A1A1A</a:t>
            </a:r>
          </a:p>
        </p:txBody>
      </p:sp>
      <p:sp>
        <p:nvSpPr>
          <p:cNvPr id="59" name="Rounded Rectangle 58"/>
          <p:cNvSpPr/>
          <p:nvPr/>
        </p:nvSpPr>
        <p:spPr>
          <a:xfrm>
            <a:off x="658368" y="4901184"/>
            <a:ext cx="3503157" cy="1353312"/>
          </a:xfrm>
          <a:prstGeom prst="roundRect">
            <a:avLst>
              <a:gd name="adj" fmla="val 18768"/>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58368" y="4901184"/>
            <a:ext cx="50292" cy="135331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86968" y="505663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Weighting</a:t>
            </a:r>
          </a:p>
        </p:txBody>
      </p:sp>
      <p:sp>
        <p:nvSpPr>
          <p:cNvPr id="62" name="TextBox 61"/>
          <p:cNvSpPr txBox="1"/>
          <p:nvPr/>
        </p:nvSpPr>
        <p:spPr>
          <a:xfrm>
            <a:off x="886968" y="5275326"/>
            <a:ext cx="3100821" cy="805433"/>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White dominates content zones. Navy #050F40 carries 60 to 70% of the weight on hero, proof, CTA and footer. Electric blue stays a single sharp accent and never becomes a large fill.</a:t>
            </a:r>
          </a:p>
        </p:txBody>
      </p:sp>
      <p:sp>
        <p:nvSpPr>
          <p:cNvPr id="63" name="Rounded Rectangle 62"/>
          <p:cNvSpPr/>
          <p:nvPr/>
        </p:nvSpPr>
        <p:spPr>
          <a:xfrm>
            <a:off x="4344405" y="4901184"/>
            <a:ext cx="3503157" cy="1353312"/>
          </a:xfrm>
          <a:prstGeom prst="roundRect">
            <a:avLst>
              <a:gd name="adj" fmla="val 18768"/>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344405" y="4901184"/>
            <a:ext cx="50292" cy="135331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3005" y="505663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Navy glow gradient</a:t>
            </a:r>
          </a:p>
        </p:txBody>
      </p:sp>
      <p:sp>
        <p:nvSpPr>
          <p:cNvPr id="66" name="TextBox 65"/>
          <p:cNvSpPr txBox="1"/>
          <p:nvPr/>
        </p:nvSpPr>
        <p:spPr>
          <a:xfrm>
            <a:off x="4573005" y="5275326"/>
            <a:ext cx="3100821" cy="805433"/>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Radial glow for hero, CTA and footer: brighter blue upper-centre falling to deep navy at the edges. Stops #4F6DFF or #0B2299 core, then #08186B, then #050F40. Add subtle grain or a faint measurement-grid texture.</a:t>
            </a:r>
          </a:p>
        </p:txBody>
      </p:sp>
      <p:sp>
        <p:nvSpPr>
          <p:cNvPr id="67" name="Rounded Rectangle 66"/>
          <p:cNvSpPr/>
          <p:nvPr/>
        </p:nvSpPr>
        <p:spPr>
          <a:xfrm>
            <a:off x="8030443" y="4901184"/>
            <a:ext cx="3503157" cy="1353312"/>
          </a:xfrm>
          <a:prstGeom prst="roundRect">
            <a:avLst>
              <a:gd name="adj" fmla="val 18768"/>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8030443" y="4901184"/>
            <a:ext cx="50292" cy="1353312"/>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259043" y="505663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On #2962FF</a:t>
            </a:r>
          </a:p>
        </p:txBody>
      </p:sp>
      <p:sp>
        <p:nvSpPr>
          <p:cNvPr id="70" name="TextBox 69"/>
          <p:cNvSpPr txBox="1"/>
          <p:nvPr/>
        </p:nvSpPr>
        <p:spPr>
          <a:xfrm>
            <a:off x="8259043" y="5275326"/>
            <a:ext cx="3100821" cy="805433"/>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Superseded. It was a placeholder before the Figma export arrived, and both CLAUDE.md and DESIGN.md retire it along with Inter. The canonical accent is #143DFF and the canonical typeface is Satoshi. Status colours are not brand tokens: if a status UI is needed, choose an accessible green or amber and flag it.</a:t>
            </a:r>
          </a:p>
        </p:txBody>
      </p:sp>
      <p:sp>
        <p:nvSpPr>
          <p:cNvPr id="71" name="TextBox 7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72" name="TextBox 7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17 / 61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03 · DESIGN SYSTEM</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Typography, spacing, radius, buttons</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Satoshi for headings and body. Weights 400, 500, 600, 700, and 900 for display accents.</a:t>
            </a:r>
          </a:p>
        </p:txBody>
      </p:sp>
      <p:sp>
        <p:nvSpPr>
          <p:cNvPr id="5" name="TextBox 4"/>
          <p:cNvSpPr txBox="1"/>
          <p:nvPr/>
        </p:nvSpPr>
        <p:spPr>
          <a:xfrm>
            <a:off x="658368" y="1828800"/>
            <a:ext cx="5220112" cy="201168"/>
          </a:xfrm>
          <a:prstGeom prst="rect">
            <a:avLst/>
          </a:prstGeom>
          <a:noFill/>
        </p:spPr>
        <p:txBody>
          <a:bodyPr wrap="square" lIns="0" rIns="0" tIns="0" bIns="0" anchor="t">
            <a:spAutoFit/>
          </a:bodyPr>
          <a:lstStyle/>
          <a:p>
            <a:pPr algn="l">
              <a:lnSpc>
                <a:spcPct val="128000"/>
              </a:lnSpc>
            </a:pPr>
            <a:r>
              <a:rPr sz="800" b="1" i="0">
                <a:solidFill>
                  <a:srgbClr val="143DFF"/>
                </a:solidFill>
                <a:latin typeface="Satoshi"/>
              </a:rPr>
              <a:t>TYPE SCALE</a:t>
            </a:r>
          </a:p>
        </p:txBody>
      </p:sp>
      <p:sp>
        <p:nvSpPr>
          <p:cNvPr id="6" name="Rectangle 5"/>
          <p:cNvSpPr/>
          <p:nvPr/>
        </p:nvSpPr>
        <p:spPr>
          <a:xfrm>
            <a:off x="658368" y="2084832"/>
            <a:ext cx="5220112" cy="237744"/>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2125980"/>
            <a:ext cx="1602877" cy="182880"/>
          </a:xfrm>
          <a:prstGeom prst="rect">
            <a:avLst/>
          </a:prstGeom>
          <a:noFill/>
        </p:spPr>
        <p:txBody>
          <a:bodyPr wrap="square" lIns="0" rIns="0" tIns="0" bIns="0" anchor="t">
            <a:spAutoFit/>
          </a:bodyPr>
          <a:lstStyle/>
          <a:p>
            <a:pPr algn="l">
              <a:lnSpc>
                <a:spcPct val="128000"/>
              </a:lnSpc>
            </a:pPr>
            <a:r>
              <a:rPr sz="800" b="1" i="0">
                <a:solidFill>
                  <a:srgbClr val="FFFFFF"/>
                </a:solidFill>
                <a:latin typeface="Satoshi"/>
              </a:rPr>
              <a:t>Style</a:t>
            </a:r>
          </a:p>
        </p:txBody>
      </p:sp>
      <p:sp>
        <p:nvSpPr>
          <p:cNvPr id="8" name="TextBox 7"/>
          <p:cNvSpPr txBox="1"/>
          <p:nvPr/>
        </p:nvSpPr>
        <p:spPr>
          <a:xfrm>
            <a:off x="2489845" y="2125980"/>
            <a:ext cx="1602877" cy="182880"/>
          </a:xfrm>
          <a:prstGeom prst="rect">
            <a:avLst/>
          </a:prstGeom>
          <a:noFill/>
        </p:spPr>
        <p:txBody>
          <a:bodyPr wrap="square" lIns="0" rIns="0" tIns="0" bIns="0" anchor="t">
            <a:spAutoFit/>
          </a:bodyPr>
          <a:lstStyle/>
          <a:p>
            <a:pPr algn="l">
              <a:lnSpc>
                <a:spcPct val="128000"/>
              </a:lnSpc>
            </a:pPr>
            <a:r>
              <a:rPr sz="800" b="1" i="0">
                <a:solidFill>
                  <a:srgbClr val="FFFFFF"/>
                </a:solidFill>
                <a:latin typeface="Satoshi"/>
              </a:rPr>
              <a:t>Size</a:t>
            </a:r>
          </a:p>
        </p:txBody>
      </p:sp>
      <p:sp>
        <p:nvSpPr>
          <p:cNvPr id="9" name="TextBox 8"/>
          <p:cNvSpPr txBox="1"/>
          <p:nvPr/>
        </p:nvSpPr>
        <p:spPr>
          <a:xfrm>
            <a:off x="4229882" y="2125980"/>
            <a:ext cx="1602877" cy="182880"/>
          </a:xfrm>
          <a:prstGeom prst="rect">
            <a:avLst/>
          </a:prstGeom>
          <a:noFill/>
        </p:spPr>
        <p:txBody>
          <a:bodyPr wrap="square" lIns="0" rIns="0" tIns="0" bIns="0" anchor="t">
            <a:spAutoFit/>
          </a:bodyPr>
          <a:lstStyle/>
          <a:p>
            <a:pPr algn="l">
              <a:lnSpc>
                <a:spcPct val="128000"/>
              </a:lnSpc>
            </a:pPr>
            <a:r>
              <a:rPr sz="800" b="1" i="0">
                <a:solidFill>
                  <a:srgbClr val="FFFFFF"/>
                </a:solidFill>
                <a:latin typeface="Satoshi"/>
              </a:rPr>
              <a:t>Weight</a:t>
            </a:r>
          </a:p>
        </p:txBody>
      </p:sp>
      <p:sp>
        <p:nvSpPr>
          <p:cNvPr id="10" name="Rectangle 9"/>
          <p:cNvSpPr/>
          <p:nvPr/>
        </p:nvSpPr>
        <p:spPr>
          <a:xfrm>
            <a:off x="658368" y="2322576"/>
            <a:ext cx="5220112" cy="23317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322576"/>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2363724"/>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Display</a:t>
            </a:r>
          </a:p>
        </p:txBody>
      </p:sp>
      <p:sp>
        <p:nvSpPr>
          <p:cNvPr id="13" name="TextBox 12"/>
          <p:cNvSpPr txBox="1"/>
          <p:nvPr/>
        </p:nvSpPr>
        <p:spPr>
          <a:xfrm>
            <a:off x="2489845" y="2363724"/>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80px</a:t>
            </a:r>
          </a:p>
        </p:txBody>
      </p:sp>
      <p:sp>
        <p:nvSpPr>
          <p:cNvPr id="14" name="TextBox 13"/>
          <p:cNvSpPr txBox="1"/>
          <p:nvPr/>
        </p:nvSpPr>
        <p:spPr>
          <a:xfrm>
            <a:off x="4229882" y="2363724"/>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700</a:t>
            </a:r>
          </a:p>
        </p:txBody>
      </p:sp>
      <p:sp>
        <p:nvSpPr>
          <p:cNvPr id="15" name="Rectangle 14"/>
          <p:cNvSpPr/>
          <p:nvPr/>
        </p:nvSpPr>
        <p:spPr>
          <a:xfrm>
            <a:off x="658368" y="2555748"/>
            <a:ext cx="5220112" cy="2331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2555748"/>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2596896"/>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H1</a:t>
            </a:r>
          </a:p>
        </p:txBody>
      </p:sp>
      <p:sp>
        <p:nvSpPr>
          <p:cNvPr id="18" name="TextBox 17"/>
          <p:cNvSpPr txBox="1"/>
          <p:nvPr/>
        </p:nvSpPr>
        <p:spPr>
          <a:xfrm>
            <a:off x="2489845" y="2596896"/>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65px</a:t>
            </a:r>
          </a:p>
        </p:txBody>
      </p:sp>
      <p:sp>
        <p:nvSpPr>
          <p:cNvPr id="19" name="TextBox 18"/>
          <p:cNvSpPr txBox="1"/>
          <p:nvPr/>
        </p:nvSpPr>
        <p:spPr>
          <a:xfrm>
            <a:off x="4229882" y="2596896"/>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700</a:t>
            </a:r>
          </a:p>
        </p:txBody>
      </p:sp>
      <p:sp>
        <p:nvSpPr>
          <p:cNvPr id="20" name="Rectangle 19"/>
          <p:cNvSpPr/>
          <p:nvPr/>
        </p:nvSpPr>
        <p:spPr>
          <a:xfrm>
            <a:off x="658368" y="2788920"/>
            <a:ext cx="5220112" cy="23317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2788920"/>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2830068"/>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H2</a:t>
            </a:r>
          </a:p>
        </p:txBody>
      </p:sp>
      <p:sp>
        <p:nvSpPr>
          <p:cNvPr id="23" name="TextBox 22"/>
          <p:cNvSpPr txBox="1"/>
          <p:nvPr/>
        </p:nvSpPr>
        <p:spPr>
          <a:xfrm>
            <a:off x="2489845" y="2830068"/>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50px</a:t>
            </a:r>
          </a:p>
        </p:txBody>
      </p:sp>
      <p:sp>
        <p:nvSpPr>
          <p:cNvPr id="24" name="TextBox 23"/>
          <p:cNvSpPr txBox="1"/>
          <p:nvPr/>
        </p:nvSpPr>
        <p:spPr>
          <a:xfrm>
            <a:off x="4229882" y="2830068"/>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700</a:t>
            </a:r>
          </a:p>
        </p:txBody>
      </p:sp>
      <p:sp>
        <p:nvSpPr>
          <p:cNvPr id="25" name="Rectangle 24"/>
          <p:cNvSpPr/>
          <p:nvPr/>
        </p:nvSpPr>
        <p:spPr>
          <a:xfrm>
            <a:off x="658368" y="3022092"/>
            <a:ext cx="5220112" cy="2331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3022092"/>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3063240"/>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H3</a:t>
            </a:r>
          </a:p>
        </p:txBody>
      </p:sp>
      <p:sp>
        <p:nvSpPr>
          <p:cNvPr id="28" name="TextBox 27"/>
          <p:cNvSpPr txBox="1"/>
          <p:nvPr/>
        </p:nvSpPr>
        <p:spPr>
          <a:xfrm>
            <a:off x="2489845" y="3063240"/>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40px</a:t>
            </a:r>
          </a:p>
        </p:txBody>
      </p:sp>
      <p:sp>
        <p:nvSpPr>
          <p:cNvPr id="29" name="TextBox 28"/>
          <p:cNvSpPr txBox="1"/>
          <p:nvPr/>
        </p:nvSpPr>
        <p:spPr>
          <a:xfrm>
            <a:off x="4229882" y="3063240"/>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600</a:t>
            </a:r>
          </a:p>
        </p:txBody>
      </p:sp>
      <p:sp>
        <p:nvSpPr>
          <p:cNvPr id="30" name="Rectangle 29"/>
          <p:cNvSpPr/>
          <p:nvPr/>
        </p:nvSpPr>
        <p:spPr>
          <a:xfrm>
            <a:off x="658368" y="3255264"/>
            <a:ext cx="5220112" cy="23317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3255264"/>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3296412"/>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H4</a:t>
            </a:r>
          </a:p>
        </p:txBody>
      </p:sp>
      <p:sp>
        <p:nvSpPr>
          <p:cNvPr id="33" name="TextBox 32"/>
          <p:cNvSpPr txBox="1"/>
          <p:nvPr/>
        </p:nvSpPr>
        <p:spPr>
          <a:xfrm>
            <a:off x="2489845" y="3296412"/>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35px</a:t>
            </a:r>
          </a:p>
        </p:txBody>
      </p:sp>
      <p:sp>
        <p:nvSpPr>
          <p:cNvPr id="34" name="TextBox 33"/>
          <p:cNvSpPr txBox="1"/>
          <p:nvPr/>
        </p:nvSpPr>
        <p:spPr>
          <a:xfrm>
            <a:off x="4229882" y="3296412"/>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600</a:t>
            </a:r>
          </a:p>
        </p:txBody>
      </p:sp>
      <p:sp>
        <p:nvSpPr>
          <p:cNvPr id="35" name="Rectangle 34"/>
          <p:cNvSpPr/>
          <p:nvPr/>
        </p:nvSpPr>
        <p:spPr>
          <a:xfrm>
            <a:off x="658368" y="3488436"/>
            <a:ext cx="5220112" cy="2331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8368" y="3488436"/>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49808" y="3529584"/>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H5</a:t>
            </a:r>
          </a:p>
        </p:txBody>
      </p:sp>
      <p:sp>
        <p:nvSpPr>
          <p:cNvPr id="38" name="TextBox 37"/>
          <p:cNvSpPr txBox="1"/>
          <p:nvPr/>
        </p:nvSpPr>
        <p:spPr>
          <a:xfrm>
            <a:off x="2489845" y="3529584"/>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27px</a:t>
            </a:r>
          </a:p>
        </p:txBody>
      </p:sp>
      <p:sp>
        <p:nvSpPr>
          <p:cNvPr id="39" name="TextBox 38"/>
          <p:cNvSpPr txBox="1"/>
          <p:nvPr/>
        </p:nvSpPr>
        <p:spPr>
          <a:xfrm>
            <a:off x="4229882" y="3529584"/>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500</a:t>
            </a:r>
          </a:p>
        </p:txBody>
      </p:sp>
      <p:sp>
        <p:nvSpPr>
          <p:cNvPr id="40" name="Rectangle 39"/>
          <p:cNvSpPr/>
          <p:nvPr/>
        </p:nvSpPr>
        <p:spPr>
          <a:xfrm>
            <a:off x="658368" y="3721608"/>
            <a:ext cx="5220112" cy="23317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3721608"/>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8" y="3762756"/>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Body lg</a:t>
            </a:r>
          </a:p>
        </p:txBody>
      </p:sp>
      <p:sp>
        <p:nvSpPr>
          <p:cNvPr id="43" name="TextBox 42"/>
          <p:cNvSpPr txBox="1"/>
          <p:nvPr/>
        </p:nvSpPr>
        <p:spPr>
          <a:xfrm>
            <a:off x="2489845" y="3762756"/>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20px</a:t>
            </a:r>
          </a:p>
        </p:txBody>
      </p:sp>
      <p:sp>
        <p:nvSpPr>
          <p:cNvPr id="44" name="TextBox 43"/>
          <p:cNvSpPr txBox="1"/>
          <p:nvPr/>
        </p:nvSpPr>
        <p:spPr>
          <a:xfrm>
            <a:off x="4229882" y="3762756"/>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400</a:t>
            </a:r>
          </a:p>
        </p:txBody>
      </p:sp>
      <p:sp>
        <p:nvSpPr>
          <p:cNvPr id="45" name="Rectangle 44"/>
          <p:cNvSpPr/>
          <p:nvPr/>
        </p:nvSpPr>
        <p:spPr>
          <a:xfrm>
            <a:off x="658368" y="3954780"/>
            <a:ext cx="5220112" cy="2331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58368" y="3954780"/>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49808" y="3995928"/>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Body</a:t>
            </a:r>
          </a:p>
        </p:txBody>
      </p:sp>
      <p:sp>
        <p:nvSpPr>
          <p:cNvPr id="48" name="TextBox 47"/>
          <p:cNvSpPr txBox="1"/>
          <p:nvPr/>
        </p:nvSpPr>
        <p:spPr>
          <a:xfrm>
            <a:off x="2489845" y="3995928"/>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17px</a:t>
            </a:r>
          </a:p>
        </p:txBody>
      </p:sp>
      <p:sp>
        <p:nvSpPr>
          <p:cNvPr id="49" name="TextBox 48"/>
          <p:cNvSpPr txBox="1"/>
          <p:nvPr/>
        </p:nvSpPr>
        <p:spPr>
          <a:xfrm>
            <a:off x="4229882" y="3995928"/>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400</a:t>
            </a:r>
          </a:p>
        </p:txBody>
      </p:sp>
      <p:sp>
        <p:nvSpPr>
          <p:cNvPr id="50" name="Rectangle 49"/>
          <p:cNvSpPr/>
          <p:nvPr/>
        </p:nvSpPr>
        <p:spPr>
          <a:xfrm>
            <a:off x="658368" y="4187952"/>
            <a:ext cx="5220112" cy="23317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58368" y="4187952"/>
            <a:ext cx="5220112" cy="6400"/>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49808" y="4229100"/>
            <a:ext cx="1602877" cy="182880"/>
          </a:xfrm>
          <a:prstGeom prst="rect">
            <a:avLst/>
          </a:prstGeom>
          <a:noFill/>
        </p:spPr>
        <p:txBody>
          <a:bodyPr wrap="square" lIns="0" rIns="0" tIns="0" bIns="0" anchor="t">
            <a:spAutoFit/>
          </a:bodyPr>
          <a:lstStyle/>
          <a:p>
            <a:pPr algn="l">
              <a:lnSpc>
                <a:spcPct val="128000"/>
              </a:lnSpc>
            </a:pPr>
            <a:r>
              <a:rPr sz="819" b="1" i="0">
                <a:solidFill>
                  <a:srgbClr val="050F40"/>
                </a:solidFill>
                <a:latin typeface="Satoshi"/>
              </a:rPr>
              <a:t>Body sm</a:t>
            </a:r>
          </a:p>
        </p:txBody>
      </p:sp>
      <p:sp>
        <p:nvSpPr>
          <p:cNvPr id="53" name="TextBox 52"/>
          <p:cNvSpPr txBox="1"/>
          <p:nvPr/>
        </p:nvSpPr>
        <p:spPr>
          <a:xfrm>
            <a:off x="2489845" y="4229100"/>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12px</a:t>
            </a:r>
          </a:p>
        </p:txBody>
      </p:sp>
      <p:sp>
        <p:nvSpPr>
          <p:cNvPr id="54" name="TextBox 53"/>
          <p:cNvSpPr txBox="1"/>
          <p:nvPr/>
        </p:nvSpPr>
        <p:spPr>
          <a:xfrm>
            <a:off x="4229882" y="4229100"/>
            <a:ext cx="1602877" cy="182880"/>
          </a:xfrm>
          <a:prstGeom prst="rect">
            <a:avLst/>
          </a:prstGeom>
          <a:noFill/>
        </p:spPr>
        <p:txBody>
          <a:bodyPr wrap="square" lIns="0" rIns="0" tIns="0" bIns="0" anchor="t">
            <a:spAutoFit/>
          </a:bodyPr>
          <a:lstStyle/>
          <a:p>
            <a:pPr algn="l">
              <a:lnSpc>
                <a:spcPct val="128000"/>
              </a:lnSpc>
            </a:pPr>
            <a:r>
              <a:rPr sz="819" b="0" i="0">
                <a:solidFill>
                  <a:srgbClr val="4C4C4C"/>
                </a:solidFill>
                <a:latin typeface="Satoshi"/>
              </a:rPr>
              <a:t>400</a:t>
            </a:r>
          </a:p>
        </p:txBody>
      </p:sp>
      <p:sp>
        <p:nvSpPr>
          <p:cNvPr id="55" name="TextBox 54"/>
          <p:cNvSpPr txBox="1"/>
          <p:nvPr/>
        </p:nvSpPr>
        <p:spPr>
          <a:xfrm>
            <a:off x="658368" y="4512564"/>
            <a:ext cx="5220112" cy="384048"/>
          </a:xfrm>
          <a:prstGeom prst="rect">
            <a:avLst/>
          </a:prstGeom>
          <a:noFill/>
        </p:spPr>
        <p:txBody>
          <a:bodyPr wrap="square" lIns="0" rIns="0" tIns="0" bIns="0" anchor="t">
            <a:spAutoFit/>
          </a:bodyPr>
          <a:lstStyle/>
          <a:p>
            <a:pPr algn="l">
              <a:lnSpc>
                <a:spcPct val="130000"/>
              </a:lnSpc>
            </a:pPr>
            <a:r>
              <a:rPr sz="819" b="0" i="0">
                <a:solidFill>
                  <a:srgbClr val="666666"/>
                </a:solidFill>
                <a:latin typeface="Satoshi"/>
              </a:rPr>
              <a:t>Headings: line-height about 1.08, letter-spacing -0.02em. Body line-height 1.5. Hero and proof numerals are oversized, 72 to 120pt in print. Bricolage Grotesque and IBM Plex Sans are not brand fonts.</a:t>
            </a:r>
          </a:p>
        </p:txBody>
      </p:sp>
      <p:sp>
        <p:nvSpPr>
          <p:cNvPr id="56" name="Rounded Rectangle 55"/>
          <p:cNvSpPr/>
          <p:nvPr/>
        </p:nvSpPr>
        <p:spPr>
          <a:xfrm>
            <a:off x="6152800" y="2084832"/>
            <a:ext cx="5380801" cy="859536"/>
          </a:xfrm>
          <a:prstGeom prst="roundRect">
            <a:avLst>
              <a:gd name="adj" fmla="val 295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152800" y="2084832"/>
            <a:ext cx="50292" cy="8595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381400" y="2221992"/>
            <a:ext cx="4969321" cy="201168"/>
          </a:xfrm>
          <a:prstGeom prst="rect">
            <a:avLst/>
          </a:prstGeom>
          <a:noFill/>
        </p:spPr>
        <p:txBody>
          <a:bodyPr wrap="square" lIns="0" rIns="0" tIns="0" bIns="0" anchor="t">
            <a:spAutoFit/>
          </a:bodyPr>
          <a:lstStyle/>
          <a:p>
            <a:pPr algn="l">
              <a:lnSpc>
                <a:spcPct val="128000"/>
              </a:lnSpc>
            </a:pPr>
            <a:r>
              <a:rPr sz="1019" b="1" i="0">
                <a:solidFill>
                  <a:srgbClr val="050F40"/>
                </a:solidFill>
                <a:latin typeface="Satoshi"/>
              </a:rPr>
              <a:t>The eyebrow technique, a signature</a:t>
            </a:r>
          </a:p>
        </p:txBody>
      </p:sp>
      <p:sp>
        <p:nvSpPr>
          <p:cNvPr id="59" name="TextBox 58"/>
          <p:cNvSpPr txBox="1"/>
          <p:nvPr/>
        </p:nvSpPr>
        <p:spPr>
          <a:xfrm>
            <a:off x="6381400" y="2468880"/>
            <a:ext cx="4969321" cy="347471"/>
          </a:xfrm>
          <a:prstGeom prst="rect">
            <a:avLst/>
          </a:prstGeom>
          <a:noFill/>
        </p:spPr>
        <p:txBody>
          <a:bodyPr wrap="square" lIns="0" rIns="0" tIns="0" bIns="0" anchor="t">
            <a:spAutoFit/>
          </a:bodyPr>
          <a:lstStyle/>
          <a:p>
            <a:pPr algn="l">
              <a:lnSpc>
                <a:spcPct val="126000"/>
              </a:lnSpc>
            </a:pPr>
            <a:r>
              <a:rPr sz="819" b="0" i="0">
                <a:solidFill>
                  <a:srgbClr val="4C4C4C"/>
                </a:solidFill>
                <a:latin typeface="Satoshi"/>
              </a:rPr>
              <a:t>A small uppercase label above a section heading. 13px, weight 700, letter-spacing 0.14em, colour #143DFF, margin-bottom 18px. Use it on every major section and every content slide.</a:t>
            </a:r>
          </a:p>
        </p:txBody>
      </p:sp>
      <p:sp>
        <p:nvSpPr>
          <p:cNvPr id="60" name="Rounded Rectangle 59"/>
          <p:cNvSpPr/>
          <p:nvPr/>
        </p:nvSpPr>
        <p:spPr>
          <a:xfrm>
            <a:off x="6152800" y="3072384"/>
            <a:ext cx="5380801" cy="859536"/>
          </a:xfrm>
          <a:prstGeom prst="roundRect">
            <a:avLst>
              <a:gd name="adj" fmla="val 295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152800" y="3072384"/>
            <a:ext cx="50292" cy="8595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81400" y="3209544"/>
            <a:ext cx="4969321" cy="201168"/>
          </a:xfrm>
          <a:prstGeom prst="rect">
            <a:avLst/>
          </a:prstGeom>
          <a:noFill/>
        </p:spPr>
        <p:txBody>
          <a:bodyPr wrap="square" lIns="0" rIns="0" tIns="0" bIns="0" anchor="t">
            <a:spAutoFit/>
          </a:bodyPr>
          <a:lstStyle/>
          <a:p>
            <a:pPr algn="l">
              <a:lnSpc>
                <a:spcPct val="128000"/>
              </a:lnSpc>
            </a:pPr>
            <a:r>
              <a:rPr sz="1019" b="1" i="0">
                <a:solidFill>
                  <a:srgbClr val="050F40"/>
                </a:solidFill>
                <a:latin typeface="Satoshi"/>
              </a:rPr>
              <a:t>Spacing scale, these steps only</a:t>
            </a:r>
          </a:p>
        </p:txBody>
      </p:sp>
      <p:sp>
        <p:nvSpPr>
          <p:cNvPr id="63" name="TextBox 62"/>
          <p:cNvSpPr txBox="1"/>
          <p:nvPr/>
        </p:nvSpPr>
        <p:spPr>
          <a:xfrm>
            <a:off x="6381400" y="3456432"/>
            <a:ext cx="4969321" cy="347471"/>
          </a:xfrm>
          <a:prstGeom prst="rect">
            <a:avLst/>
          </a:prstGeom>
          <a:noFill/>
        </p:spPr>
        <p:txBody>
          <a:bodyPr wrap="square" lIns="0" rIns="0" tIns="0" bIns="0" anchor="t">
            <a:spAutoFit/>
          </a:bodyPr>
          <a:lstStyle/>
          <a:p>
            <a:pPr algn="l">
              <a:lnSpc>
                <a:spcPct val="126000"/>
              </a:lnSpc>
            </a:pPr>
            <a:r>
              <a:rPr sz="819" b="0" i="0">
                <a:solidFill>
                  <a:srgbClr val="4C4C4C"/>
                </a:solidFill>
                <a:latin typeface="Satoshi"/>
              </a:rPr>
              <a:t>2 · 4 · 8 · 12 · 16 · 20 · 24 · 32 · 40 · 48 · 60 · 80 · 96 · 120 px. Component rhythm favours 8, 12, 16, 24. Section padding favours 60, 80, 96, 120. Container max-width 1200px.</a:t>
            </a:r>
          </a:p>
        </p:txBody>
      </p:sp>
      <p:sp>
        <p:nvSpPr>
          <p:cNvPr id="64" name="Rounded Rectangle 63"/>
          <p:cNvSpPr/>
          <p:nvPr/>
        </p:nvSpPr>
        <p:spPr>
          <a:xfrm>
            <a:off x="6152800" y="4059936"/>
            <a:ext cx="5380801" cy="859536"/>
          </a:xfrm>
          <a:prstGeom prst="roundRect">
            <a:avLst>
              <a:gd name="adj" fmla="val 295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152800" y="4059936"/>
            <a:ext cx="50292" cy="8595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381400" y="4197096"/>
            <a:ext cx="4969321" cy="201168"/>
          </a:xfrm>
          <a:prstGeom prst="rect">
            <a:avLst/>
          </a:prstGeom>
          <a:noFill/>
        </p:spPr>
        <p:txBody>
          <a:bodyPr wrap="square" lIns="0" rIns="0" tIns="0" bIns="0" anchor="t">
            <a:spAutoFit/>
          </a:bodyPr>
          <a:lstStyle/>
          <a:p>
            <a:pPr algn="l">
              <a:lnSpc>
                <a:spcPct val="128000"/>
              </a:lnSpc>
            </a:pPr>
            <a:r>
              <a:rPr sz="1019" b="1" i="0">
                <a:solidFill>
                  <a:srgbClr val="050F40"/>
                </a:solidFill>
                <a:latin typeface="Satoshi"/>
              </a:rPr>
              <a:t>Border radius</a:t>
            </a:r>
          </a:p>
        </p:txBody>
      </p:sp>
      <p:sp>
        <p:nvSpPr>
          <p:cNvPr id="67" name="TextBox 66"/>
          <p:cNvSpPr txBox="1"/>
          <p:nvPr/>
        </p:nvSpPr>
        <p:spPr>
          <a:xfrm>
            <a:off x="6381400" y="4443984"/>
            <a:ext cx="4969321" cy="347471"/>
          </a:xfrm>
          <a:prstGeom prst="rect">
            <a:avLst/>
          </a:prstGeom>
          <a:noFill/>
        </p:spPr>
        <p:txBody>
          <a:bodyPr wrap="square" lIns="0" rIns="0" tIns="0" bIns="0" anchor="t">
            <a:spAutoFit/>
          </a:bodyPr>
          <a:lstStyle/>
          <a:p>
            <a:pPr algn="l">
              <a:lnSpc>
                <a:spcPct val="126000"/>
              </a:lnSpc>
            </a:pPr>
            <a:r>
              <a:rPr sz="819" b="0" i="0">
                <a:solidFill>
                  <a:srgbClr val="4C4C4C"/>
                </a:solidFill>
                <a:latin typeface="Satoshi"/>
              </a:rPr>
              <a:t>0 · 4 · 5 · 15 · 20 · 30 · 40 · 9999 px. Buttons and inputs 4 to 5. Chips and small cards 15. Cards and panels 20. Large surfaces and the footer band 30 to 40. Pills and avatars 9999.</a:t>
            </a:r>
          </a:p>
        </p:txBody>
      </p:sp>
      <p:sp>
        <p:nvSpPr>
          <p:cNvPr id="68" name="Rounded Rectangle 67"/>
          <p:cNvSpPr/>
          <p:nvPr/>
        </p:nvSpPr>
        <p:spPr>
          <a:xfrm>
            <a:off x="6152800" y="5047488"/>
            <a:ext cx="5380801" cy="859536"/>
          </a:xfrm>
          <a:prstGeom prst="roundRect">
            <a:avLst>
              <a:gd name="adj" fmla="val 295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152800" y="5047488"/>
            <a:ext cx="50292" cy="8595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381400" y="5184648"/>
            <a:ext cx="4969321" cy="201168"/>
          </a:xfrm>
          <a:prstGeom prst="rect">
            <a:avLst/>
          </a:prstGeom>
          <a:noFill/>
        </p:spPr>
        <p:txBody>
          <a:bodyPr wrap="square" lIns="0" rIns="0" tIns="0" bIns="0" anchor="t">
            <a:spAutoFit/>
          </a:bodyPr>
          <a:lstStyle/>
          <a:p>
            <a:pPr algn="l">
              <a:lnSpc>
                <a:spcPct val="128000"/>
              </a:lnSpc>
            </a:pPr>
            <a:r>
              <a:rPr sz="1019" b="1" i="0">
                <a:solidFill>
                  <a:srgbClr val="050F40"/>
                </a:solidFill>
                <a:latin typeface="Satoshi"/>
              </a:rPr>
              <a:t>Buttons</a:t>
            </a:r>
          </a:p>
        </p:txBody>
      </p:sp>
      <p:sp>
        <p:nvSpPr>
          <p:cNvPr id="71" name="TextBox 70"/>
          <p:cNvSpPr txBox="1"/>
          <p:nvPr/>
        </p:nvSpPr>
        <p:spPr>
          <a:xfrm>
            <a:off x="6381400" y="5431536"/>
            <a:ext cx="4969321" cy="347471"/>
          </a:xfrm>
          <a:prstGeom prst="rect">
            <a:avLst/>
          </a:prstGeom>
          <a:noFill/>
        </p:spPr>
        <p:txBody>
          <a:bodyPr wrap="square" lIns="0" rIns="0" tIns="0" bIns="0" anchor="t">
            <a:spAutoFit/>
          </a:bodyPr>
          <a:lstStyle/>
          <a:p>
            <a:pPr algn="l">
              <a:lnSpc>
                <a:spcPct val="126000"/>
              </a:lnSpc>
            </a:pPr>
            <a:r>
              <a:rPr sz="754" b="0" i="0">
                <a:solidFill>
                  <a:srgbClr val="4C4C4C"/>
                </a:solidFill>
                <a:latin typeface="Satoshi"/>
              </a:rPr>
              <a:t>Two shapes, four fills. Satoshi 700 at 16px, padding about 14px 26px, hover lift, focus ring 3px #B1BDFF at 2px offset. Rectangular for primary page actions, pill for content and navigation actions. On navy, the primary call to action is a white button with dark text.</a:t>
            </a:r>
          </a:p>
        </p:txBody>
      </p:sp>
      <p:sp>
        <p:nvSpPr>
          <p:cNvPr id="72" name="Rounded Rectangle 71"/>
          <p:cNvSpPr/>
          <p:nvPr/>
        </p:nvSpPr>
        <p:spPr>
          <a:xfrm>
            <a:off x="6152800" y="6053328"/>
            <a:ext cx="1417320" cy="310896"/>
          </a:xfrm>
          <a:prstGeom prst="roundRect">
            <a:avLst>
              <a:gd name="adj" fmla="val 20424"/>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152800" y="6126480"/>
            <a:ext cx="1417320" cy="182880"/>
          </a:xfrm>
          <a:prstGeom prst="rect">
            <a:avLst/>
          </a:prstGeom>
          <a:noFill/>
        </p:spPr>
        <p:txBody>
          <a:bodyPr wrap="square" lIns="0" rIns="0" tIns="0" bIns="0" anchor="t">
            <a:spAutoFit/>
          </a:bodyPr>
          <a:lstStyle/>
          <a:p>
            <a:pPr algn="ctr">
              <a:lnSpc>
                <a:spcPct val="128000"/>
              </a:lnSpc>
            </a:pPr>
            <a:r>
              <a:rPr sz="900" b="1" i="0">
                <a:solidFill>
                  <a:srgbClr val="FFFFFF"/>
                </a:solidFill>
                <a:latin typeface="Satoshi"/>
              </a:rPr>
              <a:t>Get in touch</a:t>
            </a:r>
          </a:p>
        </p:txBody>
      </p:sp>
      <p:sp>
        <p:nvSpPr>
          <p:cNvPr id="74" name="Rounded Rectangle 73"/>
          <p:cNvSpPr/>
          <p:nvPr/>
        </p:nvSpPr>
        <p:spPr>
          <a:xfrm>
            <a:off x="7707280" y="6053328"/>
            <a:ext cx="1600200" cy="310896"/>
          </a:xfrm>
          <a:prstGeom prst="roundRect">
            <a:avLst>
              <a:gd name="adj" fmla="val 20424"/>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707280" y="6126480"/>
            <a:ext cx="1600200" cy="182880"/>
          </a:xfrm>
          <a:prstGeom prst="rect">
            <a:avLst/>
          </a:prstGeom>
          <a:noFill/>
        </p:spPr>
        <p:txBody>
          <a:bodyPr wrap="square" lIns="0" rIns="0" tIns="0" bIns="0" anchor="t">
            <a:spAutoFit/>
          </a:bodyPr>
          <a:lstStyle/>
          <a:p>
            <a:pPr algn="ctr">
              <a:lnSpc>
                <a:spcPct val="128000"/>
              </a:lnSpc>
            </a:pPr>
            <a:r>
              <a:rPr sz="900" b="1" i="0">
                <a:solidFill>
                  <a:srgbClr val="FFFFFF"/>
                </a:solidFill>
                <a:latin typeface="Satoshi"/>
              </a:rPr>
              <a:t>Request a Demo</a:t>
            </a:r>
          </a:p>
        </p:txBody>
      </p:sp>
      <p:sp>
        <p:nvSpPr>
          <p:cNvPr id="76" name="Rounded Rectangle 75"/>
          <p:cNvSpPr/>
          <p:nvPr/>
        </p:nvSpPr>
        <p:spPr>
          <a:xfrm>
            <a:off x="9444640" y="6053328"/>
            <a:ext cx="1691640" cy="310896"/>
          </a:xfrm>
          <a:prstGeom prst="roundRect">
            <a:avLst>
              <a:gd name="adj" fmla="val 50000"/>
            </a:avLst>
          </a:prstGeom>
          <a:noFill/>
          <a:ln w="15240">
            <a:solidFill>
              <a:srgbClr val="050F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444640" y="6126480"/>
            <a:ext cx="1691640" cy="182880"/>
          </a:xfrm>
          <a:prstGeom prst="rect">
            <a:avLst/>
          </a:prstGeom>
          <a:noFill/>
        </p:spPr>
        <p:txBody>
          <a:bodyPr wrap="square" lIns="0" rIns="0" tIns="0" bIns="0" anchor="t">
            <a:spAutoFit/>
          </a:bodyPr>
          <a:lstStyle/>
          <a:p>
            <a:pPr algn="ctr">
              <a:lnSpc>
                <a:spcPct val="128000"/>
              </a:lnSpc>
            </a:pPr>
            <a:r>
              <a:rPr sz="900" b="1" i="0">
                <a:solidFill>
                  <a:srgbClr val="050F40"/>
                </a:solidFill>
                <a:latin typeface="Satoshi"/>
              </a:rPr>
              <a:t>Read Articles  ›</a:t>
            </a:r>
          </a:p>
        </p:txBody>
      </p:sp>
      <p:sp>
        <p:nvSpPr>
          <p:cNvPr id="78" name="TextBox 7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79" name="TextBox 7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18 / 61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03 · DESIGN SYSTEM</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Do, don't, and the print variant</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Land the design system, do not reinvent it. Every deviation costs a rebuild later.</a:t>
            </a:r>
          </a:p>
        </p:txBody>
      </p:sp>
      <p:sp>
        <p:nvSpPr>
          <p:cNvPr id="5" name="Rounded Rectangle 4"/>
          <p:cNvSpPr/>
          <p:nvPr/>
        </p:nvSpPr>
        <p:spPr>
          <a:xfrm>
            <a:off x="658368" y="1828800"/>
            <a:ext cx="5327888" cy="2487168"/>
          </a:xfrm>
          <a:prstGeom prst="roundRect">
            <a:avLst>
              <a:gd name="adj" fmla="val 1021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002536"/>
            <a:ext cx="4925552" cy="256032"/>
          </a:xfrm>
          <a:prstGeom prst="rect">
            <a:avLst/>
          </a:prstGeom>
          <a:noFill/>
        </p:spPr>
        <p:txBody>
          <a:bodyPr wrap="square" lIns="0" rIns="0" tIns="0" bIns="0" anchor="t">
            <a:spAutoFit/>
          </a:bodyPr>
          <a:lstStyle/>
          <a:p>
            <a:pPr algn="l">
              <a:lnSpc>
                <a:spcPct val="128000"/>
              </a:lnSpc>
            </a:pPr>
            <a:r>
              <a:rPr sz="1200" b="1" i="0">
                <a:solidFill>
                  <a:srgbClr val="143DFF"/>
                </a:solidFill>
                <a:latin typeface="Satoshi"/>
              </a:rPr>
              <a:t>Do</a:t>
            </a:r>
          </a:p>
        </p:txBody>
      </p:sp>
      <p:sp>
        <p:nvSpPr>
          <p:cNvPr id="7" name="TextBox 6"/>
          <p:cNvSpPr txBox="1"/>
          <p:nvPr/>
        </p:nvSpPr>
        <p:spPr>
          <a:xfrm>
            <a:off x="859536" y="2359152"/>
            <a:ext cx="4925552" cy="1773936"/>
          </a:xfrm>
          <a:prstGeom prst="rect">
            <a:avLst/>
          </a:prstGeom>
          <a:noFill/>
        </p:spPr>
        <p:txBody>
          <a:bodyPr wrap="square" lIns="0" rIns="0" tIns="0" bIns="0" anchor="t">
            <a:spAutoFit/>
          </a:bodyPr>
          <a:lstStyle/>
          <a:p>
            <a:pPr algn="l">
              <a:lnSpc>
                <a:spcPct val="126000"/>
              </a:lnSpc>
              <a:spcAft>
                <a:spcPts val="340"/>
              </a:spcAft>
            </a:pPr>
            <a:r>
              <a:rPr sz="880" b="1" i="0">
                <a:solidFill>
                  <a:srgbClr val="143DFF"/>
                </a:solidFill>
                <a:latin typeface="Satoshi"/>
              </a:rPr>
              <a:t>·  </a:t>
            </a:r>
            <a:r>
              <a:rPr sz="880" b="0" i="0">
                <a:solidFill>
                  <a:srgbClr val="4C4C4C"/>
                </a:solidFill>
                <a:latin typeface="Satoshi"/>
              </a:rPr>
              <a:t>Keep electric blue as one sharp accent</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Lead proof zones with oversized numerals, because the number is the hero</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Use the navy radial glow with grain or a measurement-grid texture</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Prefer product imagery: a real 3D body-scan render, the guided-capture phone user interface, the Admin Panel in a browser frame</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Use the type scale and spacing steps exactly</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Use the eyebrow technique on every major section</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White call-to-action button on navy</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Honour reduced-motion preferences</a:t>
            </a:r>
          </a:p>
        </p:txBody>
      </p:sp>
      <p:sp>
        <p:nvSpPr>
          <p:cNvPr id="8" name="Rounded Rectangle 7"/>
          <p:cNvSpPr/>
          <p:nvPr/>
        </p:nvSpPr>
        <p:spPr>
          <a:xfrm>
            <a:off x="6205712" y="1828800"/>
            <a:ext cx="5327888" cy="2487168"/>
          </a:xfrm>
          <a:prstGeom prst="roundRect">
            <a:avLst>
              <a:gd name="adj" fmla="val 1021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6880" y="2002536"/>
            <a:ext cx="4925552" cy="256032"/>
          </a:xfrm>
          <a:prstGeom prst="rect">
            <a:avLst/>
          </a:prstGeom>
          <a:noFill/>
        </p:spPr>
        <p:txBody>
          <a:bodyPr wrap="square" lIns="0" rIns="0" tIns="0" bIns="0" anchor="t">
            <a:spAutoFit/>
          </a:bodyPr>
          <a:lstStyle/>
          <a:p>
            <a:pPr algn="l">
              <a:lnSpc>
                <a:spcPct val="128000"/>
              </a:lnSpc>
            </a:pPr>
            <a:r>
              <a:rPr sz="1200" b="1" i="0">
                <a:solidFill>
                  <a:srgbClr val="050F40"/>
                </a:solidFill>
                <a:latin typeface="Satoshi"/>
              </a:rPr>
              <a:t>Don't</a:t>
            </a:r>
          </a:p>
        </p:txBody>
      </p:sp>
      <p:sp>
        <p:nvSpPr>
          <p:cNvPr id="10" name="TextBox 9"/>
          <p:cNvSpPr txBox="1"/>
          <p:nvPr/>
        </p:nvSpPr>
        <p:spPr>
          <a:xfrm>
            <a:off x="6406880" y="2359152"/>
            <a:ext cx="4925552" cy="1773936"/>
          </a:xfrm>
          <a:prstGeom prst="rect">
            <a:avLst/>
          </a:prstGeom>
          <a:noFill/>
        </p:spPr>
        <p:txBody>
          <a:bodyPr wrap="square" lIns="0" rIns="0" tIns="0" bIns="0" anchor="t">
            <a:spAutoFit/>
          </a:bodyPr>
          <a:lstStyle/>
          <a:p>
            <a:pPr algn="l">
              <a:lnSpc>
                <a:spcPct val="126000"/>
              </a:lnSpc>
              <a:spcAft>
                <a:spcPts val="340"/>
              </a:spcAft>
            </a:pPr>
            <a:r>
              <a:rPr sz="880" b="1" i="0">
                <a:solidFill>
                  <a:srgbClr val="050F40"/>
                </a:solidFill>
                <a:latin typeface="Satoshi"/>
              </a:rPr>
              <a:t>·  </a:t>
            </a:r>
            <a:r>
              <a:rPr sz="880" b="0" i="0">
                <a:solidFill>
                  <a:srgbClr val="4C4C4C"/>
                </a:solidFill>
                <a:latin typeface="Satoshi"/>
              </a:rPr>
              <a:t>Spread #143DFF across large fills</a:t>
            </a:r>
          </a:p>
          <a:p>
            <a:pPr algn="l">
              <a:lnSpc>
                <a:spcPct val="126000"/>
              </a:lnSpc>
              <a:spcAft>
                <a:spcPts val="340"/>
              </a:spcAft>
            </a:pPr>
            <a:r>
              <a:rPr sz="880" b="1" i="0">
                <a:solidFill>
                  <a:srgbClr val="050F40"/>
                </a:solidFill>
                <a:latin typeface="Satoshi"/>
              </a:rPr>
              <a:t>·  </a:t>
            </a:r>
            <a:r>
              <a:rPr sz="880" b="0" i="0">
                <a:solidFill>
                  <a:srgbClr val="4C4C4C"/>
                </a:solidFill>
                <a:latin typeface="Satoshi"/>
              </a:rPr>
              <a:t>Use flat navy blocks with no depth</a:t>
            </a:r>
          </a:p>
          <a:p>
            <a:pPr algn="l">
              <a:lnSpc>
                <a:spcPct val="126000"/>
              </a:lnSpc>
              <a:spcAft>
                <a:spcPts val="340"/>
              </a:spcAft>
            </a:pPr>
            <a:r>
              <a:rPr sz="880" b="1" i="0">
                <a:solidFill>
                  <a:srgbClr val="050F40"/>
                </a:solidFill>
                <a:latin typeface="Satoshi"/>
              </a:rPr>
              <a:t>·  </a:t>
            </a:r>
            <a:r>
              <a:rPr sz="880" b="0" i="0">
                <a:solidFill>
                  <a:srgbClr val="4C4C4C"/>
                </a:solidFill>
                <a:latin typeface="Satoshi"/>
              </a:rPr>
              <a:t>Use an icon where a product asset fits</a:t>
            </a:r>
          </a:p>
          <a:p>
            <a:pPr algn="l">
              <a:lnSpc>
                <a:spcPct val="126000"/>
              </a:lnSpc>
              <a:spcAft>
                <a:spcPts val="340"/>
              </a:spcAft>
            </a:pPr>
            <a:r>
              <a:rPr sz="880" b="1" i="0">
                <a:solidFill>
                  <a:srgbClr val="050F40"/>
                </a:solidFill>
                <a:latin typeface="Satoshi"/>
              </a:rPr>
              <a:t>·  </a:t>
            </a:r>
            <a:r>
              <a:rPr sz="880" b="0" i="0">
                <a:solidFill>
                  <a:srgbClr val="4C4C4C"/>
                </a:solidFill>
                <a:latin typeface="Satoshi"/>
              </a:rPr>
              <a:t>Invent a size or a radius that is off-scale</a:t>
            </a:r>
          </a:p>
          <a:p>
            <a:pPr algn="l">
              <a:lnSpc>
                <a:spcPct val="126000"/>
              </a:lnSpc>
              <a:spcAft>
                <a:spcPts val="340"/>
              </a:spcAft>
            </a:pPr>
            <a:r>
              <a:rPr sz="880" b="1" i="0">
                <a:solidFill>
                  <a:srgbClr val="050F40"/>
                </a:solidFill>
                <a:latin typeface="Satoshi"/>
              </a:rPr>
              <a:t>·  </a:t>
            </a:r>
            <a:r>
              <a:rPr sz="880" b="0" i="0">
                <a:solidFill>
                  <a:srgbClr val="4C4C4C"/>
                </a:solidFill>
                <a:latin typeface="Satoshi"/>
              </a:rPr>
              <a:t>Put light text on imagery without a scrim</a:t>
            </a:r>
          </a:p>
          <a:p>
            <a:pPr algn="l">
              <a:lnSpc>
                <a:spcPct val="126000"/>
              </a:lnSpc>
              <a:spcAft>
                <a:spcPts val="340"/>
              </a:spcAft>
            </a:pPr>
            <a:r>
              <a:rPr sz="880" b="1" i="0">
                <a:solidFill>
                  <a:srgbClr val="050F40"/>
                </a:solidFill>
                <a:latin typeface="Satoshi"/>
              </a:rPr>
              <a:t>·  </a:t>
            </a:r>
            <a:r>
              <a:rPr sz="880" b="0" i="0">
                <a:solidFill>
                  <a:srgbClr val="4C4C4C"/>
                </a:solidFill>
                <a:latin typeface="Satoshi"/>
              </a:rPr>
              <a:t>Introduce a font other than Satoshi</a:t>
            </a:r>
          </a:p>
          <a:p>
            <a:pPr algn="l">
              <a:lnSpc>
                <a:spcPct val="126000"/>
              </a:lnSpc>
              <a:spcAft>
                <a:spcPts val="340"/>
              </a:spcAft>
            </a:pPr>
            <a:r>
              <a:rPr sz="880" b="1" i="0">
                <a:solidFill>
                  <a:srgbClr val="050F40"/>
                </a:solidFill>
                <a:latin typeface="Satoshi"/>
              </a:rPr>
              <a:t>·  </a:t>
            </a:r>
            <a:r>
              <a:rPr sz="880" b="0" i="0">
                <a:solidFill>
                  <a:srgbClr val="4C4C4C"/>
                </a:solidFill>
                <a:latin typeface="Satoshi"/>
              </a:rPr>
              <a:t>Resurrect #2962FF or Inter</a:t>
            </a:r>
          </a:p>
          <a:p>
            <a:pPr algn="l">
              <a:lnSpc>
                <a:spcPct val="126000"/>
              </a:lnSpc>
              <a:spcAft>
                <a:spcPts val="340"/>
              </a:spcAft>
            </a:pPr>
            <a:r>
              <a:rPr sz="880" b="1" i="0">
                <a:solidFill>
                  <a:srgbClr val="050F40"/>
                </a:solidFill>
                <a:latin typeface="Satoshi"/>
              </a:rPr>
              <a:t>·  </a:t>
            </a:r>
            <a:r>
              <a:rPr sz="880" b="0" i="0">
                <a:solidFill>
                  <a:srgbClr val="4C4C4C"/>
                </a:solidFill>
                <a:latin typeface="Satoshi"/>
              </a:rPr>
              <a:t>Rebuild the triangle logo mark by eye. Clearspace and minimum sizes are not in the Figma export, so request the brand-mark asset kit from Vadim</a:t>
            </a:r>
          </a:p>
        </p:txBody>
      </p:sp>
      <p:sp>
        <p:nvSpPr>
          <p:cNvPr id="11" name="Rounded Rectangle 10"/>
          <p:cNvSpPr/>
          <p:nvPr/>
        </p:nvSpPr>
        <p:spPr>
          <a:xfrm>
            <a:off x="658368" y="4480560"/>
            <a:ext cx="3503157" cy="1572768"/>
          </a:xfrm>
          <a:prstGeom prst="roundRect">
            <a:avLst>
              <a:gd name="adj" fmla="val 16149"/>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3" y="4636008"/>
            <a:ext cx="3155685"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Print and collateral variant</a:t>
            </a:r>
          </a:p>
        </p:txBody>
      </p:sp>
      <p:sp>
        <p:nvSpPr>
          <p:cNvPr id="13" name="TextBox 12"/>
          <p:cNvSpPr txBox="1"/>
          <p:nvPr/>
        </p:nvSpPr>
        <p:spPr>
          <a:xfrm>
            <a:off x="832103" y="4850282"/>
            <a:ext cx="3155685" cy="1029309"/>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For a two-pager or a printed leave-behind, the print art direction uses a marginally warmer navy #0A1338, ink #0B0B0C and muted #5D6070, with the same blue tints. On web, use the canonical values. Electric blue #143DFF is identical everywhere. Embed or outline Satoshi in print PDFs.</a:t>
            </a:r>
          </a:p>
        </p:txBody>
      </p:sp>
      <p:sp>
        <p:nvSpPr>
          <p:cNvPr id="14" name="Rounded Rectangle 13"/>
          <p:cNvSpPr/>
          <p:nvPr/>
        </p:nvSpPr>
        <p:spPr>
          <a:xfrm>
            <a:off x="4344405" y="4480560"/>
            <a:ext cx="3503157" cy="1572768"/>
          </a:xfrm>
          <a:prstGeom prst="roundRect">
            <a:avLst>
              <a:gd name="adj" fmla="val 16149"/>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18141" y="4636008"/>
            <a:ext cx="3155685"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Footer, the link section</a:t>
            </a:r>
          </a:p>
        </p:txBody>
      </p:sp>
      <p:sp>
        <p:nvSpPr>
          <p:cNvPr id="16" name="TextBox 15"/>
          <p:cNvSpPr txBox="1"/>
          <p:nvPr/>
        </p:nvSpPr>
        <p:spPr>
          <a:xfrm>
            <a:off x="4518141" y="4850282"/>
            <a:ext cx="3155685" cy="1029309"/>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A full-width navy radial-glow band with rounded top corners at about 30 to 40px. Centred heading in Display or H1 Satoshi Bold white: "Let's talk", "Request a Demo" or "Unlock Body Data". A white rectangular "Get in touch" button. Two centred outlined trust pills: HIPAA Compliant, GDPR.</a:t>
            </a:r>
          </a:p>
        </p:txBody>
      </p:sp>
      <p:sp>
        <p:nvSpPr>
          <p:cNvPr id="17" name="Rounded Rectangle 16"/>
          <p:cNvSpPr/>
          <p:nvPr/>
        </p:nvSpPr>
        <p:spPr>
          <a:xfrm>
            <a:off x="8030443" y="4480560"/>
            <a:ext cx="3503157" cy="1572768"/>
          </a:xfrm>
          <a:prstGeom prst="roundRect">
            <a:avLst>
              <a:gd name="adj" fmla="val 16149"/>
            </a:avLst>
          </a:prstGeom>
          <a:solidFill>
            <a:srgbClr val="FFFFFF"/>
          </a:solidFill>
          <a:ln w="12700">
            <a:solidFill>
              <a:srgbClr val="E5E5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04179" y="4636008"/>
            <a:ext cx="3155685"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Accessibility and motion</a:t>
            </a:r>
          </a:p>
        </p:txBody>
      </p:sp>
      <p:sp>
        <p:nvSpPr>
          <p:cNvPr id="19" name="TextBox 18"/>
          <p:cNvSpPr txBox="1"/>
          <p:nvPr/>
        </p:nvSpPr>
        <p:spPr>
          <a:xfrm>
            <a:off x="8204179" y="4850282"/>
            <a:ext cx="3155685" cy="1029309"/>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Body text meets AA contrast minimum. Never place light text on light imagery without a scrim. Visible focus ring #B1BDFF at 3px with 2px offset. Scroll-reveal with stagger, transitions about 0.15s ease, no bounce or overshoot, and always honour prefers-reduced-motion.</a:t>
            </a:r>
          </a:p>
        </p:txBody>
      </p:sp>
      <p:sp>
        <p:nvSpPr>
          <p:cNvPr id="20" name="TextBox 19"/>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21" name="TextBox 20"/>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19 / 61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04</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Use-case library</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Eleven health segments, each with the same fields. The working reference, and the section Nika will open most often.</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20 / 61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How to read this section, and the boundary rule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Sources: audience.md for the hook and the what-not-to-say, icp-detail.md for buyers and thresholds, proof-points.md for every number, case-studies/ for every customer name.</a:t>
            </a:r>
          </a:p>
        </p:txBody>
      </p:sp>
      <p:sp>
        <p:nvSpPr>
          <p:cNvPr id="5" name="Rounded Rectangle 4"/>
          <p:cNvSpPr/>
          <p:nvPr/>
        </p:nvSpPr>
        <p:spPr>
          <a:xfrm>
            <a:off x="658368" y="1536192"/>
            <a:ext cx="10875233" cy="969264"/>
          </a:xfrm>
          <a:prstGeom prst="roundRect">
            <a:avLst>
              <a:gd name="adj" fmla="val 26205"/>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77824" y="1655064"/>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RESPECT THE VERTICAL BOUNDARIES</a:t>
            </a:r>
          </a:p>
        </p:txBody>
      </p:sp>
      <p:sp>
        <p:nvSpPr>
          <p:cNvPr id="7" name="TextBox 6"/>
          <p:cNvSpPr txBox="1"/>
          <p:nvPr/>
        </p:nvSpPr>
        <p:spPr>
          <a:xfrm>
            <a:off x="877824" y="1847088"/>
            <a:ext cx="10418033" cy="548640"/>
          </a:xfrm>
          <a:prstGeom prst="rect">
            <a:avLst/>
          </a:prstGeom>
          <a:noFill/>
        </p:spPr>
        <p:txBody>
          <a:bodyPr wrap="square" lIns="0" rIns="0" tIns="0" bIns="0" anchor="t">
            <a:spAutoFit/>
          </a:bodyPr>
          <a:lstStyle/>
          <a:p>
            <a:pPr algn="l">
              <a:lnSpc>
                <a:spcPct val="114000"/>
              </a:lnSpc>
            </a:pPr>
            <a:r>
              <a:rPr sz="1200" b="1" i="0">
                <a:solidFill>
                  <a:srgbClr val="FFFFFF"/>
                </a:solidFill>
                <a:latin typeface="Satoshi"/>
              </a:rPr>
              <a:t>Telehealth copy does not bleed into online-pharmacy compliance. Fitness copy does not bleed into GLP-1 clinical workflows. Wellness copy does not bleed into clinical decisioning. Each vertical page and each deck holds its own lane, otherwise two assets compete for the same query and the same buyer, and neither reads as written by someone who knows the market.</a:t>
            </a:r>
          </a:p>
        </p:txBody>
      </p:sp>
      <p:sp>
        <p:nvSpPr>
          <p:cNvPr id="8" name="TextBox 7"/>
          <p:cNvSpPr txBox="1"/>
          <p:nvPr/>
        </p:nvSpPr>
        <p:spPr>
          <a:xfrm>
            <a:off x="658368" y="2615184"/>
            <a:ext cx="10875233" cy="219456"/>
          </a:xfrm>
          <a:prstGeom prst="rect">
            <a:avLst/>
          </a:prstGeom>
          <a:noFill/>
        </p:spPr>
        <p:txBody>
          <a:bodyPr wrap="square" lIns="0" rIns="0" tIns="0" bIns="0" anchor="t">
            <a:spAutoFit/>
          </a:bodyPr>
          <a:lstStyle/>
          <a:p>
            <a:pPr algn="l">
              <a:lnSpc>
                <a:spcPct val="128000"/>
              </a:lnSpc>
            </a:pPr>
            <a:r>
              <a:rPr sz="860" b="1" i="0">
                <a:solidFill>
                  <a:srgbClr val="143DFF"/>
                </a:solidFill>
                <a:latin typeface="Satoshi"/>
              </a:rPr>
              <a:t>PROOF-AVAILABILITY REALITY, READ THIS BEFORE PROMISING A DECK</a:t>
            </a:r>
          </a:p>
        </p:txBody>
      </p:sp>
      <p:sp>
        <p:nvSpPr>
          <p:cNvPr id="9" name="Rectangle 8"/>
          <p:cNvSpPr/>
          <p:nvPr/>
        </p:nvSpPr>
        <p:spPr>
          <a:xfrm>
            <a:off x="658368" y="2871215"/>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921508"/>
            <a:ext cx="2427176"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Tier</a:t>
            </a:r>
          </a:p>
        </p:txBody>
      </p:sp>
      <p:sp>
        <p:nvSpPr>
          <p:cNvPr id="11" name="TextBox 10"/>
          <p:cNvSpPr txBox="1"/>
          <p:nvPr/>
        </p:nvSpPr>
        <p:spPr>
          <a:xfrm>
            <a:off x="3369008" y="2921508"/>
            <a:ext cx="3514699"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Segments</a:t>
            </a:r>
          </a:p>
        </p:txBody>
      </p:sp>
      <p:sp>
        <p:nvSpPr>
          <p:cNvPr id="12" name="TextBox 11"/>
          <p:cNvSpPr txBox="1"/>
          <p:nvPr/>
        </p:nvSpPr>
        <p:spPr>
          <a:xfrm>
            <a:off x="7066587" y="2921508"/>
            <a:ext cx="4384718"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What that means for collateral</a:t>
            </a:r>
          </a:p>
        </p:txBody>
      </p:sp>
      <p:sp>
        <p:nvSpPr>
          <p:cNvPr id="13" name="Rectangle 12"/>
          <p:cNvSpPr/>
          <p:nvPr/>
        </p:nvSpPr>
        <p:spPr>
          <a:xfrm>
            <a:off x="658368" y="3145535"/>
            <a:ext cx="10875233" cy="51206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3145535"/>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952" y="3186683"/>
            <a:ext cx="2427176" cy="457200"/>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Named customer with a number</a:t>
            </a:r>
          </a:p>
        </p:txBody>
      </p:sp>
      <p:sp>
        <p:nvSpPr>
          <p:cNvPr id="16" name="TextBox 15"/>
          <p:cNvSpPr txBox="1"/>
          <p:nvPr/>
        </p:nvSpPr>
        <p:spPr>
          <a:xfrm>
            <a:off x="3369008" y="3186683"/>
            <a:ext cx="3514699" cy="45720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Telehealth and GLP-1 (Yazen), online pharmacy (UK Meds)</a:t>
            </a:r>
          </a:p>
        </p:txBody>
      </p:sp>
      <p:sp>
        <p:nvSpPr>
          <p:cNvPr id="17" name="TextBox 16"/>
          <p:cNvSpPr txBox="1"/>
          <p:nvPr/>
        </p:nvSpPr>
        <p:spPr>
          <a:xfrm>
            <a:off x="7066587" y="3186683"/>
            <a:ext cx="4384718" cy="45720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 case card and a vertical proof point are possible, subject to naming permission</a:t>
            </a:r>
          </a:p>
        </p:txBody>
      </p:sp>
      <p:sp>
        <p:nvSpPr>
          <p:cNvPr id="18" name="Rectangle 17"/>
          <p:cNvSpPr/>
          <p:nvPr/>
        </p:nvSpPr>
        <p:spPr>
          <a:xfrm>
            <a:off x="658368" y="3657599"/>
            <a:ext cx="10875233" cy="5120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365759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3698748"/>
            <a:ext cx="2427176" cy="457200"/>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Use-case file and market sizing, no customer</a:t>
            </a:r>
          </a:p>
        </p:txBody>
      </p:sp>
      <p:sp>
        <p:nvSpPr>
          <p:cNvPr id="21" name="TextBox 20"/>
          <p:cNvSpPr txBox="1"/>
          <p:nvPr/>
        </p:nvSpPr>
        <p:spPr>
          <a:xfrm>
            <a:off x="3369008" y="3698748"/>
            <a:ext cx="3514699" cy="45720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Insurance, health plans and wellness, bariatric, occupational health, clinical trials, digital fitness</a:t>
            </a:r>
          </a:p>
        </p:txBody>
      </p:sp>
      <p:sp>
        <p:nvSpPr>
          <p:cNvPr id="22" name="TextBox 21"/>
          <p:cNvSpPr txBox="1"/>
          <p:nvPr/>
        </p:nvSpPr>
        <p:spPr>
          <a:xfrm>
            <a:off x="7066587" y="3698748"/>
            <a:ext cx="4384718" cy="45720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vertical case slot stays empty and is recorded. Build on workflow, governance and the product proof set</a:t>
            </a:r>
          </a:p>
        </p:txBody>
      </p:sp>
      <p:sp>
        <p:nvSpPr>
          <p:cNvPr id="23" name="Rectangle 22"/>
          <p:cNvSpPr/>
          <p:nvPr/>
        </p:nvSpPr>
        <p:spPr>
          <a:xfrm>
            <a:off x="658368" y="4169663"/>
            <a:ext cx="10875233" cy="51206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416966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8952" y="4210812"/>
            <a:ext cx="2427176" cy="457200"/>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No use-case file, no proof</a:t>
            </a:r>
          </a:p>
        </p:txBody>
      </p:sp>
      <p:sp>
        <p:nvSpPr>
          <p:cNvPr id="26" name="TextBox 25"/>
          <p:cNvSpPr txBox="1"/>
          <p:nvPr/>
        </p:nvSpPr>
        <p:spPr>
          <a:xfrm>
            <a:off x="3369008" y="4210812"/>
            <a:ext cx="3514699" cy="45720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Plastic surgery, breast cancer-related lymphedema (BCRL)</a:t>
            </a:r>
          </a:p>
        </p:txBody>
      </p:sp>
      <p:sp>
        <p:nvSpPr>
          <p:cNvPr id="27" name="TextBox 26"/>
          <p:cNvSpPr txBox="1"/>
          <p:nvPr/>
        </p:nvSpPr>
        <p:spPr>
          <a:xfrm>
            <a:off x="7066587" y="4210812"/>
            <a:ext cx="4384718" cy="45720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Needs proof and needs a use-case file. Flag to Vadim before any commitment</a:t>
            </a:r>
          </a:p>
        </p:txBody>
      </p:sp>
      <p:sp>
        <p:nvSpPr>
          <p:cNvPr id="28" name="Rectangle 27"/>
          <p:cNvSpPr/>
          <p:nvPr/>
        </p:nvSpPr>
        <p:spPr>
          <a:xfrm>
            <a:off x="658368" y="4681727"/>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58368" y="4809744"/>
            <a:ext cx="3503157" cy="1371600"/>
          </a:xfrm>
          <a:prstGeom prst="roundRect">
            <a:avLst>
              <a:gd name="adj" fmla="val 18518"/>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4809744"/>
            <a:ext cx="50292" cy="137160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6968" y="4965192"/>
            <a:ext cx="3100821"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Telehealth and GLP-1 are split here</a:t>
            </a:r>
          </a:p>
        </p:txBody>
      </p:sp>
      <p:sp>
        <p:nvSpPr>
          <p:cNvPr id="32" name="TextBox 31"/>
          <p:cNvSpPr txBox="1"/>
          <p:nvPr/>
        </p:nvSpPr>
        <p:spPr>
          <a:xfrm>
            <a:off x="886968" y="5179466"/>
            <a:ext cx="3100821" cy="828141"/>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audience.md treats them as one segment with two lenses. This playbook splits them into 4.1 and 4.2 because they need different decks. They share proof, and they must not contradict each other.</a:t>
            </a:r>
          </a:p>
        </p:txBody>
      </p:sp>
      <p:sp>
        <p:nvSpPr>
          <p:cNvPr id="33" name="Rounded Rectangle 32"/>
          <p:cNvSpPr/>
          <p:nvPr/>
        </p:nvSpPr>
        <p:spPr>
          <a:xfrm>
            <a:off x="4344405" y="4809744"/>
            <a:ext cx="3503157" cy="1371600"/>
          </a:xfrm>
          <a:prstGeom prst="roundRect">
            <a:avLst>
              <a:gd name="adj" fmla="val 18518"/>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344405" y="4809744"/>
            <a:ext cx="50292" cy="137160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3005" y="4965192"/>
            <a:ext cx="3100821"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Market sizing is internal only</a:t>
            </a:r>
          </a:p>
        </p:txBody>
      </p:sp>
      <p:sp>
        <p:nvSpPr>
          <p:cNvPr id="36" name="TextBox 35"/>
          <p:cNvSpPr txBox="1"/>
          <p:nvPr/>
        </p:nvSpPr>
        <p:spPr>
          <a:xfrm>
            <a:off x="4573005" y="5179466"/>
            <a:ext cx="3100821" cy="828141"/>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The total and serviceable addressable market ranges in proof-points.md come from the Brainstorm deck and are marked illustrative. Use them for prioritization and internal business cases. Never in customer-facing collateral.</a:t>
            </a:r>
          </a:p>
        </p:txBody>
      </p:sp>
      <p:sp>
        <p:nvSpPr>
          <p:cNvPr id="37" name="Rounded Rectangle 36"/>
          <p:cNvSpPr/>
          <p:nvPr/>
        </p:nvSpPr>
        <p:spPr>
          <a:xfrm>
            <a:off x="8030443" y="4809744"/>
            <a:ext cx="3503157" cy="1371600"/>
          </a:xfrm>
          <a:prstGeom prst="roundRect">
            <a:avLst>
              <a:gd name="adj" fmla="val 18518"/>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030443" y="4809744"/>
            <a:ext cx="50292" cy="137160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59043" y="4965192"/>
            <a:ext cx="3100821"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Each segment carries eight fields</a:t>
            </a:r>
          </a:p>
        </p:txBody>
      </p:sp>
      <p:sp>
        <p:nvSpPr>
          <p:cNvPr id="40" name="TextBox 39"/>
          <p:cNvSpPr txBox="1"/>
          <p:nvPr/>
        </p:nvSpPr>
        <p:spPr>
          <a:xfrm>
            <a:off x="8259043" y="5179466"/>
            <a:ext cx="3100821" cy="828141"/>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Ideal customer profile and buyer titles, core pain, the FitXpress fit, the hero outcome, the proof to use, what NOT to say, deck localization, and the landing-page position.</a:t>
            </a:r>
          </a:p>
        </p:txBody>
      </p:sp>
      <p:sp>
        <p:nvSpPr>
          <p:cNvPr id="41" name="TextBox 4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42" name="TextBox 4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21 / 61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eleven segments at a glance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Priority follows proof. Where the proof column says "needs proof", the case card and the testimonial slot stay empty and are recorded.</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306505"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a:t>
            </a:r>
          </a:p>
        </p:txBody>
      </p:sp>
      <p:sp>
        <p:nvSpPr>
          <p:cNvPr id="7" name="TextBox 6"/>
          <p:cNvSpPr txBox="1"/>
          <p:nvPr/>
        </p:nvSpPr>
        <p:spPr>
          <a:xfrm>
            <a:off x="1248337" y="1879092"/>
            <a:ext cx="2481552"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Segment</a:t>
            </a:r>
          </a:p>
        </p:txBody>
      </p:sp>
      <p:sp>
        <p:nvSpPr>
          <p:cNvPr id="8" name="TextBox 7"/>
          <p:cNvSpPr txBox="1"/>
          <p:nvPr/>
        </p:nvSpPr>
        <p:spPr>
          <a:xfrm>
            <a:off x="3912769" y="1879092"/>
            <a:ext cx="1013395"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Revenue floor</a:t>
            </a:r>
          </a:p>
        </p:txBody>
      </p:sp>
      <p:sp>
        <p:nvSpPr>
          <p:cNvPr id="9" name="TextBox 8"/>
          <p:cNvSpPr txBox="1"/>
          <p:nvPr/>
        </p:nvSpPr>
        <p:spPr>
          <a:xfrm>
            <a:off x="5109045" y="1879092"/>
            <a:ext cx="2209671"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Proof status</a:t>
            </a:r>
          </a:p>
        </p:txBody>
      </p:sp>
      <p:sp>
        <p:nvSpPr>
          <p:cNvPr id="10" name="TextBox 9"/>
          <p:cNvSpPr txBox="1"/>
          <p:nvPr/>
        </p:nvSpPr>
        <p:spPr>
          <a:xfrm>
            <a:off x="7501596" y="1879092"/>
            <a:ext cx="3949708"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Collateral state today</a:t>
            </a:r>
          </a:p>
        </p:txBody>
      </p:sp>
      <p:sp>
        <p:nvSpPr>
          <p:cNvPr id="11" name="Rectangle 10"/>
          <p:cNvSpPr/>
          <p:nvPr/>
        </p:nvSpPr>
        <p:spPr>
          <a:xfrm>
            <a:off x="658368" y="2103120"/>
            <a:ext cx="10875233" cy="30632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 y="2144268"/>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4.1</a:t>
            </a:r>
          </a:p>
        </p:txBody>
      </p:sp>
      <p:sp>
        <p:nvSpPr>
          <p:cNvPr id="14" name="TextBox 13"/>
          <p:cNvSpPr txBox="1"/>
          <p:nvPr/>
        </p:nvSpPr>
        <p:spPr>
          <a:xfrm>
            <a:off x="1248337" y="2144268"/>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Telehealth and virtual care</a:t>
            </a:r>
          </a:p>
        </p:txBody>
      </p:sp>
      <p:sp>
        <p:nvSpPr>
          <p:cNvPr id="15" name="TextBox 14"/>
          <p:cNvSpPr txBox="1"/>
          <p:nvPr/>
        </p:nvSpPr>
        <p:spPr>
          <a:xfrm>
            <a:off x="3912769" y="2144268"/>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$2M+</a:t>
            </a:r>
          </a:p>
        </p:txBody>
      </p:sp>
      <p:sp>
        <p:nvSpPr>
          <p:cNvPr id="16" name="TextBox 15"/>
          <p:cNvSpPr txBox="1"/>
          <p:nvPr/>
        </p:nvSpPr>
        <p:spPr>
          <a:xfrm>
            <a:off x="5109045" y="2144268"/>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Yazen, 34,000 scans in 2025</a:t>
            </a:r>
          </a:p>
        </p:txBody>
      </p:sp>
      <p:sp>
        <p:nvSpPr>
          <p:cNvPr id="17" name="TextBox 16"/>
          <p:cNvSpPr txBox="1"/>
          <p:nvPr/>
        </p:nvSpPr>
        <p:spPr>
          <a:xfrm>
            <a:off x="7501596" y="2144268"/>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Benchmark landing page live. Extend rather than duplicate</a:t>
            </a:r>
          </a:p>
        </p:txBody>
      </p:sp>
      <p:sp>
        <p:nvSpPr>
          <p:cNvPr id="18" name="Rectangle 17"/>
          <p:cNvSpPr/>
          <p:nvPr/>
        </p:nvSpPr>
        <p:spPr>
          <a:xfrm>
            <a:off x="658368" y="2409444"/>
            <a:ext cx="10875233"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8368" y="240944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8952" y="2450591"/>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4.2</a:t>
            </a:r>
          </a:p>
        </p:txBody>
      </p:sp>
      <p:sp>
        <p:nvSpPr>
          <p:cNvPr id="21" name="TextBox 20"/>
          <p:cNvSpPr txBox="1"/>
          <p:nvPr/>
        </p:nvSpPr>
        <p:spPr>
          <a:xfrm>
            <a:off x="1248337" y="2450591"/>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Weight loss and GLP-1 programs</a:t>
            </a:r>
          </a:p>
        </p:txBody>
      </p:sp>
      <p:sp>
        <p:nvSpPr>
          <p:cNvPr id="22" name="TextBox 21"/>
          <p:cNvSpPr txBox="1"/>
          <p:nvPr/>
        </p:nvSpPr>
        <p:spPr>
          <a:xfrm>
            <a:off x="3912769" y="2450591"/>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$2M+</a:t>
            </a:r>
          </a:p>
        </p:txBody>
      </p:sp>
      <p:sp>
        <p:nvSpPr>
          <p:cNvPr id="23" name="TextBox 22"/>
          <p:cNvSpPr txBox="1"/>
          <p:nvPr/>
        </p:nvSpPr>
        <p:spPr>
          <a:xfrm>
            <a:off x="5109045" y="2450591"/>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Yazen, shares the 4.1 set</a:t>
            </a:r>
          </a:p>
        </p:txBody>
      </p:sp>
      <p:sp>
        <p:nvSpPr>
          <p:cNvPr id="24" name="TextBox 23"/>
          <p:cNvSpPr txBox="1"/>
          <p:nvPr/>
        </p:nvSpPr>
        <p:spPr>
          <a:xfrm>
            <a:off x="7501596" y="2450591"/>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Needs its own page, linked to and from telehealth</a:t>
            </a:r>
          </a:p>
        </p:txBody>
      </p:sp>
      <p:sp>
        <p:nvSpPr>
          <p:cNvPr id="25" name="Rectangle 24"/>
          <p:cNvSpPr/>
          <p:nvPr/>
        </p:nvSpPr>
        <p:spPr>
          <a:xfrm>
            <a:off x="658368" y="2715768"/>
            <a:ext cx="10875233" cy="30632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271576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2756915"/>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4.3</a:t>
            </a:r>
          </a:p>
        </p:txBody>
      </p:sp>
      <p:sp>
        <p:nvSpPr>
          <p:cNvPr id="28" name="TextBox 27"/>
          <p:cNvSpPr txBox="1"/>
          <p:nvPr/>
        </p:nvSpPr>
        <p:spPr>
          <a:xfrm>
            <a:off x="1248337" y="2756915"/>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Online pharmacy and remote prescribing</a:t>
            </a:r>
          </a:p>
        </p:txBody>
      </p:sp>
      <p:sp>
        <p:nvSpPr>
          <p:cNvPr id="29" name="TextBox 28"/>
          <p:cNvSpPr txBox="1"/>
          <p:nvPr/>
        </p:nvSpPr>
        <p:spPr>
          <a:xfrm>
            <a:off x="3912769" y="2756915"/>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$2M+</a:t>
            </a:r>
          </a:p>
        </p:txBody>
      </p:sp>
      <p:sp>
        <p:nvSpPr>
          <p:cNvPr id="30" name="TextBox 29"/>
          <p:cNvSpPr txBox="1"/>
          <p:nvPr/>
        </p:nvSpPr>
        <p:spPr>
          <a:xfrm>
            <a:off x="5109045" y="2756915"/>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UK Meds, 7,500 scans in 2025</a:t>
            </a:r>
          </a:p>
        </p:txBody>
      </p:sp>
      <p:sp>
        <p:nvSpPr>
          <p:cNvPr id="31" name="TextBox 30"/>
          <p:cNvSpPr txBox="1"/>
          <p:nvPr/>
        </p:nvSpPr>
        <p:spPr>
          <a:xfrm>
            <a:off x="7501596" y="2756915"/>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/for-bmi-verification/ is the priority rewrite</a:t>
            </a:r>
          </a:p>
        </p:txBody>
      </p:sp>
      <p:sp>
        <p:nvSpPr>
          <p:cNvPr id="32" name="Rectangle 31"/>
          <p:cNvSpPr/>
          <p:nvPr/>
        </p:nvSpPr>
        <p:spPr>
          <a:xfrm>
            <a:off x="658368" y="3022091"/>
            <a:ext cx="10875233"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3022091"/>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3063239"/>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4.4</a:t>
            </a:r>
          </a:p>
        </p:txBody>
      </p:sp>
      <p:sp>
        <p:nvSpPr>
          <p:cNvPr id="35" name="TextBox 34"/>
          <p:cNvSpPr txBox="1"/>
          <p:nvPr/>
        </p:nvSpPr>
        <p:spPr>
          <a:xfrm>
            <a:off x="1248337" y="3063239"/>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Insurance underwriting</a:t>
            </a:r>
          </a:p>
        </p:txBody>
      </p:sp>
      <p:sp>
        <p:nvSpPr>
          <p:cNvPr id="36" name="TextBox 35"/>
          <p:cNvSpPr txBox="1"/>
          <p:nvPr/>
        </p:nvSpPr>
        <p:spPr>
          <a:xfrm>
            <a:off x="3912769" y="3063239"/>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$5M+</a:t>
            </a:r>
          </a:p>
        </p:txBody>
      </p:sp>
      <p:sp>
        <p:nvSpPr>
          <p:cNvPr id="37" name="TextBox 36"/>
          <p:cNvSpPr txBox="1"/>
          <p:nvPr/>
        </p:nvSpPr>
        <p:spPr>
          <a:xfrm>
            <a:off x="5109045" y="3063239"/>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Needs proof</a:t>
            </a:r>
          </a:p>
        </p:txBody>
      </p:sp>
      <p:sp>
        <p:nvSpPr>
          <p:cNvPr id="38" name="TextBox 37"/>
          <p:cNvSpPr txBox="1"/>
          <p:nvPr/>
        </p:nvSpPr>
        <p:spPr>
          <a:xfrm>
            <a:off x="7501596" y="3063239"/>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Deck written, and it is the structural exemplar. No page</a:t>
            </a:r>
          </a:p>
        </p:txBody>
      </p:sp>
      <p:sp>
        <p:nvSpPr>
          <p:cNvPr id="39" name="Rectangle 38"/>
          <p:cNvSpPr/>
          <p:nvPr/>
        </p:nvSpPr>
        <p:spPr>
          <a:xfrm>
            <a:off x="658368" y="3328415"/>
            <a:ext cx="10875233" cy="30632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3328415"/>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8952" y="3369563"/>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4.5</a:t>
            </a:r>
          </a:p>
        </p:txBody>
      </p:sp>
      <p:sp>
        <p:nvSpPr>
          <p:cNvPr id="42" name="TextBox 41"/>
          <p:cNvSpPr txBox="1"/>
          <p:nvPr/>
        </p:nvSpPr>
        <p:spPr>
          <a:xfrm>
            <a:off x="1248337" y="3369563"/>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Health plans and employer wellness</a:t>
            </a:r>
          </a:p>
        </p:txBody>
      </p:sp>
      <p:sp>
        <p:nvSpPr>
          <p:cNvPr id="43" name="TextBox 42"/>
          <p:cNvSpPr txBox="1"/>
          <p:nvPr/>
        </p:nvSpPr>
        <p:spPr>
          <a:xfrm>
            <a:off x="3912769" y="3369563"/>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$5M+</a:t>
            </a:r>
          </a:p>
        </p:txBody>
      </p:sp>
      <p:sp>
        <p:nvSpPr>
          <p:cNvPr id="44" name="TextBox 43"/>
          <p:cNvSpPr txBox="1"/>
          <p:nvPr/>
        </p:nvSpPr>
        <p:spPr>
          <a:xfrm>
            <a:off x="5109045" y="3369563"/>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Needs proof</a:t>
            </a:r>
          </a:p>
        </p:txBody>
      </p:sp>
      <p:sp>
        <p:nvSpPr>
          <p:cNvPr id="45" name="TextBox 44"/>
          <p:cNvSpPr txBox="1"/>
          <p:nvPr/>
        </p:nvSpPr>
        <p:spPr>
          <a:xfrm>
            <a:off x="7501596" y="3369563"/>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No page</a:t>
            </a:r>
          </a:p>
        </p:txBody>
      </p:sp>
      <p:sp>
        <p:nvSpPr>
          <p:cNvPr id="46" name="Rectangle 45"/>
          <p:cNvSpPr/>
          <p:nvPr/>
        </p:nvSpPr>
        <p:spPr>
          <a:xfrm>
            <a:off x="658368" y="3634739"/>
            <a:ext cx="10875233"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363473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8952" y="3675887"/>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4.6</a:t>
            </a:r>
          </a:p>
        </p:txBody>
      </p:sp>
      <p:sp>
        <p:nvSpPr>
          <p:cNvPr id="49" name="TextBox 48"/>
          <p:cNvSpPr txBox="1"/>
          <p:nvPr/>
        </p:nvSpPr>
        <p:spPr>
          <a:xfrm>
            <a:off x="1248337" y="3675887"/>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Bariatric and metabolic clinics</a:t>
            </a:r>
          </a:p>
        </p:txBody>
      </p:sp>
      <p:sp>
        <p:nvSpPr>
          <p:cNvPr id="50" name="TextBox 49"/>
          <p:cNvSpPr txBox="1"/>
          <p:nvPr/>
        </p:nvSpPr>
        <p:spPr>
          <a:xfrm>
            <a:off x="3912769" y="3675887"/>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Mid to large</a:t>
            </a:r>
          </a:p>
        </p:txBody>
      </p:sp>
      <p:sp>
        <p:nvSpPr>
          <p:cNvPr id="51" name="TextBox 50"/>
          <p:cNvSpPr txBox="1"/>
          <p:nvPr/>
        </p:nvSpPr>
        <p:spPr>
          <a:xfrm>
            <a:off x="5109045" y="3675887"/>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Needs proof</a:t>
            </a:r>
          </a:p>
        </p:txBody>
      </p:sp>
      <p:sp>
        <p:nvSpPr>
          <p:cNvPr id="52" name="TextBox 51"/>
          <p:cNvSpPr txBox="1"/>
          <p:nvPr/>
        </p:nvSpPr>
        <p:spPr>
          <a:xfrm>
            <a:off x="7501596" y="3675887"/>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Use-case one-pager for business development first</a:t>
            </a:r>
          </a:p>
        </p:txBody>
      </p:sp>
      <p:sp>
        <p:nvSpPr>
          <p:cNvPr id="53" name="Rectangle 52"/>
          <p:cNvSpPr/>
          <p:nvPr/>
        </p:nvSpPr>
        <p:spPr>
          <a:xfrm>
            <a:off x="658368" y="3941063"/>
            <a:ext cx="10875233" cy="30632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658368" y="394106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58952" y="3982211"/>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4.7</a:t>
            </a:r>
          </a:p>
        </p:txBody>
      </p:sp>
      <p:sp>
        <p:nvSpPr>
          <p:cNvPr id="56" name="TextBox 55"/>
          <p:cNvSpPr txBox="1"/>
          <p:nvPr/>
        </p:nvSpPr>
        <p:spPr>
          <a:xfrm>
            <a:off x="1248337" y="3982211"/>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Occupational health and screening</a:t>
            </a:r>
          </a:p>
        </p:txBody>
      </p:sp>
      <p:sp>
        <p:nvSpPr>
          <p:cNvPr id="57" name="TextBox 56"/>
          <p:cNvSpPr txBox="1"/>
          <p:nvPr/>
        </p:nvSpPr>
        <p:spPr>
          <a:xfrm>
            <a:off x="3912769" y="3982211"/>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Mid to large</a:t>
            </a:r>
          </a:p>
        </p:txBody>
      </p:sp>
      <p:sp>
        <p:nvSpPr>
          <p:cNvPr id="58" name="TextBox 57"/>
          <p:cNvSpPr txBox="1"/>
          <p:nvPr/>
        </p:nvSpPr>
        <p:spPr>
          <a:xfrm>
            <a:off x="5109045" y="3982211"/>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Needs proof</a:t>
            </a:r>
          </a:p>
        </p:txBody>
      </p:sp>
      <p:sp>
        <p:nvSpPr>
          <p:cNvPr id="59" name="TextBox 58"/>
          <p:cNvSpPr txBox="1"/>
          <p:nvPr/>
        </p:nvSpPr>
        <p:spPr>
          <a:xfrm>
            <a:off x="7501596" y="3982211"/>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Legal read on the framing before any public page</a:t>
            </a:r>
          </a:p>
        </p:txBody>
      </p:sp>
      <p:sp>
        <p:nvSpPr>
          <p:cNvPr id="60" name="Rectangle 59"/>
          <p:cNvSpPr/>
          <p:nvPr/>
        </p:nvSpPr>
        <p:spPr>
          <a:xfrm>
            <a:off x="658368" y="4247388"/>
            <a:ext cx="10875233"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658368" y="424738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58952" y="4288536"/>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4.8</a:t>
            </a:r>
          </a:p>
        </p:txBody>
      </p:sp>
      <p:sp>
        <p:nvSpPr>
          <p:cNvPr id="63" name="TextBox 62"/>
          <p:cNvSpPr txBox="1"/>
          <p:nvPr/>
        </p:nvSpPr>
        <p:spPr>
          <a:xfrm>
            <a:off x="1248337" y="4288536"/>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Clinical trials, CROs and pharma</a:t>
            </a:r>
          </a:p>
        </p:txBody>
      </p:sp>
      <p:sp>
        <p:nvSpPr>
          <p:cNvPr id="64" name="TextBox 63"/>
          <p:cNvSpPr txBox="1"/>
          <p:nvPr/>
        </p:nvSpPr>
        <p:spPr>
          <a:xfrm>
            <a:off x="3912769" y="4288536"/>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Global</a:t>
            </a:r>
          </a:p>
        </p:txBody>
      </p:sp>
      <p:sp>
        <p:nvSpPr>
          <p:cNvPr id="65" name="TextBox 64"/>
          <p:cNvSpPr txBox="1"/>
          <p:nvPr/>
        </p:nvSpPr>
        <p:spPr>
          <a:xfrm>
            <a:off x="5109045" y="4288536"/>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Needs proof</a:t>
            </a:r>
          </a:p>
        </p:txBody>
      </p:sp>
      <p:sp>
        <p:nvSpPr>
          <p:cNvPr id="66" name="TextBox 65"/>
          <p:cNvSpPr txBox="1"/>
          <p:nvPr/>
        </p:nvSpPr>
        <p:spPr>
          <a:xfrm>
            <a:off x="7501596" y="4288536"/>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Published article covers the top of the funnel</a:t>
            </a:r>
          </a:p>
        </p:txBody>
      </p:sp>
      <p:sp>
        <p:nvSpPr>
          <p:cNvPr id="67" name="Rectangle 66"/>
          <p:cNvSpPr/>
          <p:nvPr/>
        </p:nvSpPr>
        <p:spPr>
          <a:xfrm>
            <a:off x="658368" y="4553712"/>
            <a:ext cx="10875233" cy="30632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58368" y="4553712"/>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58952" y="4594859"/>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4.9</a:t>
            </a:r>
          </a:p>
        </p:txBody>
      </p:sp>
      <p:sp>
        <p:nvSpPr>
          <p:cNvPr id="70" name="TextBox 69"/>
          <p:cNvSpPr txBox="1"/>
          <p:nvPr/>
        </p:nvSpPr>
        <p:spPr>
          <a:xfrm>
            <a:off x="1248337" y="4594859"/>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Connected and digital fitness</a:t>
            </a:r>
          </a:p>
        </p:txBody>
      </p:sp>
      <p:sp>
        <p:nvSpPr>
          <p:cNvPr id="71" name="TextBox 70"/>
          <p:cNvSpPr txBox="1"/>
          <p:nvPr/>
        </p:nvSpPr>
        <p:spPr>
          <a:xfrm>
            <a:off x="3912769" y="4594859"/>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$1M+</a:t>
            </a:r>
          </a:p>
        </p:txBody>
      </p:sp>
      <p:sp>
        <p:nvSpPr>
          <p:cNvPr id="72" name="TextBox 71"/>
          <p:cNvSpPr txBox="1"/>
          <p:nvPr/>
        </p:nvSpPr>
        <p:spPr>
          <a:xfrm>
            <a:off x="5109045" y="4594859"/>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Needs proof</a:t>
            </a:r>
          </a:p>
        </p:txBody>
      </p:sp>
      <p:sp>
        <p:nvSpPr>
          <p:cNvPr id="73" name="TextBox 72"/>
          <p:cNvSpPr txBox="1"/>
          <p:nvPr/>
        </p:nvSpPr>
        <p:spPr>
          <a:xfrm>
            <a:off x="7501596" y="4594859"/>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Page live, and it needs a FAQ, schema and a URL fix</a:t>
            </a:r>
          </a:p>
        </p:txBody>
      </p:sp>
      <p:sp>
        <p:nvSpPr>
          <p:cNvPr id="74" name="Rectangle 73"/>
          <p:cNvSpPr/>
          <p:nvPr/>
        </p:nvSpPr>
        <p:spPr>
          <a:xfrm>
            <a:off x="658368" y="4860036"/>
            <a:ext cx="10875233"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58368" y="486003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758952" y="4901183"/>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4.10</a:t>
            </a:r>
          </a:p>
        </p:txBody>
      </p:sp>
      <p:sp>
        <p:nvSpPr>
          <p:cNvPr id="77" name="TextBox 76"/>
          <p:cNvSpPr txBox="1"/>
          <p:nvPr/>
        </p:nvSpPr>
        <p:spPr>
          <a:xfrm>
            <a:off x="1248337" y="4901183"/>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Plastic surgery clinics, Turkey first</a:t>
            </a:r>
          </a:p>
        </p:txBody>
      </p:sp>
      <p:sp>
        <p:nvSpPr>
          <p:cNvPr id="78" name="TextBox 77"/>
          <p:cNvSpPr txBox="1"/>
          <p:nvPr/>
        </p:nvSpPr>
        <p:spPr>
          <a:xfrm>
            <a:off x="3912769" y="4901183"/>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$1M+</a:t>
            </a:r>
          </a:p>
        </p:txBody>
      </p:sp>
      <p:sp>
        <p:nvSpPr>
          <p:cNvPr id="79" name="TextBox 78"/>
          <p:cNvSpPr txBox="1"/>
          <p:nvPr/>
        </p:nvSpPr>
        <p:spPr>
          <a:xfrm>
            <a:off x="5109045" y="4901183"/>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No proof, no use-case file</a:t>
            </a:r>
          </a:p>
        </p:txBody>
      </p:sp>
      <p:sp>
        <p:nvSpPr>
          <p:cNvPr id="80" name="TextBox 79"/>
          <p:cNvSpPr txBox="1"/>
          <p:nvPr/>
        </p:nvSpPr>
        <p:spPr>
          <a:xfrm>
            <a:off x="7501596" y="4901183"/>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Blocked. No deck until the use-case file exists</a:t>
            </a:r>
          </a:p>
        </p:txBody>
      </p:sp>
      <p:sp>
        <p:nvSpPr>
          <p:cNvPr id="81" name="Rectangle 80"/>
          <p:cNvSpPr/>
          <p:nvPr/>
        </p:nvSpPr>
        <p:spPr>
          <a:xfrm>
            <a:off x="658368" y="5166359"/>
            <a:ext cx="10875233" cy="30632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Rectangle 81"/>
          <p:cNvSpPr/>
          <p:nvPr/>
        </p:nvSpPr>
        <p:spPr>
          <a:xfrm>
            <a:off x="658368" y="516635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58952" y="5207507"/>
            <a:ext cx="30650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4.11</a:t>
            </a:r>
          </a:p>
        </p:txBody>
      </p:sp>
      <p:sp>
        <p:nvSpPr>
          <p:cNvPr id="84" name="TextBox 83"/>
          <p:cNvSpPr txBox="1"/>
          <p:nvPr/>
        </p:nvSpPr>
        <p:spPr>
          <a:xfrm>
            <a:off x="1248337" y="5207507"/>
            <a:ext cx="2481552"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BCRL and oncology survivorship</a:t>
            </a:r>
          </a:p>
        </p:txBody>
      </p:sp>
      <p:sp>
        <p:nvSpPr>
          <p:cNvPr id="85" name="TextBox 84"/>
          <p:cNvSpPr txBox="1"/>
          <p:nvPr/>
        </p:nvSpPr>
        <p:spPr>
          <a:xfrm>
            <a:off x="3912769" y="5207507"/>
            <a:ext cx="1013395"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$2M+</a:t>
            </a:r>
          </a:p>
        </p:txBody>
      </p:sp>
      <p:sp>
        <p:nvSpPr>
          <p:cNvPr id="86" name="TextBox 85"/>
          <p:cNvSpPr txBox="1"/>
          <p:nvPr/>
        </p:nvSpPr>
        <p:spPr>
          <a:xfrm>
            <a:off x="5109045" y="5207507"/>
            <a:ext cx="2209671"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No proof at all</a:t>
            </a:r>
          </a:p>
        </p:txBody>
      </p:sp>
      <p:sp>
        <p:nvSpPr>
          <p:cNvPr id="87" name="TextBox 86"/>
          <p:cNvSpPr txBox="1"/>
          <p:nvPr/>
        </p:nvSpPr>
        <p:spPr>
          <a:xfrm>
            <a:off x="7501596" y="5207507"/>
            <a:ext cx="3949708" cy="25146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Blocked pending proof and a Whitney review</a:t>
            </a:r>
          </a:p>
        </p:txBody>
      </p:sp>
      <p:sp>
        <p:nvSpPr>
          <p:cNvPr id="88" name="Rectangle 87"/>
          <p:cNvSpPr/>
          <p:nvPr/>
        </p:nvSpPr>
        <p:spPr>
          <a:xfrm>
            <a:off x="658368" y="547268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58368" y="5614416"/>
            <a:ext cx="10875233" cy="219456"/>
          </a:xfrm>
          <a:prstGeom prst="rect">
            <a:avLst/>
          </a:prstGeom>
          <a:noFill/>
        </p:spPr>
        <p:txBody>
          <a:bodyPr wrap="square" lIns="0" rIns="0" tIns="0" bIns="0" anchor="t">
            <a:spAutoFit/>
          </a:bodyPr>
          <a:lstStyle/>
          <a:p>
            <a:pPr algn="l">
              <a:lnSpc>
                <a:spcPct val="128000"/>
              </a:lnSpc>
            </a:pPr>
            <a:r>
              <a:rPr sz="900" b="0" i="1">
                <a:solidFill>
                  <a:srgbClr val="666666"/>
                </a:solidFill>
                <a:latin typeface="Satoshi"/>
              </a:rPr>
              <a:t>Seven of eleven segments carry no citable customer. That is the single biggest constraint on what marketing can promise, and it is item 12 in section 9.</a:t>
            </a:r>
          </a:p>
        </p:txBody>
      </p:sp>
      <p:sp>
        <p:nvSpPr>
          <p:cNvPr id="90" name="TextBox 89"/>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91" name="TextBox 90"/>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22 / 61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4.1</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Telehealth and virtual care</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Verify body progress remotely to boost retention, reduce drop-off, and prove program ROI</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Shorter variant: Make body progress visible before members drop off.</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Virtual-first clinics, telehealth platforms, longitudinal care and remote patient monitoring programs, cardiometabolic platforms. Series A through public, 50 to 5,000 employees, $2M+ annual revenue. Typically 500+ active members with repeat check-ins. USA, Canada, UK, Germany, UAE, Australia.</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Remote programs run on repeat check-ins, and the data underneath is shaky. Self report and occasional progress photos are inconsistent, easy to skip and hard to compare across scans. Clinical teams cannot separate real change from measurement noise. Manual intake slows scaling.</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A structured intake and documentation layer inside the existing app flow. Two photos return 80+ measurements and body composition, and because variance stays &lt; 1 cm, the trend a care team reads is change rather than noise.</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Founder or CEO · Chief Medical Officer or Medical Director · Head of Clinical Operations · Head of Member Engagement or Retention · Head of Product · CTO · Head of Outcomes and Program Insights.</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Problem slide on trust in the trend rather than one-time accuracy. Journey slide on the 30, 60 and 90 day check-in cadence. Outputs slide member-facing. Accuracy slide leads with repeatability.</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/structured-body-data-for-telehealth-digital-health-programs/ already covers this vertical well. Extend rather than duplicate. Bottom of funnel: "Book a demo", with "See sample outputs" secondary.</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Yazen, 34,000 scans in 2025, weight-loss management support. Naming subject to permission</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80+ measurements, under 45 seconds from two photos</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96 to 97% accuracy against expert manual measurement, typical absolute error 1.5 to 2.0 cm</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Repeatability &lt; 1 cm, 95%+ consistency. Weight estimation plus or minus 3.5%</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HIPAA maintained, GDPR principles, encryption at rest and in transit, photos deleted immediately or within 30 days</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No diagnostic claims</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Do not position as a DEXA or calibrated-scale replacement</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Do not imply eligibility decisioning</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Keep separate from UK online-pharmacy Body Mass Index (BMI) compliance, unless the piece is explicitly the bridge</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23 / 61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4.2</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Weight loss and GLP-1 programs</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Make body progress visible between check-ins, helping programs keep members past day 90</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The source line used "so" as a benefit connector, which Asselya's rules ban. The rewrite above is the approved form.</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GLP-1 prescription platforms, metabolic and obesity platforms, coaching apps treating weight management, employer-sponsored metabolic health programs. $2M+ annual revenue. USA, UK, Germany, Australia, Canada, UAE.</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Members drop off when progress is not visible, and weight alone hides what matters because it does not separate fat from lean mass. GLP-1 prescribing needs reliable baseline and follow-up body metrics. Rising acquisition cost with weak engagement and early churn. Payers increasingly expect defensible outcomes.</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Repeat scans that make composition change visible between clinical assessment points, feeding both member engagement and outcomes reporting.</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Founder or CEO · Chief Medical Officer · Head of Clinical Operations · Head of Member Engagement · Head of Outcomes · Growth and Revenue Operations.</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Problem slide on day-90 drop-off. A dedicated slide on the progress and target-weight 3D visualization as an engagement mechanic. Outcomes slide on retention, adherence and outcomes reporting to payers.</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Its own page, linked from and to the telehealth page. Middle of funnel: "Review the buyer checklist". Bottom of funnel: "Book a demo".</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The same set as 4.1. Yazen is the anchor</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Lean-mass preservation tracking is a buyer KPI worth naming, framed as what the data supports rather than what the product proves</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Body composition outputs: Body Mass Index (BMI), basal metabolic rate (BMR), body fat percentage, lean mass, fat mass</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The target-weight 3D visualization as an engagement mechanic</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No claim about the clinical outcomes of GLP-1 therapy</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No eligibility or dosing implication</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No lean-mass-preservation efficacy claim. FitXpress documents the measurement, and the clinical interpretation belongs to the care team</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24 / 61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4.3</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Online pharmacy and remote prescribing</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Verify BMI inside the order flow to cut fraud, speed approvals, and stay audit-ready</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The United Kingdom is the priority market for this segment.</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42" b="0" i="0">
                <a:solidFill>
                  <a:srgbClr val="4C4C4C"/>
                </a:solidFill>
                <a:latin typeface="Satoshi"/>
              </a:rPr>
              <a:t>Online pharmacies and remote-prescribing platforms dispensing GLP-1 and weight-loss medication, needing to verify a Body Mass Index (BMI) threshold, typically 27 or above with a comorbidity or 30 or above, without a visit. 50 to 1,000 employees, $2M+ annual revenue. UK priority, plus international telehealth providers operating in the UK.</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Patients misreport weight and BMI to qualify. Manual photo review is subjective and inconsistent. UK regulators are tightening scrutiny of remote GLP-1 eligibility. High intake volumes overload the clinical team, and incorrect verification carries prescribing, legal and reputational exposure.</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Verification inside the order flow, with a structured record behind it. Smart Scales compares self-reported weight against the estimate and flags a mismatch for clinician review. Integration Pattern B fits: photos in, eligibility validated server-side, body metrics never shown to the user, audit trail retained.</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Head of Compliance and Risk · Chief Medical Officer · Clinical Operations Director · Head of Clinical Governance · Founder or CEO · Product Manager · CTO.</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Problem slide on manual photo review and the regulatory tightening. A workflow slide showing Pattern B explicitly, including who reviews a flagged scan. Compliance and audit trail elevated to a deciding slide rather than a footnote.</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/for-bmi-verification/ exists at about 659 words with no FAQ and no cases. It is the priority rewrite, and the week-two deliverable. Bottom of funnel: "Book a demo".</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UK Meds, 7,500 scans in 2025, BMI verification for online pharmacy ordering. Naming subject to permission</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Weight estimation plus or minus 3.5% average error</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Under 45 seconds, two photos. Repeatability &lt; 1 cm</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The audit and compliance posture from compliance.md, and Pattern B from tech-spec.md</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Never imply automated eligibility or prescribing decisions</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guarantee compliance. "Supports compliant workflows", never "makes you compliant"</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"detects fraud". Always "flags discrepancies for review"</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Name UK regulators only when the piece is genuinely about the UK market, and expand them at first use: Medicines and Healthcare products Regulatory Agency (MHRA), Care Quality Commission (CQC)</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25 / 61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4.4</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Insurance underwriting, life and disability</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Verify body metrics remotely to issue faster, cut rework, and strengthen auditability</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The shipped deck headline is "Stronger evidence, faster underwriting". This is the structural exemplar deck.</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Life and disability insurers, group benefits carriers, reinsurers, insurtech and digital distribution platforms, accelerated and digital underwriting teams. Large enterprise, typically 5,000+ employees, $5M+ annual revenue. US core, UK and EU, Canada, UAE, Australia.</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11" b="0" i="0">
                <a:solidFill>
                  <a:srgbClr val="4C4C4C"/>
                </a:solidFill>
                <a:latin typeface="Satoshi"/>
              </a:rPr>
              <a:t>Accelerated underwriting removed friction and created an evidentiary gap. Self-reported height, weight, build and Body Mass Index (BMI) can be incomplete, inconsistent or intentionally misrepresented, which affects risk classification, pricing accuracy and fraud exposure. The alternatives reintroduce the delay accelerated programs were designed to remove.</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A structured digital evidence layer: remote guided capture producing repeatable, auditable body data that supports underwriter review, applicant triage and fraud-prevention workflows, without becoming a decisioning engine.</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Chief Underwriting Officer or VP Underwriting · Chief Medical Officer · Chief Risk Officer or Head of Risk and Analytics · Head of Digital Innovation · Population Health Director · CTO · Compliance and Fraud Prevention.</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This is the exemplar deck, already written. Reuse its shape: alternatives and their limitations on the problem slide, five outcome cards with "driven by" and "track with", a five-stage underwriting journey, and the integration boundary slide that keeps the carrier in control.</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Does not exist. Build after the case-evidence gap is resolved. Middle of funnel: "Review the evidence-workflow checklist". Bottom: "Talk to 3DLOOK about your underwriting workflow".</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299"/>
              </a:spcAft>
            </a:pPr>
            <a:r>
              <a:rPr sz="721" b="1" i="0">
                <a:solidFill>
                  <a:srgbClr val="143DFF"/>
                </a:solidFill>
                <a:latin typeface="Satoshi"/>
              </a:rPr>
              <a:t>·  </a:t>
            </a:r>
            <a:r>
              <a:rPr sz="721" b="0" i="0">
                <a:solidFill>
                  <a:srgbClr val="4C4C4C"/>
                </a:solidFill>
                <a:latin typeface="Satoshi"/>
              </a:rPr>
              <a:t>No FitXpress insurance customer exists. NEEDS PROOF, flag to Vadim for a case card, a quote or a reference</a:t>
            </a:r>
          </a:p>
          <a:p>
            <a:pPr algn="l">
              <a:lnSpc>
                <a:spcPct val="126000"/>
              </a:lnSpc>
              <a:spcAft>
                <a:spcPts val="299"/>
              </a:spcAft>
            </a:pPr>
            <a:r>
              <a:rPr sz="721" b="1" i="0">
                <a:solidFill>
                  <a:srgbClr val="143DFF"/>
                </a:solidFill>
                <a:latin typeface="Satoshi"/>
              </a:rPr>
              <a:t>·  </a:t>
            </a:r>
            <a:r>
              <a:rPr sz="721" b="0" i="0">
                <a:solidFill>
                  <a:srgbClr val="4C4C4C"/>
                </a:solidFill>
                <a:latin typeface="Satoshi"/>
              </a:rPr>
              <a:t>Build on 96 to 97% accuracy, error margin 1.5 to 2.0 cm, repeatability &lt; 1 cm and 95%+ consistency, weight estimation plus or minus 3.5%, 80+ measurements, under 45 seconds</a:t>
            </a:r>
          </a:p>
          <a:p>
            <a:pPr algn="l">
              <a:lnSpc>
                <a:spcPct val="126000"/>
              </a:lnSpc>
              <a:spcAft>
                <a:spcPts val="299"/>
              </a:spcAft>
            </a:pPr>
            <a:r>
              <a:rPr sz="721" b="1" i="0">
                <a:solidFill>
                  <a:srgbClr val="143DFF"/>
                </a:solidFill>
                <a:latin typeface="Satoshi"/>
              </a:rPr>
              <a:t>·  </a:t>
            </a:r>
            <a:r>
              <a:rPr sz="721" b="0" i="0">
                <a:solidFill>
                  <a:srgbClr val="4C4C4C"/>
                </a:solidFill>
                <a:latin typeface="Satoshi"/>
              </a:rPr>
              <a:t>The full governance set: encryption, configurable retention, no personal identifiers, logging of scan status, timestamps, quality flags and failure reasons</a:t>
            </a:r>
          </a:p>
          <a:p>
            <a:pPr algn="l">
              <a:lnSpc>
                <a:spcPct val="126000"/>
              </a:lnSpc>
              <a:spcAft>
                <a:spcPts val="299"/>
              </a:spcAft>
            </a:pPr>
            <a:r>
              <a:rPr sz="721" b="1" i="0">
                <a:solidFill>
                  <a:srgbClr val="143DFF"/>
                </a:solidFill>
                <a:latin typeface="Satoshi"/>
              </a:rPr>
              <a:t>·  </a:t>
            </a:r>
            <a:r>
              <a:rPr sz="721" b="0" i="0">
                <a:solidFill>
                  <a:srgbClr val="4C4C4C"/>
                </a:solidFill>
                <a:latin typeface="Satoshi"/>
              </a:rPr>
              <a:t>External context may be cited with a named source and a link (CDC, Munich Re), and only after verification at source and external-use approval</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Never automated underwriting, never automatic fraud detection, never standalone decisioning</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employment screening</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"best-in-class repeatability", which the shipped deck currently contains and which is a banned word</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HIPAA applicability to life insurers varies, so do not assert it as given. Confirm per prospect</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26 / 61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4.5</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Health plans and employer wellness</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Verify wellness progress remotely to reduce disputes, boost participation, and improve program reporting</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Rewards verification. Fairness and consistency is what this buyer actually worries about.</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Health insurers running wellness incentive programs, Medicare Advantage providers, self-insured employers, employer benefit and wellness platforms, population-health vendors. Large enterprise, $5M+ annual revenue. USA, Canada, UK, Germany, UAE, Australia.</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Manual wellness verification is an administrative load and self report is unreliable. Hybrid and remote workforces complicate onsite screening. Complex verification cuts participation, delayed verification weakens the reward's motivational effect, and disputes and inconsistent submissions undermine fairness and trust.</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Remote, standardized, audit-ready verification of a biometric milestone, with fraud-prevention support and consistent treatment across a distributed population.</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CHRO · Head of Wellness or Director of Wellbeing · VP Population Health · Chief Medical Officer · Health Plan Operations Director · Compliance and Risk · Wellness Program Administrator.</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Outcomes slide on participation, dispute volume and cost per validated check-in. A fairness and consistency slide. Compliance and data-governance slide elevated.</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Does not exist. Middle of funnel: "See how remote verification fits an incentive program". Bottom: "Book a demo".</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No customer. NEEDS PROOF, flag to Vadim</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Bupa Rewards is noted internally as a public reference for what a good program looks like. It is not a 3DLOOK customer and must never be presented as one</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Build on the product proof set and the governance set</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Participation-rate and dispute-rate figures do not exist. Use them as "track with" metric categories, never as claimed results</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No medical or diagnostic claims</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imply the reward or the eligibility decision is automated</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Keep every benefit claim soft: supports, may reduce, can help</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27 / 61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4.6</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Bariatric and metabolic clinics</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Pre-qualify patients remotely to reduce wasted consults, speed pre-auth, and improve conversion to procedures</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Pre-qualification. This vertical is better served first by a use-case one-pager for business development.</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Bariatric surgery centres, hospital programs, multi-site surgical networks, metabolic and obesity clinics. Mid to large hospital systems and surgical-centre chains. US and EU.</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Long consult waitlists, a high rate of late-stage disqualification that wastes consult slots, pre-authorization backlogs, and staff time consumed per pre-authorization.</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Remote pre-qualification before the consult, producing a structured record that supports pre-authorization documentation.</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Director of Operations · Medical Director · VP Patient Access · COO for multi-site networks.</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Journey slide from enquiry through remote pre-screen to consult booking. Operational slide on throughput and staff time.</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Later. Start with the use-case one-pager for business development, not a page.</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No customer. NEEDS PROOF, flag to Vadim. Product proof set only</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KPI categories to offer as "track with": consult-to-procedure conversion, pre-authorization cycle time, wasted consult rate, staff time per pre-authorization</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use-cases/fx-bariatric-pre-auth.md exists as the starting point</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Never a surgical candidacy determination</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a claim about anaesthetic or surgical risk</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guaranteed payer approval</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28 / 61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4.7</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Occupational health and pre-employment screening</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Standardize screening intake remotely to increase throughput, reduce rescreens, and speed clearance decisions</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This is the vertical where a claims slip is most expensive. Get a legal read on the framing before any public page.</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Occupational health providers, workforce screening vendors, workers' compensation and absence administrators, large multi-site employers. Mid to large. US and EU.</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Throughput per clinic per day, rescreen and rework rates, time to clearance, and audit readiness across sites that each do it slightly differently.</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Standardized remote intake that reduces variability between sites and reviewers, with a documented record.</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VP Operations or COO · Chief Medical Officer · Director of Clinical Services · Head of Occupational Health.</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Multi-site standardization slide. Audit-readiness slide. Journey slide from candidate invitation to clearance review.</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Later. Get a legal read on the framing before any public page in this vertical.</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No customer. NEEDS PROOF, flag to Vadim. Product proof set only</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Repeatability and the multi-site standardization argument carry this vertical</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The governance set: audit trails, timestamps, quality flags, failure reasons</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Never a fitness-for-duty determination, never clearance decisioning, never a hiring decision, never a medical assessment</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The framing is intake standardization and documentation. The determination is the provider's</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Employment screening is explicitly excluded from what FitXpress claims</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29 / 61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4.8</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Clinical trials, CROs and pharma sponsors</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Standardize anthropometrics across sites and reduce visit burden to improve data quality and retention</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Contract Research Organization (CRO). The published clinical-trials article is the best existing model for compliance scoping.</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Contract Research Organizations (CROs), pharma sponsors running metabolic and obesity trials, academic research networks, decentralized clinical trial (DCT) platforms. Global.</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Site-to-site variability in anthropometric measurement, coordinator time per visit, retention and dropout, screen-failure rate, and audit findings on measurement variability across sites.</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Standardized anthropometric capture with a timestamped, structured record that reduces visit burden and inter-site variability.</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Director of Clinical Operations · VP Decentralized or Hybrid Trials · Head of Site Management · Director of Data Management.</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Variability-across-sites problem slide. Data-management and export slide, since Electronic Data Capture (EDC) and electronic Clinical Outcome Assessment (eCOA) integration questions will come up. Audit-trail slide.</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Later. The published article already covers the top of the funnel for this vertical.</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No customer. NEEDS PROOF, flag to Vadim. Product proof set, and the repeatability figures specifically, which are the argument here</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The published article clinical-trials-anthropometric-measurement.md is the best existing model. Read its known_issues frontmatter to avoid repeating its M1 and M2 slips</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Repeatability by measurement: chest 0.60 cm, waist 0.89 cm, knee 0.12 cm, ankle 0.07 cm</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Never endpoint validation</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a claim of protocol or regulatory compliance</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a Good Clinical Practice (GCP) or Food and Drug Administration (FDA) qualification claim</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Expand every regulator and standard at first use, which is exactly where this vertical's drafts slip</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30 / 61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4.9</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Connected and digital fitness</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Give members visible body progress, and give the product a reason to be renewed</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The tone here is lighter and less clinical than every other segment in this library.</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Connected fitness platforms, digital fitness and coaching apps, virtual personal training, fitness subscription platforms, corporate wellness and fitness platforms. Series B to public, $1M+ annual revenue, strong recurring-subscription focus. US, UK, Canada, Germany, UAE, Australia, Nordics.</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Users lose motivation without visible progress, churn after onboarding is high, personalization is limited to surveys and stated goals, and the market is crowded and competing on user experience. Rising acquisition cost demands stronger engagement.</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Visible transformation and body-data personalization as an engagement and premium-tier mechanic.</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Founder or CEO · Chief Product Officer · Head of Growth · VP User Engagement or Retention · CTO · Product Manager.</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Engagement and retention outcomes slide. A visual-progress slide carrying more weight than the accuracy slide. Shorter deck overall, 12 to 15 slides.</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/fitxpress/for-connected-and-digital-fitness/ exists at about 1,352 words with no FAQ and no schema. Two jobs: add the FAQ block with FAQPage schema, and resolve the URL, which sits on a /fitxpress/ path level that redirects. Coordinate with Vadim.</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proof-points.md holds no named fitness customer. NEEDS PROOF, flag to Vadim</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Names circulating in the sales deck and the telehealth page draft are not in proof-points.md or case-studies/, so they are unusable until Vadim adds them with permission</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Build on 80+ measurements, body composition outputs, the target-weight 3D visualization, side-by-side longitudinal comparison, under 45 seconds, repeatability &lt; 1 cm</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No medical, diagnostic or clearance language at all</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Do not blur into GLP-1 clinical workflows or wellness-rewards verification</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This is the one vertical where the clinical register actively hurts the pitch</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31 / 61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4.10</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Plastic surgery clinics, Turkey first</a:t>
            </a:r>
          </a:p>
        </p:txBody>
      </p:sp>
      <p:sp>
        <p:nvSpPr>
          <p:cNvPr id="4" name="Rounded Rectangle 3"/>
          <p:cNvSpPr/>
          <p:nvPr/>
        </p:nvSpPr>
        <p:spPr>
          <a:xfrm>
            <a:off x="658368" y="1097280"/>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216152"/>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HERO OUTCOME</a:t>
            </a:r>
          </a:p>
        </p:txBody>
      </p:sp>
      <p:sp>
        <p:nvSpPr>
          <p:cNvPr id="6" name="TextBox 5"/>
          <p:cNvSpPr txBox="1"/>
          <p:nvPr/>
        </p:nvSpPr>
        <p:spPr>
          <a:xfrm>
            <a:off x="877824" y="1408176"/>
            <a:ext cx="10418033" cy="182880"/>
          </a:xfrm>
          <a:prstGeom prst="rect">
            <a:avLst/>
          </a:prstGeom>
          <a:noFill/>
        </p:spPr>
        <p:txBody>
          <a:bodyPr wrap="square" lIns="0" rIns="0" tIns="0" bIns="0" anchor="t">
            <a:spAutoFit/>
          </a:bodyPr>
          <a:lstStyle/>
          <a:p>
            <a:pPr algn="l">
              <a:lnSpc>
                <a:spcPct val="114000"/>
              </a:lnSpc>
            </a:pPr>
            <a:r>
              <a:rPr sz="1300" b="1" i="0">
                <a:solidFill>
                  <a:srgbClr val="FFFFFF"/>
                </a:solidFill>
                <a:latin typeface="Satoshi"/>
              </a:rPr>
              <a:t>Pre-qualify international patients before they book a flight</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Turkey is the priority geography for medical tourism, then USA, Canada, UK, Germany, UAE, Australia.</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Plastic surgery clinics and aesthetic medicine centres. Large, 10+ surgeons and 50+ procedures a month, or mid-sized, 3 to 10 surgeons and 20 to 50 procedures a month. $1M+ annual revenue, premium pricing.</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High drop-off between consultation and surgery because patients are disqualified at the last moment on Body Mass Index (BMI). Wasted in-person consult slots. No reliable remote pre-screen, and ordinary scales are not enough. Fat distribution and composition affect surgical outcome but are poorly measured before the visit.</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Remote pre-qualification on BMI and body composition before travel or a consult, and better structured input for surgical planning.</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Clinic Owner or Director · Plastic Surgeon · Project Manager or Technical Lead.</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Not yet. When it is unblocked: a medical-tourism funnel journey slide, and a coordinator-workflow slide, since the coordinator is the daily user.</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Not yet.</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No customer, no use-case file, and no vertical proof</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NEEDS PROOF and NEEDS A USE-CASE FILE. use-cases/fx-plastic-surgery.md does not exist. Flag to Vadim</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Do not build a deck until at least the use-case file exists, because the vertical-context slot cannot be filled from any current source: who signs off, how the medical-tourism funnel runs, what the coordinator does with a flagged scan</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Never a diagnostic claim</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an anaesthesia-risk or surgical-risk claim</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a replacement for surgeon assessment</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The framing is support for pre-screening and planning</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32 / 61</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04 · USE-CASE LIBRARY  ·  4.11</a:t>
            </a:r>
          </a:p>
        </p:txBody>
      </p:sp>
      <p:sp>
        <p:nvSpPr>
          <p:cNvPr id="3" name="TextBox 2"/>
          <p:cNvSpPr txBox="1"/>
          <p:nvPr/>
        </p:nvSpPr>
        <p:spPr>
          <a:xfrm>
            <a:off x="658368" y="640080"/>
            <a:ext cx="10875233" cy="402336"/>
          </a:xfrm>
          <a:prstGeom prst="rect">
            <a:avLst/>
          </a:prstGeom>
          <a:noFill/>
        </p:spPr>
        <p:txBody>
          <a:bodyPr wrap="square" lIns="0" rIns="0" tIns="0" bIns="0" anchor="t">
            <a:spAutoFit/>
          </a:bodyPr>
          <a:lstStyle/>
          <a:p>
            <a:pPr algn="l">
              <a:lnSpc>
                <a:spcPct val="106000"/>
              </a:lnSpc>
            </a:pPr>
            <a:r>
              <a:rPr sz="2600" b="1" i="0">
                <a:solidFill>
                  <a:srgbClr val="050F40"/>
                </a:solidFill>
                <a:latin typeface="Satoshi"/>
              </a:rPr>
              <a:t>BCRL detection and monitoring, oncology survivorship</a:t>
            </a:r>
          </a:p>
        </p:txBody>
      </p:sp>
      <p:sp>
        <p:nvSpPr>
          <p:cNvPr id="4" name="Rounded Rectangle 3"/>
          <p:cNvSpPr/>
          <p:nvPr/>
        </p:nvSpPr>
        <p:spPr>
          <a:xfrm>
            <a:off x="658368" y="1097280"/>
            <a:ext cx="10875233" cy="603504"/>
          </a:xfrm>
          <a:prstGeom prst="roundRect">
            <a:avLst>
              <a:gd name="adj" fmla="val 42087"/>
            </a:avLst>
          </a:prstGeom>
          <a:solidFill>
            <a:srgbClr val="F2F2F2"/>
          </a:solidFill>
          <a:ln w="15240">
            <a:solidFill>
              <a:srgbClr val="D1D1D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197864"/>
            <a:ext cx="2103120" cy="164592"/>
          </a:xfrm>
          <a:prstGeom prst="rect">
            <a:avLst/>
          </a:prstGeom>
          <a:noFill/>
        </p:spPr>
        <p:txBody>
          <a:bodyPr wrap="square" lIns="0" rIns="0" tIns="0" bIns="0" anchor="t">
            <a:spAutoFit/>
          </a:bodyPr>
          <a:lstStyle/>
          <a:p>
            <a:pPr algn="l">
              <a:lnSpc>
                <a:spcPct val="128000"/>
              </a:lnSpc>
            </a:pPr>
            <a:r>
              <a:rPr sz="800" b="1" i="0">
                <a:solidFill>
                  <a:srgbClr val="808080"/>
                </a:solidFill>
                <a:latin typeface="Satoshi"/>
              </a:rPr>
              <a:t>HERO OUTCOME</a:t>
            </a:r>
          </a:p>
        </p:txBody>
      </p:sp>
      <p:sp>
        <p:nvSpPr>
          <p:cNvPr id="6" name="TextBox 5"/>
          <p:cNvSpPr txBox="1"/>
          <p:nvPr/>
        </p:nvSpPr>
        <p:spPr>
          <a:xfrm>
            <a:off x="877824" y="1371600"/>
            <a:ext cx="10418033" cy="274320"/>
          </a:xfrm>
          <a:prstGeom prst="rect">
            <a:avLst/>
          </a:prstGeom>
          <a:noFill/>
        </p:spPr>
        <p:txBody>
          <a:bodyPr wrap="square" lIns="0" rIns="0" tIns="0" bIns="0" anchor="t">
            <a:spAutoFit/>
          </a:bodyPr>
          <a:lstStyle/>
          <a:p>
            <a:pPr algn="l">
              <a:lnSpc>
                <a:spcPct val="114000"/>
              </a:lnSpc>
            </a:pPr>
            <a:r>
              <a:rPr sz="1150" b="1" i="0">
                <a:solidFill>
                  <a:srgbClr val="4C4C4C"/>
                </a:solidFill>
                <a:latin typeface="Satoshi"/>
              </a:rPr>
              <a:t>Not yet writable. Any outcome line here would rest on a volumetric-asymmetry tracking claim that no current proof point supports</a:t>
            </a:r>
          </a:p>
        </p:txBody>
      </p:sp>
      <p:sp>
        <p:nvSpPr>
          <p:cNvPr id="7" name="TextBox 6"/>
          <p:cNvSpPr txBox="1"/>
          <p:nvPr/>
        </p:nvSpPr>
        <p:spPr>
          <a:xfrm>
            <a:off x="658368" y="1755648"/>
            <a:ext cx="10875233" cy="182880"/>
          </a:xfrm>
          <a:prstGeom prst="rect">
            <a:avLst/>
          </a:prstGeom>
          <a:noFill/>
        </p:spPr>
        <p:txBody>
          <a:bodyPr wrap="square" lIns="0" rIns="0" tIns="0" bIns="0" anchor="t">
            <a:spAutoFit/>
          </a:bodyPr>
          <a:lstStyle/>
          <a:p>
            <a:pPr algn="l">
              <a:lnSpc>
                <a:spcPct val="128000"/>
              </a:lnSpc>
            </a:pPr>
            <a:r>
              <a:rPr sz="819" b="0" i="1">
                <a:solidFill>
                  <a:srgbClr val="666666"/>
                </a:solidFill>
                <a:latin typeface="Satoshi"/>
              </a:rPr>
              <a:t>Breast cancer-related lymphedema (BCRL). Blocked pending proof and a Whitney review.</a:t>
            </a:r>
          </a:p>
        </p:txBody>
      </p:sp>
      <p:sp>
        <p:nvSpPr>
          <p:cNvPr id="8" name="Rounded Rectangle 7"/>
          <p:cNvSpPr/>
          <p:nvPr/>
        </p:nvSpPr>
        <p:spPr>
          <a:xfrm>
            <a:off x="658368"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Ideal customer profile</a:t>
            </a:r>
          </a:p>
        </p:txBody>
      </p:sp>
      <p:sp>
        <p:nvSpPr>
          <p:cNvPr id="11" name="TextBox 10"/>
          <p:cNvSpPr txBox="1"/>
          <p:nvPr/>
        </p:nvSpPr>
        <p:spPr>
          <a:xfrm>
            <a:off x="868680"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Oncology survivorship platforms, breast-cancer aftercare clinics, remote patient monitoring providers, cancer care networks, lymphedema and rehabilitation teams, cancer treatment centres and hospital systems. $2M+ annual revenue. USA, Canada, Germany, UAE, Australia.</a:t>
            </a:r>
          </a:p>
        </p:txBody>
      </p:sp>
      <p:sp>
        <p:nvSpPr>
          <p:cNvPr id="12" name="Rounded Rectangle 11"/>
          <p:cNvSpPr/>
          <p:nvPr/>
        </p:nvSpPr>
        <p:spPr>
          <a:xfrm>
            <a:off x="4338309"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38309"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48621"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Core pain</a:t>
            </a:r>
          </a:p>
        </p:txBody>
      </p:sp>
      <p:sp>
        <p:nvSpPr>
          <p:cNvPr id="15" name="TextBox 14"/>
          <p:cNvSpPr txBox="1"/>
          <p:nvPr/>
        </p:nvSpPr>
        <p:spPr>
          <a:xfrm>
            <a:off x="4548621"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BCRL is underdiagnosed early. Tape measurement is inconsistent and hard to reproduce at home. In-clinic monitoring does not scale and long-term self-monitoring adherence is weak. Subtle volumetric and asymmetry changes are hard to capture, and documentation is slow and manual.</a:t>
            </a:r>
          </a:p>
        </p:txBody>
      </p:sp>
      <p:sp>
        <p:nvSpPr>
          <p:cNvPr id="16" name="Rounded Rectangle 15"/>
          <p:cNvSpPr/>
          <p:nvPr/>
        </p:nvSpPr>
        <p:spPr>
          <a:xfrm>
            <a:off x="8018251" y="2011680"/>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8251" y="2011680"/>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8563" y="2148840"/>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The FitXpress fit</a:t>
            </a:r>
          </a:p>
        </p:txBody>
      </p:sp>
      <p:sp>
        <p:nvSpPr>
          <p:cNvPr id="19" name="TextBox 18"/>
          <p:cNvSpPr txBox="1"/>
          <p:nvPr/>
        </p:nvSpPr>
        <p:spPr>
          <a:xfrm>
            <a:off x="8228563" y="2354275"/>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Remote longitudinal monitoring support and reproducible digital body records, with engagement through visual 3D comparison.</a:t>
            </a:r>
          </a:p>
        </p:txBody>
      </p:sp>
      <p:sp>
        <p:nvSpPr>
          <p:cNvPr id="20" name="Rounded Rectangle 19"/>
          <p:cNvSpPr/>
          <p:nvPr/>
        </p:nvSpPr>
        <p:spPr>
          <a:xfrm>
            <a:off x="658368"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8680"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Buyer titles</a:t>
            </a:r>
          </a:p>
        </p:txBody>
      </p:sp>
      <p:sp>
        <p:nvSpPr>
          <p:cNvPr id="23" name="TextBox 22"/>
          <p:cNvSpPr txBox="1"/>
          <p:nvPr/>
        </p:nvSpPr>
        <p:spPr>
          <a:xfrm>
            <a:off x="868680"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Chief Medical Officer · Oncology Program Director · Survivorship Care Leader · Remote Patient Monitoring Director · Rehabilitation and Lymphedema Specialist · Digital Health Product Manager · CTO.</a:t>
            </a:r>
          </a:p>
        </p:txBody>
      </p:sp>
      <p:sp>
        <p:nvSpPr>
          <p:cNvPr id="24" name="Rounded Rectangle 23"/>
          <p:cNvSpPr/>
          <p:nvPr/>
        </p:nvSpPr>
        <p:spPr>
          <a:xfrm>
            <a:off x="4338309"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38309"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48621"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Deck localization</a:t>
            </a:r>
          </a:p>
        </p:txBody>
      </p:sp>
      <p:sp>
        <p:nvSpPr>
          <p:cNvPr id="27" name="TextBox 26"/>
          <p:cNvSpPr txBox="1"/>
          <p:nvPr/>
        </p:nvSpPr>
        <p:spPr>
          <a:xfrm>
            <a:off x="4548621"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Blocked. Recommendation: treat this as a research request to product before it is treated as a marketing request.</a:t>
            </a:r>
          </a:p>
        </p:txBody>
      </p:sp>
      <p:sp>
        <p:nvSpPr>
          <p:cNvPr id="28" name="Rounded Rectangle 27"/>
          <p:cNvSpPr/>
          <p:nvPr/>
        </p:nvSpPr>
        <p:spPr>
          <a:xfrm>
            <a:off x="8018251" y="3364992"/>
            <a:ext cx="3515349" cy="1188720"/>
          </a:xfrm>
          <a:prstGeom prst="roundRect">
            <a:avLst>
              <a:gd name="adj" fmla="val 21367"/>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18251" y="3364992"/>
            <a:ext cx="50292" cy="1188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8563" y="3502152"/>
            <a:ext cx="3149589" cy="141427"/>
          </a:xfrm>
          <a:prstGeom prst="rect">
            <a:avLst/>
          </a:prstGeom>
          <a:noFill/>
        </p:spPr>
        <p:txBody>
          <a:bodyPr wrap="square" lIns="0" rIns="0" tIns="0" bIns="0" anchor="t">
            <a:spAutoFit/>
          </a:bodyPr>
          <a:lstStyle/>
          <a:p>
            <a:pPr algn="l">
              <a:lnSpc>
                <a:spcPct val="114000"/>
              </a:lnSpc>
            </a:pPr>
            <a:r>
              <a:rPr sz="960" b="1" i="0">
                <a:solidFill>
                  <a:srgbClr val="050F40"/>
                </a:solidFill>
                <a:latin typeface="Satoshi"/>
              </a:rPr>
              <a:t>Landing page</a:t>
            </a:r>
          </a:p>
        </p:txBody>
      </p:sp>
      <p:sp>
        <p:nvSpPr>
          <p:cNvPr id="31" name="TextBox 30"/>
          <p:cNvSpPr txBox="1"/>
          <p:nvPr/>
        </p:nvSpPr>
        <p:spPr>
          <a:xfrm>
            <a:off x="8228563" y="3707587"/>
            <a:ext cx="3149589" cy="690676"/>
          </a:xfrm>
          <a:prstGeom prst="rect">
            <a:avLst/>
          </a:prstGeom>
          <a:noFill/>
        </p:spPr>
        <p:txBody>
          <a:bodyPr wrap="square" lIns="0" rIns="0" tIns="0" bIns="0" anchor="t">
            <a:spAutoFit/>
          </a:bodyPr>
          <a:lstStyle/>
          <a:p>
            <a:pPr algn="l">
              <a:lnSpc>
                <a:spcPct val="130000"/>
              </a:lnSpc>
            </a:pPr>
            <a:r>
              <a:rPr sz="790" b="0" i="0">
                <a:solidFill>
                  <a:srgbClr val="4C4C4C"/>
                </a:solidFill>
                <a:latin typeface="Satoshi"/>
              </a:rPr>
              <a:t>Blocked pending proof and a Whitney review.</a:t>
            </a:r>
          </a:p>
        </p:txBody>
      </p:sp>
      <p:sp>
        <p:nvSpPr>
          <p:cNvPr id="32" name="Rounded Rectangle 31"/>
          <p:cNvSpPr/>
          <p:nvPr/>
        </p:nvSpPr>
        <p:spPr>
          <a:xfrm>
            <a:off x="658368" y="4572000"/>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745736"/>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Proof to use</a:t>
            </a:r>
          </a:p>
        </p:txBody>
      </p:sp>
      <p:sp>
        <p:nvSpPr>
          <p:cNvPr id="34" name="TextBox 33"/>
          <p:cNvSpPr txBox="1"/>
          <p:nvPr/>
        </p:nvSpPr>
        <p:spPr>
          <a:xfrm>
            <a:off x="859536"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143DFF"/>
                </a:solidFill>
                <a:latin typeface="Satoshi"/>
              </a:rPr>
              <a:t>·  </a:t>
            </a:r>
            <a:r>
              <a:rPr sz="819" b="0" i="0">
                <a:solidFill>
                  <a:srgbClr val="4C4C4C"/>
                </a:solidFill>
                <a:latin typeface="Satoshi"/>
              </a:rPr>
              <a:t>NONE. This segment has no proof point and no use-case file</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icp-detail.md records explicitly that the clinically relevant metric, volumetric asymmetry tracking accuracy, is absent from proof-points.md</a:t>
            </a:r>
          </a:p>
          <a:p>
            <a:pPr algn="l">
              <a:lnSpc>
                <a:spcPct val="126000"/>
              </a:lnSpc>
              <a:spcAft>
                <a:spcPts val="340"/>
              </a:spcAft>
            </a:pPr>
            <a:r>
              <a:rPr sz="819" b="1" i="0">
                <a:solidFill>
                  <a:srgbClr val="143DFF"/>
                </a:solidFill>
                <a:latin typeface="Satoshi"/>
              </a:rPr>
              <a:t>·  </a:t>
            </a:r>
            <a:r>
              <a:rPr sz="819" b="0" i="0">
                <a:solidFill>
                  <a:srgbClr val="4C4C4C"/>
                </a:solidFill>
                <a:latin typeface="Satoshi"/>
              </a:rPr>
              <a:t>Flag to Vadim. No deck, no page, no one-pager until a validated metric exists and Whitney has reviewed the framing</a:t>
            </a:r>
          </a:p>
        </p:txBody>
      </p:sp>
      <p:sp>
        <p:nvSpPr>
          <p:cNvPr id="35" name="Rounded Rectangle 34"/>
          <p:cNvSpPr/>
          <p:nvPr/>
        </p:nvSpPr>
        <p:spPr>
          <a:xfrm>
            <a:off x="6205712" y="4572000"/>
            <a:ext cx="5327888" cy="1792224"/>
          </a:xfrm>
          <a:prstGeom prst="roundRect">
            <a:avLst>
              <a:gd name="adj" fmla="val 14172"/>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06880" y="4745736"/>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What NOT to say</a:t>
            </a:r>
          </a:p>
        </p:txBody>
      </p:sp>
      <p:sp>
        <p:nvSpPr>
          <p:cNvPr id="37" name="TextBox 36"/>
          <p:cNvSpPr txBox="1"/>
          <p:nvPr/>
        </p:nvSpPr>
        <p:spPr>
          <a:xfrm>
            <a:off x="6406880" y="5102352"/>
            <a:ext cx="4925552" cy="1078992"/>
          </a:xfrm>
          <a:prstGeom prst="rect">
            <a:avLst/>
          </a:prstGeom>
          <a:noFill/>
        </p:spPr>
        <p:txBody>
          <a:bodyPr wrap="square" lIns="0" rIns="0" tIns="0" bIns="0" anchor="t">
            <a:spAutoFit/>
          </a:bodyPr>
          <a:lstStyle/>
          <a:p>
            <a:pPr algn="l">
              <a:lnSpc>
                <a:spcPct val="126000"/>
              </a:lnSpc>
              <a:spcAft>
                <a:spcPts val="340"/>
              </a:spcAft>
            </a:pPr>
            <a:r>
              <a:rPr sz="819" b="1" i="0">
                <a:solidFill>
                  <a:srgbClr val="050F40"/>
                </a:solidFill>
                <a:latin typeface="Satoshi"/>
              </a:rPr>
              <a:t>·  </a:t>
            </a:r>
            <a:r>
              <a:rPr sz="819" b="0" i="0">
                <a:solidFill>
                  <a:srgbClr val="4C4C4C"/>
                </a:solidFill>
                <a:latin typeface="Satoshi"/>
              </a:rPr>
              <a:t>Never detect or diagnose lymphedema or BCRL</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Never replace clinical assessment</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"Supports monitoring workflows" is the only safe frame</a:t>
            </a:r>
          </a:p>
          <a:p>
            <a:pPr algn="l">
              <a:lnSpc>
                <a:spcPct val="126000"/>
              </a:lnSpc>
              <a:spcAft>
                <a:spcPts val="340"/>
              </a:spcAft>
            </a:pPr>
            <a:r>
              <a:rPr sz="819" b="1" i="0">
                <a:solidFill>
                  <a:srgbClr val="050F40"/>
                </a:solidFill>
                <a:latin typeface="Satoshi"/>
              </a:rPr>
              <a:t>·  </a:t>
            </a:r>
            <a:r>
              <a:rPr sz="819" b="0" i="0">
                <a:solidFill>
                  <a:srgbClr val="4C4C4C"/>
                </a:solidFill>
                <a:latin typeface="Satoshi"/>
              </a:rPr>
              <a:t>This is the most compliance-sensitive vertical in the whole portfolio</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33 / 61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05</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Deck build playbook</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The first of the two production lines. A fixed spine of product truth, plus localization.</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34 / 61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05 · DECK BUILD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principle, and the lengths</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A vertical deck is not written from scratch. Building it any other way is how two decks end up quoting two different numbers for the same thing.</a:t>
            </a:r>
          </a:p>
        </p:txBody>
      </p:sp>
      <p:sp>
        <p:nvSpPr>
          <p:cNvPr id="5" name="Rectangle 4"/>
          <p:cNvSpPr/>
          <p:nvPr/>
        </p:nvSpPr>
        <p:spPr>
          <a:xfrm>
            <a:off x="658368" y="1828800"/>
            <a:ext cx="6525140" cy="566928"/>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183508" y="1828800"/>
            <a:ext cx="4350093" cy="56692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59536" y="1938528"/>
            <a:ext cx="6122804" cy="384048"/>
          </a:xfrm>
          <a:prstGeom prst="rect">
            <a:avLst/>
          </a:prstGeom>
          <a:noFill/>
        </p:spPr>
        <p:txBody>
          <a:bodyPr wrap="square" lIns="0" rIns="0" tIns="0" bIns="0" anchor="ctr">
            <a:spAutoFit/>
          </a:bodyPr>
          <a:lstStyle/>
          <a:p>
            <a:pPr algn="l">
              <a:lnSpc>
                <a:spcPct val="128000"/>
              </a:lnSpc>
            </a:pPr>
            <a:r>
              <a:rPr sz="1200" b="1" i="0">
                <a:solidFill>
                  <a:srgbClr val="FFFFFF"/>
                </a:solidFill>
                <a:latin typeface="Satoshi"/>
              </a:rPr>
              <a:t>About 60%: a fixed spine of product truth, identical in every vertical</a:t>
            </a:r>
          </a:p>
        </p:txBody>
      </p:sp>
      <p:sp>
        <p:nvSpPr>
          <p:cNvPr id="8" name="TextBox 7"/>
          <p:cNvSpPr txBox="1"/>
          <p:nvPr/>
        </p:nvSpPr>
        <p:spPr>
          <a:xfrm>
            <a:off x="7384676" y="1938528"/>
            <a:ext cx="3947757" cy="384048"/>
          </a:xfrm>
          <a:prstGeom prst="rect">
            <a:avLst/>
          </a:prstGeom>
          <a:noFill/>
        </p:spPr>
        <p:txBody>
          <a:bodyPr wrap="square" lIns="0" rIns="0" tIns="0" bIns="0" anchor="ctr">
            <a:spAutoFit/>
          </a:bodyPr>
          <a:lstStyle/>
          <a:p>
            <a:pPr algn="l">
              <a:lnSpc>
                <a:spcPct val="128000"/>
              </a:lnSpc>
            </a:pPr>
            <a:r>
              <a:rPr sz="1200" b="1" i="0">
                <a:solidFill>
                  <a:srgbClr val="FFFFFF"/>
                </a:solidFill>
                <a:latin typeface="Satoshi"/>
              </a:rPr>
              <a:t>About 40%: localization</a:t>
            </a:r>
          </a:p>
        </p:txBody>
      </p:sp>
      <p:sp>
        <p:nvSpPr>
          <p:cNvPr id="9" name="TextBox 8"/>
          <p:cNvSpPr txBox="1"/>
          <p:nvPr/>
        </p:nvSpPr>
        <p:spPr>
          <a:xfrm>
            <a:off x="658368" y="2542032"/>
            <a:ext cx="10875233" cy="420624"/>
          </a:xfrm>
          <a:prstGeom prst="rect">
            <a:avLst/>
          </a:prstGeom>
          <a:noFill/>
        </p:spPr>
        <p:txBody>
          <a:bodyPr wrap="square" lIns="0" rIns="0" tIns="0" bIns="0" anchor="t">
            <a:spAutoFit/>
          </a:bodyPr>
          <a:lstStyle/>
          <a:p>
            <a:pPr algn="l">
              <a:lnSpc>
                <a:spcPct val="130000"/>
              </a:lnSpc>
            </a:pPr>
            <a:r>
              <a:rPr sz="1000" b="0" i="0">
                <a:solidFill>
                  <a:srgbClr val="4C4C4C"/>
                </a:solidFill>
                <a:latin typeface="Satoshi"/>
              </a:rPr>
              <a:t>The exemplar is fitxpress-insurance-underwriting-deck-copy.md. It is 29 slides built by localizing the telehealth deck, and it documents its own text-fit review and its own open items at the end. Copy that discipline, and copy its structure. Do not copy its two banned-word slips, which are items 9 and 10 in section 9.</a:t>
            </a:r>
          </a:p>
        </p:txBody>
      </p:sp>
      <p:sp>
        <p:nvSpPr>
          <p:cNvPr id="10" name="TextBox 9"/>
          <p:cNvSpPr txBox="1"/>
          <p:nvPr/>
        </p:nvSpPr>
        <p:spPr>
          <a:xfrm>
            <a:off x="658368" y="3072384"/>
            <a:ext cx="10875233" cy="219456"/>
          </a:xfrm>
          <a:prstGeom prst="rect">
            <a:avLst/>
          </a:prstGeom>
          <a:noFill/>
        </p:spPr>
        <p:txBody>
          <a:bodyPr wrap="square" lIns="0" rIns="0" tIns="0" bIns="0" anchor="t">
            <a:spAutoFit/>
          </a:bodyPr>
          <a:lstStyle/>
          <a:p>
            <a:pPr algn="l">
              <a:lnSpc>
                <a:spcPct val="128000"/>
              </a:lnSpc>
            </a:pPr>
            <a:r>
              <a:rPr sz="860" b="1" i="0">
                <a:solidFill>
                  <a:srgbClr val="143DFF"/>
                </a:solidFill>
                <a:latin typeface="Satoshi"/>
              </a:rPr>
              <a:t>DECK LENGTHS</a:t>
            </a:r>
          </a:p>
        </p:txBody>
      </p:sp>
      <p:sp>
        <p:nvSpPr>
          <p:cNvPr id="11" name="Rectangle 10"/>
          <p:cNvSpPr/>
          <p:nvPr/>
        </p:nvSpPr>
        <p:spPr>
          <a:xfrm>
            <a:off x="658368" y="3328415"/>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378708"/>
            <a:ext cx="2427176"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Deck</a:t>
            </a:r>
          </a:p>
        </p:txBody>
      </p:sp>
      <p:sp>
        <p:nvSpPr>
          <p:cNvPr id="13" name="TextBox 12"/>
          <p:cNvSpPr txBox="1"/>
          <p:nvPr/>
        </p:nvSpPr>
        <p:spPr>
          <a:xfrm>
            <a:off x="3369008" y="3378708"/>
            <a:ext cx="2644680"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Slides</a:t>
            </a:r>
          </a:p>
        </p:txBody>
      </p:sp>
      <p:sp>
        <p:nvSpPr>
          <p:cNvPr id="14" name="TextBox 13"/>
          <p:cNvSpPr txBox="1"/>
          <p:nvPr/>
        </p:nvSpPr>
        <p:spPr>
          <a:xfrm>
            <a:off x="6196568" y="3378708"/>
            <a:ext cx="5254736"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Use</a:t>
            </a:r>
          </a:p>
        </p:txBody>
      </p:sp>
      <p:sp>
        <p:nvSpPr>
          <p:cNvPr id="15" name="Rectangle 14"/>
          <p:cNvSpPr/>
          <p:nvPr/>
        </p:nvSpPr>
        <p:spPr>
          <a:xfrm>
            <a:off x="658368" y="3602735"/>
            <a:ext cx="10875233" cy="32918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602735"/>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58952" y="3643883"/>
            <a:ext cx="2427176" cy="274320"/>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Demo deck</a:t>
            </a:r>
          </a:p>
        </p:txBody>
      </p:sp>
      <p:sp>
        <p:nvSpPr>
          <p:cNvPr id="18" name="TextBox 17"/>
          <p:cNvSpPr txBox="1"/>
          <p:nvPr/>
        </p:nvSpPr>
        <p:spPr>
          <a:xfrm>
            <a:off x="3369008" y="3643883"/>
            <a:ext cx="2644680" cy="27432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19 core plus appendix, 25 to 29 total</a:t>
            </a:r>
          </a:p>
        </p:txBody>
      </p:sp>
      <p:sp>
        <p:nvSpPr>
          <p:cNvPr id="19" name="TextBox 18"/>
          <p:cNvSpPr txBox="1"/>
          <p:nvPr/>
        </p:nvSpPr>
        <p:spPr>
          <a:xfrm>
            <a:off x="6196568" y="3643883"/>
            <a:ext cx="5254736" cy="27432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main vertical asset, sent after a demo</a:t>
            </a:r>
          </a:p>
        </p:txBody>
      </p:sp>
      <p:sp>
        <p:nvSpPr>
          <p:cNvPr id="20" name="Rectangle 19"/>
          <p:cNvSpPr/>
          <p:nvPr/>
        </p:nvSpPr>
        <p:spPr>
          <a:xfrm>
            <a:off x="658368" y="3931920"/>
            <a:ext cx="10875233"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9319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973068"/>
            <a:ext cx="2427176" cy="274320"/>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First-call deck</a:t>
            </a:r>
          </a:p>
        </p:txBody>
      </p:sp>
      <p:sp>
        <p:nvSpPr>
          <p:cNvPr id="23" name="TextBox 22"/>
          <p:cNvSpPr txBox="1"/>
          <p:nvPr/>
        </p:nvSpPr>
        <p:spPr>
          <a:xfrm>
            <a:off x="3369008" y="3973068"/>
            <a:ext cx="2644680" cy="27432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10 to 12</a:t>
            </a:r>
          </a:p>
        </p:txBody>
      </p:sp>
      <p:sp>
        <p:nvSpPr>
          <p:cNvPr id="24" name="TextBox 23"/>
          <p:cNvSpPr txBox="1"/>
          <p:nvPr/>
        </p:nvSpPr>
        <p:spPr>
          <a:xfrm>
            <a:off x="6196568" y="3973068"/>
            <a:ext cx="5254736" cy="27432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Slides 1 to 8, plus compliance and the close</a:t>
            </a:r>
          </a:p>
        </p:txBody>
      </p:sp>
      <p:sp>
        <p:nvSpPr>
          <p:cNvPr id="25" name="Rectangle 24"/>
          <p:cNvSpPr/>
          <p:nvPr/>
        </p:nvSpPr>
        <p:spPr>
          <a:xfrm>
            <a:off x="658368" y="4261104"/>
            <a:ext cx="10875233" cy="329184"/>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58368" y="426110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952" y="4302252"/>
            <a:ext cx="2427176" cy="274320"/>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Leave-behind or two-pager</a:t>
            </a:r>
          </a:p>
        </p:txBody>
      </p:sp>
      <p:sp>
        <p:nvSpPr>
          <p:cNvPr id="28" name="TextBox 27"/>
          <p:cNvSpPr txBox="1"/>
          <p:nvPr/>
        </p:nvSpPr>
        <p:spPr>
          <a:xfrm>
            <a:off x="3369008" y="4302252"/>
            <a:ext cx="2644680" cy="27432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2 pages</a:t>
            </a:r>
          </a:p>
        </p:txBody>
      </p:sp>
      <p:sp>
        <p:nvSpPr>
          <p:cNvPr id="29" name="TextBox 28"/>
          <p:cNvSpPr txBox="1"/>
          <p:nvPr/>
        </p:nvSpPr>
        <p:spPr>
          <a:xfrm>
            <a:off x="6196568" y="4302252"/>
            <a:ext cx="5254736" cy="27432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Hero, outcomes, how it works, proof, compliance, contact</a:t>
            </a:r>
          </a:p>
        </p:txBody>
      </p:sp>
      <p:sp>
        <p:nvSpPr>
          <p:cNvPr id="30" name="Rectangle 29"/>
          <p:cNvSpPr/>
          <p:nvPr/>
        </p:nvSpPr>
        <p:spPr>
          <a:xfrm>
            <a:off x="658368" y="4590288"/>
            <a:ext cx="10875233" cy="32918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58368" y="459028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58952" y="4631436"/>
            <a:ext cx="2427176" cy="274320"/>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Conference or keynote</a:t>
            </a:r>
          </a:p>
        </p:txBody>
      </p:sp>
      <p:sp>
        <p:nvSpPr>
          <p:cNvPr id="33" name="TextBox 32"/>
          <p:cNvSpPr txBox="1"/>
          <p:nvPr/>
        </p:nvSpPr>
        <p:spPr>
          <a:xfrm>
            <a:off x="3369008" y="4631436"/>
            <a:ext cx="2644680" cy="27432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8 to 10</a:t>
            </a:r>
          </a:p>
        </p:txBody>
      </p:sp>
      <p:sp>
        <p:nvSpPr>
          <p:cNvPr id="34" name="TextBox 33"/>
          <p:cNvSpPr txBox="1"/>
          <p:nvPr/>
        </p:nvSpPr>
        <p:spPr>
          <a:xfrm>
            <a:off x="6196568" y="4631436"/>
            <a:ext cx="5254736" cy="274320"/>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Problem, why now, workflow, proof, close</a:t>
            </a:r>
          </a:p>
        </p:txBody>
      </p:sp>
      <p:sp>
        <p:nvSpPr>
          <p:cNvPr id="35" name="Rectangle 34"/>
          <p:cNvSpPr/>
          <p:nvPr/>
        </p:nvSpPr>
        <p:spPr>
          <a:xfrm>
            <a:off x="658368" y="4919472"/>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58368" y="4956048"/>
            <a:ext cx="10875233" cy="658368"/>
          </a:xfrm>
          <a:prstGeom prst="roundRect">
            <a:avLst>
              <a:gd name="adj" fmla="val 38580"/>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77824" y="5047488"/>
            <a:ext cx="10418033" cy="475488"/>
          </a:xfrm>
          <a:prstGeom prst="rect">
            <a:avLst/>
          </a:prstGeom>
          <a:noFill/>
        </p:spPr>
        <p:txBody>
          <a:bodyPr wrap="square" lIns="0" rIns="0" tIns="0" bIns="0" anchor="ctr">
            <a:spAutoFit/>
          </a:bodyPr>
          <a:lstStyle/>
          <a:p>
            <a:pPr algn="l">
              <a:lnSpc>
                <a:spcPct val="116000"/>
              </a:lnSpc>
            </a:pPr>
            <a:r>
              <a:rPr sz="1250" b="1" i="0">
                <a:solidFill>
                  <a:srgbClr val="FFFFFF"/>
                </a:solidFill>
                <a:latin typeface="Satoshi"/>
              </a:rPr>
              <a:t>About 60% of a vertical deck is product truth that must be identical everywhere. Retyping a fixed slide is how a number drifts, and a drifted number is the first thing a diligence reader catches.</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35 / 61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05 · DECK BUILD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Deck design rules, and roadmap discipline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Land the design system, do not reinvent it. And promise only what has shipped.</a:t>
            </a:r>
          </a:p>
        </p:txBody>
      </p:sp>
      <p:sp>
        <p:nvSpPr>
          <p:cNvPr id="5" name="Rounded Rectangle 4"/>
          <p:cNvSpPr/>
          <p:nvPr/>
        </p:nvSpPr>
        <p:spPr>
          <a:xfrm>
            <a:off x="658368" y="1828800"/>
            <a:ext cx="3503157" cy="2157984"/>
          </a:xfrm>
          <a:prstGeom prst="roundRect">
            <a:avLst>
              <a:gd name="adj" fmla="val 1177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21579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Deck design rules</a:t>
            </a:r>
          </a:p>
        </p:txBody>
      </p:sp>
      <p:sp>
        <p:nvSpPr>
          <p:cNvPr id="8" name="TextBox 7"/>
          <p:cNvSpPr txBox="1"/>
          <p:nvPr/>
        </p:nvSpPr>
        <p:spPr>
          <a:xfrm>
            <a:off x="886968" y="2210308"/>
            <a:ext cx="3100821" cy="1602740"/>
          </a:xfrm>
          <a:prstGeom prst="rect">
            <a:avLst/>
          </a:prstGeom>
          <a:noFill/>
        </p:spPr>
        <p:txBody>
          <a:bodyPr wrap="square" lIns="0" rIns="0" tIns="0" bIns="0" anchor="t">
            <a:spAutoFit/>
          </a:bodyPr>
          <a:lstStyle/>
          <a:p>
            <a:pPr algn="l">
              <a:lnSpc>
                <a:spcPct val="130000"/>
              </a:lnSpc>
            </a:pPr>
            <a:r>
              <a:rPr sz="860" b="0" i="0">
                <a:solidFill>
                  <a:srgbClr val="4C4C4C"/>
                </a:solidFill>
                <a:latin typeface="Satoshi"/>
              </a:rPr>
              <a:t>Navy #050F40 with the radial glow on the cover, section dividers, proof bands and the close. White on content slides. Electric blue #143DFF on one thing per slide, usually the number. Satoshi throughout, with the eyebrow label on every content slide. Proof slides lead with an oversized numeral. Prefer the three carrier assets over icon grids. Cards at 20px radius, chips at 15px. Confidentiality footer on every slide with the current month and year.</a:t>
            </a:r>
          </a:p>
        </p:txBody>
      </p:sp>
      <p:sp>
        <p:nvSpPr>
          <p:cNvPr id="9" name="Rounded Rectangle 8"/>
          <p:cNvSpPr/>
          <p:nvPr/>
        </p:nvSpPr>
        <p:spPr>
          <a:xfrm>
            <a:off x="4344405" y="1828800"/>
            <a:ext cx="3503157" cy="2157984"/>
          </a:xfrm>
          <a:prstGeom prst="roundRect">
            <a:avLst>
              <a:gd name="adj" fmla="val 1177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405" y="1828800"/>
            <a:ext cx="50292" cy="21579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3005"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One text rule that saves a rebuild</a:t>
            </a:r>
          </a:p>
        </p:txBody>
      </p:sp>
      <p:sp>
        <p:nvSpPr>
          <p:cNvPr id="12" name="TextBox 11"/>
          <p:cNvSpPr txBox="1"/>
          <p:nvPr/>
        </p:nvSpPr>
        <p:spPr>
          <a:xfrm>
            <a:off x="4573005" y="2210308"/>
            <a:ext cx="3100821" cy="1602740"/>
          </a:xfrm>
          <a:prstGeom prst="rect">
            <a:avLst/>
          </a:prstGeom>
          <a:noFill/>
        </p:spPr>
        <p:txBody>
          <a:bodyPr wrap="square" lIns="0" rIns="0" tIns="0" bIns="0" anchor="t">
            <a:spAutoFit/>
          </a:bodyPr>
          <a:lstStyle/>
          <a:p>
            <a:pPr algn="l">
              <a:lnSpc>
                <a:spcPct val="130000"/>
              </a:lnSpc>
            </a:pPr>
            <a:r>
              <a:rPr sz="860" b="0" i="0">
                <a:solidFill>
                  <a:srgbClr val="4C4C4C"/>
                </a:solidFill>
                <a:latin typeface="Satoshi"/>
              </a:rPr>
              <a:t>Write to the layout you have. If the replacement headline is much longer than what it replaces, shorten the headline rather than shrinking the type. Roughly 15% is the tolerance in the text-fit review before a layout change is needed.</a:t>
            </a:r>
          </a:p>
        </p:txBody>
      </p:sp>
      <p:sp>
        <p:nvSpPr>
          <p:cNvPr id="13" name="Rounded Rectangle 12"/>
          <p:cNvSpPr/>
          <p:nvPr/>
        </p:nvSpPr>
        <p:spPr>
          <a:xfrm>
            <a:off x="8030443" y="1828800"/>
            <a:ext cx="3503157" cy="2157984"/>
          </a:xfrm>
          <a:prstGeom prst="roundRect">
            <a:avLst>
              <a:gd name="adj" fmla="val 1177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0443" y="1828800"/>
            <a:ext cx="50292" cy="21579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9043"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Roadmap discipline</a:t>
            </a:r>
          </a:p>
        </p:txBody>
      </p:sp>
      <p:sp>
        <p:nvSpPr>
          <p:cNvPr id="16" name="TextBox 15"/>
          <p:cNvSpPr txBox="1"/>
          <p:nvPr/>
        </p:nvSpPr>
        <p:spPr>
          <a:xfrm>
            <a:off x="8259043" y="2210308"/>
            <a:ext cx="3100821" cy="1602740"/>
          </a:xfrm>
          <a:prstGeom prst="rect">
            <a:avLst/>
          </a:prstGeom>
          <a:noFill/>
        </p:spPr>
        <p:txBody>
          <a:bodyPr wrap="square" lIns="0" rIns="0" tIns="0" bIns="0" anchor="t">
            <a:spAutoFit/>
          </a:bodyPr>
          <a:lstStyle/>
          <a:p>
            <a:pPr algn="l">
              <a:lnSpc>
                <a:spcPct val="130000"/>
              </a:lnSpc>
            </a:pPr>
            <a:r>
              <a:rPr sz="860" b="0" i="0">
                <a:solidFill>
                  <a:srgbClr val="4C4C4C"/>
                </a:solidFill>
                <a:latin typeface="Satoshi"/>
              </a:rPr>
              <a:t>Only what is shipped or in progress. Safe today: the clothing detector (available in the Application Programming Interface), anti-fraud live capture (in progress, not released), audit identifiers and logs (in release). Do not promise dates for height detection, Smart Scale accuracy improvements, the landmark-detector model upgrade, or full Software Development Kit branding. Confirm with Max Kucherenko before any roadmap slide ships.</a:t>
            </a:r>
          </a:p>
        </p:txBody>
      </p:sp>
      <p:sp>
        <p:nvSpPr>
          <p:cNvPr id="17" name="Rounded Rectangle 16"/>
          <p:cNvSpPr/>
          <p:nvPr/>
        </p:nvSpPr>
        <p:spPr>
          <a:xfrm>
            <a:off x="658368" y="4169664"/>
            <a:ext cx="10875233" cy="822960"/>
          </a:xfrm>
          <a:prstGeom prst="roundRect">
            <a:avLst>
              <a:gd name="adj" fmla="val 30864"/>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288536"/>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WHEN IN DOUBT ON A ROADMAP QUESTION</a:t>
            </a:r>
          </a:p>
        </p:txBody>
      </p:sp>
      <p:sp>
        <p:nvSpPr>
          <p:cNvPr id="19" name="TextBox 18"/>
          <p:cNvSpPr txBox="1"/>
          <p:nvPr/>
        </p:nvSpPr>
        <p:spPr>
          <a:xfrm>
            <a:off x="877824" y="4480560"/>
            <a:ext cx="10418033" cy="402336"/>
          </a:xfrm>
          <a:prstGeom prst="rect">
            <a:avLst/>
          </a:prstGeom>
          <a:noFill/>
        </p:spPr>
        <p:txBody>
          <a:bodyPr wrap="square" lIns="0" rIns="0" tIns="0" bIns="0" anchor="t">
            <a:spAutoFit/>
          </a:bodyPr>
          <a:lstStyle/>
          <a:p>
            <a:pPr algn="l">
              <a:lnSpc>
                <a:spcPct val="114000"/>
              </a:lnSpc>
            </a:pPr>
            <a:r>
              <a:rPr sz="1250" b="1" i="0">
                <a:solidFill>
                  <a:srgbClr val="FFFFFF"/>
                </a:solidFill>
                <a:latin typeface="Satoshi"/>
              </a:rPr>
              <a:t>"I don't want to give you a date I can't stand behind. Let me check with our product team and get back to you today." That answer costs nothing. A promised date that slips costs the deal.</a:t>
            </a:r>
          </a:p>
        </p:txBody>
      </p:sp>
      <p:sp>
        <p:nvSpPr>
          <p:cNvPr id="20" name="TextBox 19"/>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21" name="TextBox 20"/>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36 / 61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05 · DECK BUILD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19-slide core, slides 1 to 10</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F is fixed product truth and changes only when proof-points.md changes. L is localized per vertical. Every F-slide edit needs Vadim.</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197753"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a:t>
            </a:r>
          </a:p>
        </p:txBody>
      </p:sp>
      <p:sp>
        <p:nvSpPr>
          <p:cNvPr id="7" name="TextBox 6"/>
          <p:cNvSpPr txBox="1"/>
          <p:nvPr/>
        </p:nvSpPr>
        <p:spPr>
          <a:xfrm>
            <a:off x="1139585" y="1879092"/>
            <a:ext cx="1992166"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Slide</a:t>
            </a:r>
          </a:p>
        </p:txBody>
      </p:sp>
      <p:sp>
        <p:nvSpPr>
          <p:cNvPr id="8" name="TextBox 7"/>
          <p:cNvSpPr txBox="1"/>
          <p:nvPr/>
        </p:nvSpPr>
        <p:spPr>
          <a:xfrm>
            <a:off x="3314631" y="1879092"/>
            <a:ext cx="306505"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F/L</a:t>
            </a:r>
          </a:p>
        </p:txBody>
      </p:sp>
      <p:sp>
        <p:nvSpPr>
          <p:cNvPr id="9" name="TextBox 8"/>
          <p:cNvSpPr txBox="1"/>
          <p:nvPr/>
        </p:nvSpPr>
        <p:spPr>
          <a:xfrm>
            <a:off x="3804017" y="1879092"/>
            <a:ext cx="7647288"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What goes on it</a:t>
            </a:r>
          </a:p>
        </p:txBody>
      </p:sp>
      <p:sp>
        <p:nvSpPr>
          <p:cNvPr id="10" name="Rectangle 9"/>
          <p:cNvSpPr/>
          <p:nvPr/>
        </p:nvSpPr>
        <p:spPr>
          <a:xfrm>
            <a:off x="658368" y="2103120"/>
            <a:ext cx="10875233" cy="40233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144268"/>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a:t>
            </a:r>
          </a:p>
        </p:txBody>
      </p:sp>
      <p:sp>
        <p:nvSpPr>
          <p:cNvPr id="13" name="TextBox 12"/>
          <p:cNvSpPr txBox="1"/>
          <p:nvPr/>
        </p:nvSpPr>
        <p:spPr>
          <a:xfrm>
            <a:off x="1139585" y="2144268"/>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Cover</a:t>
            </a:r>
          </a:p>
        </p:txBody>
      </p:sp>
      <p:sp>
        <p:nvSpPr>
          <p:cNvPr id="14" name="TextBox 13"/>
          <p:cNvSpPr txBox="1"/>
          <p:nvPr/>
        </p:nvSpPr>
        <p:spPr>
          <a:xfrm>
            <a:off x="3314631" y="2144268"/>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15" name="TextBox 14"/>
          <p:cNvSpPr txBox="1"/>
          <p:nvPr/>
        </p:nvSpPr>
        <p:spPr>
          <a:xfrm>
            <a:off x="3804017" y="2144268"/>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Outcome headline in the vertical's language, three proof points (2 smartphone photos, results in under a minute, no specialized hardware), the "Built for [vertical]" label. Highly visual, minimal text</a:t>
            </a:r>
          </a:p>
        </p:txBody>
      </p:sp>
      <p:sp>
        <p:nvSpPr>
          <p:cNvPr id="16" name="Rectangle 15"/>
          <p:cNvSpPr/>
          <p:nvPr/>
        </p:nvSpPr>
        <p:spPr>
          <a:xfrm>
            <a:off x="658368" y="2505456"/>
            <a:ext cx="10875233"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250545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546603"/>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2</a:t>
            </a:r>
          </a:p>
        </p:txBody>
      </p:sp>
      <p:sp>
        <p:nvSpPr>
          <p:cNvPr id="19" name="TextBox 18"/>
          <p:cNvSpPr txBox="1"/>
          <p:nvPr/>
        </p:nvSpPr>
        <p:spPr>
          <a:xfrm>
            <a:off x="1139585" y="2546603"/>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industry problem</a:t>
            </a:r>
          </a:p>
        </p:txBody>
      </p:sp>
      <p:sp>
        <p:nvSpPr>
          <p:cNvPr id="20" name="TextBox 19"/>
          <p:cNvSpPr txBox="1"/>
          <p:nvPr/>
        </p:nvSpPr>
        <p:spPr>
          <a:xfrm>
            <a:off x="3314631" y="2546603"/>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21" name="TextBox 20"/>
          <p:cNvSpPr txBox="1"/>
          <p:nvPr/>
        </p:nvSpPr>
        <p:spPr>
          <a:xfrm>
            <a:off x="3804017" y="2546603"/>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Why existing approaches fail in this vertical. Four alternative-method blocks, each with what it is good at and its limitation. Close with a "The result" statement naming the business consequence</a:t>
            </a:r>
          </a:p>
        </p:txBody>
      </p:sp>
      <p:sp>
        <p:nvSpPr>
          <p:cNvPr id="22" name="Rectangle 21"/>
          <p:cNvSpPr/>
          <p:nvPr/>
        </p:nvSpPr>
        <p:spPr>
          <a:xfrm>
            <a:off x="658368" y="2907791"/>
            <a:ext cx="10875233" cy="40233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2907791"/>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2948939"/>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3</a:t>
            </a:r>
          </a:p>
        </p:txBody>
      </p:sp>
      <p:sp>
        <p:nvSpPr>
          <p:cNvPr id="25" name="TextBox 24"/>
          <p:cNvSpPr txBox="1"/>
          <p:nvPr/>
        </p:nvSpPr>
        <p:spPr>
          <a:xfrm>
            <a:off x="1139585" y="2948939"/>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Business outcomes</a:t>
            </a:r>
          </a:p>
        </p:txBody>
      </p:sp>
      <p:sp>
        <p:nvSpPr>
          <p:cNvPr id="26" name="TextBox 25"/>
          <p:cNvSpPr txBox="1"/>
          <p:nvPr/>
        </p:nvSpPr>
        <p:spPr>
          <a:xfrm>
            <a:off x="3314631" y="2948939"/>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27" name="TextBox 26"/>
          <p:cNvSpPr txBox="1"/>
          <p:nvPr/>
        </p:nvSpPr>
        <p:spPr>
          <a:xfrm>
            <a:off x="3804017" y="2948939"/>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Five outcome cards. Each: name, one sentence, two "Driven by" bullets, two or three "Track with" metrics. "Track with" names metric categories, never claimed results. Testimonial slot stays empty unless an approved quote exists</a:t>
            </a:r>
          </a:p>
        </p:txBody>
      </p:sp>
      <p:sp>
        <p:nvSpPr>
          <p:cNvPr id="28" name="Rectangle 27"/>
          <p:cNvSpPr/>
          <p:nvPr/>
        </p:nvSpPr>
        <p:spPr>
          <a:xfrm>
            <a:off x="658368" y="3310127"/>
            <a:ext cx="10875233"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3310127"/>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3351275"/>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a:t>
            </a:r>
          </a:p>
        </p:txBody>
      </p:sp>
      <p:sp>
        <p:nvSpPr>
          <p:cNvPr id="31" name="TextBox 30"/>
          <p:cNvSpPr txBox="1"/>
          <p:nvPr/>
        </p:nvSpPr>
        <p:spPr>
          <a:xfrm>
            <a:off x="1139585" y="3351275"/>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How it works</a:t>
            </a:r>
          </a:p>
        </p:txBody>
      </p:sp>
      <p:sp>
        <p:nvSpPr>
          <p:cNvPr id="32" name="TextBox 31"/>
          <p:cNvSpPr txBox="1"/>
          <p:nvPr/>
        </p:nvSpPr>
        <p:spPr>
          <a:xfrm>
            <a:off x="3314631" y="3351275"/>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33" name="TextBox 32"/>
          <p:cNvSpPr txBox="1"/>
          <p:nvPr/>
        </p:nvSpPr>
        <p:spPr>
          <a:xfrm>
            <a:off x="3804017" y="3351275"/>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Four stages: user inputs, guided photo capture with pose and clothing validation, processing with photo deletion, structured return to your platform</a:t>
            </a:r>
          </a:p>
        </p:txBody>
      </p:sp>
      <p:sp>
        <p:nvSpPr>
          <p:cNvPr id="34" name="Rectangle 33"/>
          <p:cNvSpPr/>
          <p:nvPr/>
        </p:nvSpPr>
        <p:spPr>
          <a:xfrm>
            <a:off x="658368" y="3712463"/>
            <a:ext cx="10875233" cy="40233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371246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3753611"/>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5</a:t>
            </a:r>
          </a:p>
        </p:txBody>
      </p:sp>
      <p:sp>
        <p:nvSpPr>
          <p:cNvPr id="37" name="TextBox 36"/>
          <p:cNvSpPr txBox="1"/>
          <p:nvPr/>
        </p:nvSpPr>
        <p:spPr>
          <a:xfrm>
            <a:off x="1139585" y="3753611"/>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What each scan returns</a:t>
            </a:r>
          </a:p>
        </p:txBody>
      </p:sp>
      <p:sp>
        <p:nvSpPr>
          <p:cNvPr id="38" name="TextBox 37"/>
          <p:cNvSpPr txBox="1"/>
          <p:nvPr/>
        </p:nvSpPr>
        <p:spPr>
          <a:xfrm>
            <a:off x="3314631" y="3753611"/>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39" name="TextBox 38"/>
          <p:cNvSpPr txBox="1"/>
          <p:nvPr/>
        </p:nvSpPr>
        <p:spPr>
          <a:xfrm>
            <a:off x="3804017" y="3753611"/>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80+ measurements, body composition, 3D model, progress comparison, validation outputs (pose quality, clothing classification, Smart Scales mismatch flag)</a:t>
            </a:r>
          </a:p>
        </p:txBody>
      </p:sp>
      <p:sp>
        <p:nvSpPr>
          <p:cNvPr id="40" name="Rectangle 39"/>
          <p:cNvSpPr/>
          <p:nvPr/>
        </p:nvSpPr>
        <p:spPr>
          <a:xfrm>
            <a:off x="658368" y="4114800"/>
            <a:ext cx="10875233"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11480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8952" y="4155948"/>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6</a:t>
            </a:r>
          </a:p>
        </p:txBody>
      </p:sp>
      <p:sp>
        <p:nvSpPr>
          <p:cNvPr id="43" name="TextBox 42"/>
          <p:cNvSpPr txBox="1"/>
          <p:nvPr/>
        </p:nvSpPr>
        <p:spPr>
          <a:xfrm>
            <a:off x="1139585" y="4155948"/>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Accuracy and repeatability, scoped</a:t>
            </a:r>
          </a:p>
        </p:txBody>
      </p:sp>
      <p:sp>
        <p:nvSpPr>
          <p:cNvPr id="44" name="TextBox 43"/>
          <p:cNvSpPr txBox="1"/>
          <p:nvPr/>
        </p:nvSpPr>
        <p:spPr>
          <a:xfrm>
            <a:off x="3314631" y="4155948"/>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45" name="TextBox 44"/>
          <p:cNvSpPr txBox="1"/>
          <p:nvPr/>
        </p:nvSpPr>
        <p:spPr>
          <a:xfrm>
            <a:off x="3804017" y="4155948"/>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reframe to "accurate enough for which decision?", the four conditions, then the figures from proof-points.md. Lead with repeatability for any longitudinal vertical. Never "independent", "validated", "third-party" or "best-in-class"</a:t>
            </a:r>
          </a:p>
        </p:txBody>
      </p:sp>
      <p:sp>
        <p:nvSpPr>
          <p:cNvPr id="46" name="Rectangle 45"/>
          <p:cNvSpPr/>
          <p:nvPr/>
        </p:nvSpPr>
        <p:spPr>
          <a:xfrm>
            <a:off x="658368" y="4517136"/>
            <a:ext cx="10875233" cy="40233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451713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8952" y="4558284"/>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7</a:t>
            </a:r>
          </a:p>
        </p:txBody>
      </p:sp>
      <p:sp>
        <p:nvSpPr>
          <p:cNvPr id="49" name="TextBox 48"/>
          <p:cNvSpPr txBox="1"/>
          <p:nvPr/>
        </p:nvSpPr>
        <p:spPr>
          <a:xfrm>
            <a:off x="1139585" y="4558284"/>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Comparison</a:t>
            </a:r>
          </a:p>
        </p:txBody>
      </p:sp>
      <p:sp>
        <p:nvSpPr>
          <p:cNvPr id="50" name="TextBox 49"/>
          <p:cNvSpPr txBox="1"/>
          <p:nvPr/>
        </p:nvSpPr>
        <p:spPr>
          <a:xfrm>
            <a:off x="3314631" y="4558284"/>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51" name="TextBox 50"/>
          <p:cNvSpPr txBox="1"/>
          <p:nvPr/>
        </p:nvSpPr>
        <p:spPr>
          <a:xfrm>
            <a:off x="3804017" y="4558284"/>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Compare by role. FitXpress against the alternative this buyer actually uses: self report, in-clinic DEXA or BIA, consumer photo apps, manual review. Never a clean sweep across every row</a:t>
            </a:r>
          </a:p>
        </p:txBody>
      </p:sp>
      <p:sp>
        <p:nvSpPr>
          <p:cNvPr id="52" name="Rectangle 51"/>
          <p:cNvSpPr/>
          <p:nvPr/>
        </p:nvSpPr>
        <p:spPr>
          <a:xfrm>
            <a:off x="658368" y="4919472"/>
            <a:ext cx="10875233"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58368" y="4919472"/>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8952" y="4960620"/>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8</a:t>
            </a:r>
          </a:p>
        </p:txBody>
      </p:sp>
      <p:sp>
        <p:nvSpPr>
          <p:cNvPr id="55" name="TextBox 54"/>
          <p:cNvSpPr txBox="1"/>
          <p:nvPr/>
        </p:nvSpPr>
        <p:spPr>
          <a:xfrm>
            <a:off x="1139585" y="4960620"/>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Where it fits in the workflow</a:t>
            </a:r>
          </a:p>
        </p:txBody>
      </p:sp>
      <p:sp>
        <p:nvSpPr>
          <p:cNvPr id="56" name="TextBox 55"/>
          <p:cNvSpPr txBox="1"/>
          <p:nvPr/>
        </p:nvSpPr>
        <p:spPr>
          <a:xfrm>
            <a:off x="3314631" y="4960620"/>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57" name="TextBox 56"/>
          <p:cNvSpPr txBox="1"/>
          <p:nvPr/>
        </p:nvSpPr>
        <p:spPr>
          <a:xfrm>
            <a:off x="3804017" y="4960620"/>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vertical's own five-stage journey, with the FitXpress step marked and the human decision point marked</a:t>
            </a:r>
          </a:p>
        </p:txBody>
      </p:sp>
      <p:sp>
        <p:nvSpPr>
          <p:cNvPr id="58" name="Rectangle 57"/>
          <p:cNvSpPr/>
          <p:nvPr/>
        </p:nvSpPr>
        <p:spPr>
          <a:xfrm>
            <a:off x="658368" y="5321808"/>
            <a:ext cx="10875233" cy="40233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58368" y="532180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8952" y="5362956"/>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9</a:t>
            </a:r>
          </a:p>
        </p:txBody>
      </p:sp>
      <p:sp>
        <p:nvSpPr>
          <p:cNvPr id="61" name="TextBox 60"/>
          <p:cNvSpPr txBox="1"/>
          <p:nvPr/>
        </p:nvSpPr>
        <p:spPr>
          <a:xfrm>
            <a:off x="1139585" y="5362956"/>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core workflow feature</a:t>
            </a:r>
          </a:p>
        </p:txBody>
      </p:sp>
      <p:sp>
        <p:nvSpPr>
          <p:cNvPr id="62" name="TextBox 61"/>
          <p:cNvSpPr txBox="1"/>
          <p:nvPr/>
        </p:nvSpPr>
        <p:spPr>
          <a:xfrm>
            <a:off x="3314631" y="5362956"/>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63" name="TextBox 62"/>
          <p:cNvSpPr txBox="1"/>
          <p:nvPr/>
        </p:nvSpPr>
        <p:spPr>
          <a:xfrm>
            <a:off x="3804017" y="5362956"/>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one capability this vertical buys: progress comparison, disclosure verification, eligibility pre-check, or inter-site standardization</a:t>
            </a:r>
          </a:p>
        </p:txBody>
      </p:sp>
      <p:sp>
        <p:nvSpPr>
          <p:cNvPr id="64" name="Rectangle 63"/>
          <p:cNvSpPr/>
          <p:nvPr/>
        </p:nvSpPr>
        <p:spPr>
          <a:xfrm>
            <a:off x="658368" y="5724144"/>
            <a:ext cx="10875233" cy="4023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58368" y="572414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58952" y="5765292"/>
            <a:ext cx="197753"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10</a:t>
            </a:r>
          </a:p>
        </p:txBody>
      </p:sp>
      <p:sp>
        <p:nvSpPr>
          <p:cNvPr id="67" name="TextBox 66"/>
          <p:cNvSpPr txBox="1"/>
          <p:nvPr/>
        </p:nvSpPr>
        <p:spPr>
          <a:xfrm>
            <a:off x="1139585" y="5765292"/>
            <a:ext cx="1992166"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end-user experience</a:t>
            </a:r>
          </a:p>
        </p:txBody>
      </p:sp>
      <p:sp>
        <p:nvSpPr>
          <p:cNvPr id="68" name="TextBox 67"/>
          <p:cNvSpPr txBox="1"/>
          <p:nvPr/>
        </p:nvSpPr>
        <p:spPr>
          <a:xfrm>
            <a:off x="3314631" y="5765292"/>
            <a:ext cx="306505"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69" name="TextBox 68"/>
          <p:cNvSpPr txBox="1"/>
          <p:nvPr/>
        </p:nvSpPr>
        <p:spPr>
          <a:xfrm>
            <a:off x="3804017" y="5765292"/>
            <a:ext cx="7647288" cy="34747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Adoption and completion in this vertical's flow. Where outputs are internal only (pharmacy Pattern B, underwriting), say so plainly and keep the slide short</a:t>
            </a:r>
          </a:p>
        </p:txBody>
      </p:sp>
      <p:sp>
        <p:nvSpPr>
          <p:cNvPr id="70" name="Rectangle 69"/>
          <p:cNvSpPr/>
          <p:nvPr/>
        </p:nvSpPr>
        <p:spPr>
          <a:xfrm>
            <a:off x="658368" y="612648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72" name="TextBox 7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37 / 61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05 · DECK BUILD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19-slide core, slides 11 to 19</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Appendix, slides 20 onward: integration examples, the customer-controlled wrapper, capture, post-scan processing, output interface, internal-only consumption, About 3DLOOK, contacts.</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197753"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a:t>
            </a:r>
          </a:p>
        </p:txBody>
      </p:sp>
      <p:sp>
        <p:nvSpPr>
          <p:cNvPr id="7" name="TextBox 6"/>
          <p:cNvSpPr txBox="1"/>
          <p:nvPr/>
        </p:nvSpPr>
        <p:spPr>
          <a:xfrm>
            <a:off x="1139585" y="1879092"/>
            <a:ext cx="1992166"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Slide</a:t>
            </a:r>
          </a:p>
        </p:txBody>
      </p:sp>
      <p:sp>
        <p:nvSpPr>
          <p:cNvPr id="8" name="TextBox 7"/>
          <p:cNvSpPr txBox="1"/>
          <p:nvPr/>
        </p:nvSpPr>
        <p:spPr>
          <a:xfrm>
            <a:off x="3314631" y="1879092"/>
            <a:ext cx="306505"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F/L</a:t>
            </a:r>
          </a:p>
        </p:txBody>
      </p:sp>
      <p:sp>
        <p:nvSpPr>
          <p:cNvPr id="9" name="TextBox 8"/>
          <p:cNvSpPr txBox="1"/>
          <p:nvPr/>
        </p:nvSpPr>
        <p:spPr>
          <a:xfrm>
            <a:off x="3804017" y="1879092"/>
            <a:ext cx="7647288"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What goes on it</a:t>
            </a:r>
          </a:p>
        </p:txBody>
      </p:sp>
      <p:sp>
        <p:nvSpPr>
          <p:cNvPr id="10" name="Rectangle 9"/>
          <p:cNvSpPr/>
          <p:nvPr/>
        </p:nvSpPr>
        <p:spPr>
          <a:xfrm>
            <a:off x="658368" y="2103120"/>
            <a:ext cx="10875233" cy="38404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2144268"/>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11</a:t>
            </a:r>
          </a:p>
        </p:txBody>
      </p:sp>
      <p:sp>
        <p:nvSpPr>
          <p:cNvPr id="13" name="TextBox 12"/>
          <p:cNvSpPr txBox="1"/>
          <p:nvPr/>
        </p:nvSpPr>
        <p:spPr>
          <a:xfrm>
            <a:off x="1139585" y="2144268"/>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Built for [vertical] operations</a:t>
            </a:r>
          </a:p>
        </p:txBody>
      </p:sp>
      <p:sp>
        <p:nvSpPr>
          <p:cNvPr id="14" name="TextBox 13"/>
          <p:cNvSpPr txBox="1"/>
          <p:nvPr/>
        </p:nvSpPr>
        <p:spPr>
          <a:xfrm>
            <a:off x="3314631" y="2144268"/>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15" name="TextBox 14"/>
          <p:cNvSpPr txBox="1"/>
          <p:nvPr/>
        </p:nvSpPr>
        <p:spPr>
          <a:xfrm>
            <a:off x="3804017" y="2144268"/>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operational requirements this buyer will ask about: volumes, review queues, exception handling, reporting</a:t>
            </a:r>
          </a:p>
        </p:txBody>
      </p:sp>
      <p:sp>
        <p:nvSpPr>
          <p:cNvPr id="16" name="Rectangle 15"/>
          <p:cNvSpPr/>
          <p:nvPr/>
        </p:nvSpPr>
        <p:spPr>
          <a:xfrm>
            <a:off x="658368" y="2487168"/>
            <a:ext cx="10875233"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248716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528315"/>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12</a:t>
            </a:r>
          </a:p>
        </p:txBody>
      </p:sp>
      <p:sp>
        <p:nvSpPr>
          <p:cNvPr id="19" name="TextBox 18"/>
          <p:cNvSpPr txBox="1"/>
          <p:nvPr/>
        </p:nvSpPr>
        <p:spPr>
          <a:xfrm>
            <a:off x="1139585" y="2528315"/>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Reliability in production</a:t>
            </a:r>
          </a:p>
        </p:txBody>
      </p:sp>
      <p:sp>
        <p:nvSpPr>
          <p:cNvPr id="20" name="TextBox 19"/>
          <p:cNvSpPr txBox="1"/>
          <p:nvPr/>
        </p:nvSpPr>
        <p:spPr>
          <a:xfrm>
            <a:off x="3314631" y="2528315"/>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21" name="TextBox 20"/>
          <p:cNvSpPr txBox="1"/>
          <p:nvPr/>
        </p:nvSpPr>
        <p:spPr>
          <a:xfrm>
            <a:off x="3804017" y="2528315"/>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Uptime posture, consistency across body types, lighting and capture environments, error handling</a:t>
            </a:r>
          </a:p>
        </p:txBody>
      </p:sp>
      <p:sp>
        <p:nvSpPr>
          <p:cNvPr id="22" name="Rectangle 21"/>
          <p:cNvSpPr/>
          <p:nvPr/>
        </p:nvSpPr>
        <p:spPr>
          <a:xfrm>
            <a:off x="658368" y="2871215"/>
            <a:ext cx="10875233" cy="38404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8368" y="2871215"/>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8952" y="2912363"/>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13</a:t>
            </a:r>
          </a:p>
        </p:txBody>
      </p:sp>
      <p:sp>
        <p:nvSpPr>
          <p:cNvPr id="25" name="TextBox 24"/>
          <p:cNvSpPr txBox="1"/>
          <p:nvPr/>
        </p:nvSpPr>
        <p:spPr>
          <a:xfrm>
            <a:off x="1139585" y="2912363"/>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Built-in quality checks</a:t>
            </a:r>
          </a:p>
        </p:txBody>
      </p:sp>
      <p:sp>
        <p:nvSpPr>
          <p:cNvPr id="26" name="TextBox 25"/>
          <p:cNvSpPr txBox="1"/>
          <p:nvPr/>
        </p:nvSpPr>
        <p:spPr>
          <a:xfrm>
            <a:off x="3314631" y="2912363"/>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27" name="TextBox 26"/>
          <p:cNvSpPr txBox="1"/>
          <p:nvPr/>
        </p:nvSpPr>
        <p:spPr>
          <a:xfrm>
            <a:off x="3804017" y="2912363"/>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Real-time pose validation, clothing detection, live capture, Smart Scales mismatch flag. State the limit of each control</a:t>
            </a:r>
          </a:p>
        </p:txBody>
      </p:sp>
      <p:sp>
        <p:nvSpPr>
          <p:cNvPr id="28" name="Rectangle 27"/>
          <p:cNvSpPr/>
          <p:nvPr/>
        </p:nvSpPr>
        <p:spPr>
          <a:xfrm>
            <a:off x="658368" y="3255263"/>
            <a:ext cx="10875233"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325526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3296411"/>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14</a:t>
            </a:r>
          </a:p>
        </p:txBody>
      </p:sp>
      <p:sp>
        <p:nvSpPr>
          <p:cNvPr id="31" name="TextBox 30"/>
          <p:cNvSpPr txBox="1"/>
          <p:nvPr/>
        </p:nvSpPr>
        <p:spPr>
          <a:xfrm>
            <a:off x="1139585" y="3296411"/>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Integration architecture</a:t>
            </a:r>
          </a:p>
        </p:txBody>
      </p:sp>
      <p:sp>
        <p:nvSpPr>
          <p:cNvPr id="32" name="TextBox 31"/>
          <p:cNvSpPr txBox="1"/>
          <p:nvPr/>
        </p:nvSpPr>
        <p:spPr>
          <a:xfrm>
            <a:off x="3314631" y="3296411"/>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33" name="TextBox 32"/>
          <p:cNvSpPr txBox="1"/>
          <p:nvPr/>
        </p:nvSpPr>
        <p:spPr>
          <a:xfrm>
            <a:off x="3804017" y="3296411"/>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"we provide / you build" boundary, the two integration patterns, the interface and the three kits. The boundary slide is what makes the buyer feel in control</a:t>
            </a:r>
          </a:p>
        </p:txBody>
      </p:sp>
      <p:sp>
        <p:nvSpPr>
          <p:cNvPr id="34" name="Rectangle 33"/>
          <p:cNvSpPr/>
          <p:nvPr/>
        </p:nvSpPr>
        <p:spPr>
          <a:xfrm>
            <a:off x="658368" y="3639311"/>
            <a:ext cx="10875233" cy="38404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3639311"/>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3680459"/>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15</a:t>
            </a:r>
          </a:p>
        </p:txBody>
      </p:sp>
      <p:sp>
        <p:nvSpPr>
          <p:cNvPr id="37" name="TextBox 36"/>
          <p:cNvSpPr txBox="1"/>
          <p:nvPr/>
        </p:nvSpPr>
        <p:spPr>
          <a:xfrm>
            <a:off x="1139585" y="3680459"/>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Admin Panel</a:t>
            </a:r>
          </a:p>
        </p:txBody>
      </p:sp>
      <p:sp>
        <p:nvSpPr>
          <p:cNvPr id="38" name="TextBox 37"/>
          <p:cNvSpPr txBox="1"/>
          <p:nvPr/>
        </p:nvSpPr>
        <p:spPr>
          <a:xfrm>
            <a:off x="3314631" y="3680459"/>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39" name="TextBox 38"/>
          <p:cNvSpPr txBox="1"/>
          <p:nvPr/>
        </p:nvSpPr>
        <p:spPr>
          <a:xfrm>
            <a:off x="3804017" y="3680459"/>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Centralized view and management of scan results, for teams that do not want to build a dashboard</a:t>
            </a:r>
          </a:p>
        </p:txBody>
      </p:sp>
      <p:sp>
        <p:nvSpPr>
          <p:cNvPr id="40" name="Rectangle 39"/>
          <p:cNvSpPr/>
          <p:nvPr/>
        </p:nvSpPr>
        <p:spPr>
          <a:xfrm>
            <a:off x="658368" y="4023359"/>
            <a:ext cx="10875233"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402335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58952" y="4064507"/>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16</a:t>
            </a:r>
          </a:p>
        </p:txBody>
      </p:sp>
      <p:sp>
        <p:nvSpPr>
          <p:cNvPr id="43" name="TextBox 42"/>
          <p:cNvSpPr txBox="1"/>
          <p:nvPr/>
        </p:nvSpPr>
        <p:spPr>
          <a:xfrm>
            <a:off x="1139585" y="4064507"/>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What the team sees</a:t>
            </a:r>
          </a:p>
        </p:txBody>
      </p:sp>
      <p:sp>
        <p:nvSpPr>
          <p:cNvPr id="44" name="TextBox 43"/>
          <p:cNvSpPr txBox="1"/>
          <p:nvPr/>
        </p:nvSpPr>
        <p:spPr>
          <a:xfrm>
            <a:off x="3314631" y="4064507"/>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L</a:t>
            </a:r>
          </a:p>
        </p:txBody>
      </p:sp>
      <p:sp>
        <p:nvSpPr>
          <p:cNvPr id="45" name="TextBox 44"/>
          <p:cNvSpPr txBox="1"/>
          <p:nvPr/>
        </p:nvSpPr>
        <p:spPr>
          <a:xfrm>
            <a:off x="3804017" y="4064507"/>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Member-facing, internal-only, or both. Real white-label screenshots where permission allows</a:t>
            </a:r>
          </a:p>
        </p:txBody>
      </p:sp>
      <p:sp>
        <p:nvSpPr>
          <p:cNvPr id="46" name="Rectangle 45"/>
          <p:cNvSpPr/>
          <p:nvPr/>
        </p:nvSpPr>
        <p:spPr>
          <a:xfrm>
            <a:off x="658368" y="4407407"/>
            <a:ext cx="10875233" cy="38404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58368" y="4407407"/>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58952" y="4448555"/>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17</a:t>
            </a:r>
          </a:p>
        </p:txBody>
      </p:sp>
      <p:sp>
        <p:nvSpPr>
          <p:cNvPr id="49" name="TextBox 48"/>
          <p:cNvSpPr txBox="1"/>
          <p:nvPr/>
        </p:nvSpPr>
        <p:spPr>
          <a:xfrm>
            <a:off x="1139585" y="4448555"/>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Security, privacy, compliance</a:t>
            </a:r>
          </a:p>
        </p:txBody>
      </p:sp>
      <p:sp>
        <p:nvSpPr>
          <p:cNvPr id="50" name="TextBox 49"/>
          <p:cNvSpPr txBox="1"/>
          <p:nvPr/>
        </p:nvSpPr>
        <p:spPr>
          <a:xfrm>
            <a:off x="3314631" y="4448555"/>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F+L</a:t>
            </a:r>
          </a:p>
        </p:txBody>
      </p:sp>
      <p:sp>
        <p:nvSpPr>
          <p:cNvPr id="51" name="TextBox 50"/>
          <p:cNvSpPr txBox="1"/>
          <p:nvPr/>
        </p:nvSpPr>
        <p:spPr>
          <a:xfrm>
            <a:off x="3804017" y="4448555"/>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data-flow diagram, the controls list, HIPAA and GDPR posture. Localize only the opening sentence to the vertical's regulatory context</a:t>
            </a:r>
          </a:p>
        </p:txBody>
      </p:sp>
      <p:sp>
        <p:nvSpPr>
          <p:cNvPr id="52" name="Rectangle 51"/>
          <p:cNvSpPr/>
          <p:nvPr/>
        </p:nvSpPr>
        <p:spPr>
          <a:xfrm>
            <a:off x="658368" y="4791455"/>
            <a:ext cx="10875233"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58368" y="4791455"/>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8952" y="4832603"/>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18</a:t>
            </a:r>
          </a:p>
        </p:txBody>
      </p:sp>
      <p:sp>
        <p:nvSpPr>
          <p:cNvPr id="55" name="TextBox 54"/>
          <p:cNvSpPr txBox="1"/>
          <p:nvPr/>
        </p:nvSpPr>
        <p:spPr>
          <a:xfrm>
            <a:off x="1139585" y="4832603"/>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Pricing</a:t>
            </a:r>
          </a:p>
        </p:txBody>
      </p:sp>
      <p:sp>
        <p:nvSpPr>
          <p:cNvPr id="56" name="TextBox 55"/>
          <p:cNvSpPr txBox="1"/>
          <p:nvPr/>
        </p:nvSpPr>
        <p:spPr>
          <a:xfrm>
            <a:off x="3314631" y="4832603"/>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57" name="TextBox 56"/>
          <p:cNvSpPr txBox="1"/>
          <p:nvPr/>
        </p:nvSpPr>
        <p:spPr>
          <a:xfrm>
            <a:off x="3804017" y="4832603"/>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public price signal and "no integration fee". Never the internal per-request table. Check /pricing/ on the day the deck ships</a:t>
            </a:r>
          </a:p>
        </p:txBody>
      </p:sp>
      <p:sp>
        <p:nvSpPr>
          <p:cNvPr id="58" name="Rectangle 57"/>
          <p:cNvSpPr/>
          <p:nvPr/>
        </p:nvSpPr>
        <p:spPr>
          <a:xfrm>
            <a:off x="658368" y="5175503"/>
            <a:ext cx="10875233" cy="38404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58368" y="517550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58952" y="5216651"/>
            <a:ext cx="197753"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19</a:t>
            </a:r>
          </a:p>
        </p:txBody>
      </p:sp>
      <p:sp>
        <p:nvSpPr>
          <p:cNvPr id="61" name="TextBox 60"/>
          <p:cNvSpPr txBox="1"/>
          <p:nvPr/>
        </p:nvSpPr>
        <p:spPr>
          <a:xfrm>
            <a:off x="1139585" y="5216651"/>
            <a:ext cx="1992166"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How teams evaluate this</a:t>
            </a:r>
          </a:p>
        </p:txBody>
      </p:sp>
      <p:sp>
        <p:nvSpPr>
          <p:cNvPr id="62" name="TextBox 61"/>
          <p:cNvSpPr txBox="1"/>
          <p:nvPr/>
        </p:nvSpPr>
        <p:spPr>
          <a:xfrm>
            <a:off x="3314631" y="5216651"/>
            <a:ext cx="30650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a:t>
            </a:r>
          </a:p>
        </p:txBody>
      </p:sp>
      <p:sp>
        <p:nvSpPr>
          <p:cNvPr id="63" name="TextBox 62"/>
          <p:cNvSpPr txBox="1"/>
          <p:nvPr/>
        </p:nvSpPr>
        <p:spPr>
          <a:xfrm>
            <a:off x="3804017" y="5216651"/>
            <a:ext cx="7647288"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Three stages: demo evaluation, decision discussion, contracting. Ends on a concrete next step</a:t>
            </a:r>
          </a:p>
        </p:txBody>
      </p:sp>
      <p:sp>
        <p:nvSpPr>
          <p:cNvPr id="64" name="Rectangle 63"/>
          <p:cNvSpPr/>
          <p:nvPr/>
        </p:nvSpPr>
        <p:spPr>
          <a:xfrm>
            <a:off x="658368" y="5559551"/>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658368" y="5779007"/>
            <a:ext cx="10875233" cy="603504"/>
          </a:xfrm>
          <a:prstGeom prst="roundRect">
            <a:avLst>
              <a:gd name="adj" fmla="val 4208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7824" y="5870447"/>
            <a:ext cx="10418033" cy="420624"/>
          </a:xfrm>
          <a:prstGeom prst="rect">
            <a:avLst/>
          </a:prstGeom>
          <a:noFill/>
        </p:spPr>
        <p:txBody>
          <a:bodyPr wrap="square" lIns="0" rIns="0" tIns="0" bIns="0" anchor="ctr">
            <a:spAutoFit/>
          </a:bodyPr>
          <a:lstStyle/>
          <a:p>
            <a:pPr algn="l">
              <a:lnSpc>
                <a:spcPct val="116000"/>
              </a:lnSpc>
            </a:pPr>
            <a:r>
              <a:rPr sz="1200" b="1" i="0">
                <a:solidFill>
                  <a:srgbClr val="FFFFFF"/>
                </a:solidFill>
                <a:latin typeface="Satoshi"/>
              </a:rPr>
              <a:t>Copy the fixed slides verbatim from the last approved deck. Do not retype them. Retyping is how a number drifts, and a drifted number is the first thing a diligence reader catches.</a:t>
            </a:r>
          </a:p>
        </p:txBody>
      </p:sp>
      <p:sp>
        <p:nvSpPr>
          <p:cNvPr id="67" name="TextBox 66"/>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68" name="TextBox 67"/>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38 / 61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05 · DECK BUILD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How to localize, in order</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order matters. Steps 6 and 7 are separate passes after writing, because policing your own tells while drafting does neither job well.</a:t>
            </a:r>
          </a:p>
        </p:txBody>
      </p:sp>
      <p:sp>
        <p:nvSpPr>
          <p:cNvPr id="5" name="Rounded Rectangle 4"/>
          <p:cNvSpPr/>
          <p:nvPr/>
        </p:nvSpPr>
        <p:spPr>
          <a:xfrm>
            <a:off x="658368" y="1828800"/>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59" y="2011680"/>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061972"/>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1</a:t>
            </a:r>
          </a:p>
        </p:txBody>
      </p:sp>
      <p:sp>
        <p:nvSpPr>
          <p:cNvPr id="9" name="TextBox 8"/>
          <p:cNvSpPr txBox="1"/>
          <p:nvPr/>
        </p:nvSpPr>
        <p:spPr>
          <a:xfrm>
            <a:off x="822959" y="2359152"/>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Fix the segment</a:t>
            </a:r>
          </a:p>
        </p:txBody>
      </p:sp>
      <p:sp>
        <p:nvSpPr>
          <p:cNvPr id="10" name="TextBox 9"/>
          <p:cNvSpPr txBox="1"/>
          <p:nvPr/>
        </p:nvSpPr>
        <p:spPr>
          <a:xfrm>
            <a:off x="822959" y="2798064"/>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Open section 4. Read the segment's hook and its "what NOT to say" before writing a line.</a:t>
            </a:r>
          </a:p>
        </p:txBody>
      </p:sp>
      <p:sp>
        <p:nvSpPr>
          <p:cNvPr id="11" name="Rounded Rectangle 10"/>
          <p:cNvSpPr/>
          <p:nvPr/>
        </p:nvSpPr>
        <p:spPr>
          <a:xfrm>
            <a:off x="2866333" y="1828800"/>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66333" y="1828800"/>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030925" y="2011680"/>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030925" y="2061972"/>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2</a:t>
            </a:r>
          </a:p>
        </p:txBody>
      </p:sp>
      <p:sp>
        <p:nvSpPr>
          <p:cNvPr id="15" name="TextBox 14"/>
          <p:cNvSpPr txBox="1"/>
          <p:nvPr/>
        </p:nvSpPr>
        <p:spPr>
          <a:xfrm>
            <a:off x="3030925" y="2359152"/>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Check the proof tier</a:t>
            </a:r>
          </a:p>
        </p:txBody>
      </p:sp>
      <p:sp>
        <p:nvSpPr>
          <p:cNvPr id="16" name="TextBox 15"/>
          <p:cNvSpPr txBox="1"/>
          <p:nvPr/>
        </p:nvSpPr>
        <p:spPr>
          <a:xfrm>
            <a:off x="3030925" y="2798064"/>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Is there a named customer with a number? If not, the case card and the testimonial slot stay empty and get recorded. Never fill them from an adjacent vertical.</a:t>
            </a:r>
          </a:p>
        </p:txBody>
      </p:sp>
      <p:sp>
        <p:nvSpPr>
          <p:cNvPr id="17" name="Rounded Rectangle 16"/>
          <p:cNvSpPr/>
          <p:nvPr/>
        </p:nvSpPr>
        <p:spPr>
          <a:xfrm>
            <a:off x="5074298" y="1828800"/>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74298" y="1828800"/>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238890" y="2011680"/>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38890" y="2061972"/>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3</a:t>
            </a:r>
          </a:p>
        </p:txBody>
      </p:sp>
      <p:sp>
        <p:nvSpPr>
          <p:cNvPr id="21" name="TextBox 20"/>
          <p:cNvSpPr txBox="1"/>
          <p:nvPr/>
        </p:nvSpPr>
        <p:spPr>
          <a:xfrm>
            <a:off x="5238890" y="2359152"/>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Write slide 2 from the buyer's alternatives</a:t>
            </a:r>
          </a:p>
        </p:txBody>
      </p:sp>
      <p:sp>
        <p:nvSpPr>
          <p:cNvPr id="22" name="TextBox 21"/>
          <p:cNvSpPr txBox="1"/>
          <p:nvPr/>
        </p:nvSpPr>
        <p:spPr>
          <a:xfrm>
            <a:off x="5238890" y="2798064"/>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Not from our features. What does this team do today, and what specifically breaks?</a:t>
            </a:r>
          </a:p>
        </p:txBody>
      </p:sp>
      <p:sp>
        <p:nvSpPr>
          <p:cNvPr id="23" name="Rounded Rectangle 22"/>
          <p:cNvSpPr/>
          <p:nvPr/>
        </p:nvSpPr>
        <p:spPr>
          <a:xfrm>
            <a:off x="7282263" y="1828800"/>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7282263" y="1828800"/>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446855" y="2011680"/>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46855" y="2061972"/>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4</a:t>
            </a:r>
          </a:p>
        </p:txBody>
      </p:sp>
      <p:sp>
        <p:nvSpPr>
          <p:cNvPr id="27" name="TextBox 26"/>
          <p:cNvSpPr txBox="1"/>
          <p:nvPr/>
        </p:nvSpPr>
        <p:spPr>
          <a:xfrm>
            <a:off x="7446855" y="2359152"/>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Write slide 3 from the buyer's KPI list</a:t>
            </a:r>
          </a:p>
        </p:txBody>
      </p:sp>
      <p:sp>
        <p:nvSpPr>
          <p:cNvPr id="28" name="TextBox 27"/>
          <p:cNvSpPr txBox="1"/>
          <p:nvPr/>
        </p:nvSpPr>
        <p:spPr>
          <a:xfrm>
            <a:off x="7446855" y="2798064"/>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From icp-detail.md. Outcomes are hedged: supports, may reduce, can help. "Track with" is a measurement category.</a:t>
            </a:r>
          </a:p>
        </p:txBody>
      </p:sp>
      <p:sp>
        <p:nvSpPr>
          <p:cNvPr id="29" name="Rounded Rectangle 28"/>
          <p:cNvSpPr/>
          <p:nvPr/>
        </p:nvSpPr>
        <p:spPr>
          <a:xfrm>
            <a:off x="9490228" y="1828800"/>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490228" y="1828800"/>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9654820" y="2011680"/>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54820" y="2061972"/>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5</a:t>
            </a:r>
          </a:p>
        </p:txBody>
      </p:sp>
      <p:sp>
        <p:nvSpPr>
          <p:cNvPr id="33" name="TextBox 32"/>
          <p:cNvSpPr txBox="1"/>
          <p:nvPr/>
        </p:nvSpPr>
        <p:spPr>
          <a:xfrm>
            <a:off x="9654820" y="2359152"/>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Rewrite only the L slides</a:t>
            </a:r>
          </a:p>
        </p:txBody>
      </p:sp>
      <p:sp>
        <p:nvSpPr>
          <p:cNvPr id="34" name="TextBox 33"/>
          <p:cNvSpPr txBox="1"/>
          <p:nvPr/>
        </p:nvSpPr>
        <p:spPr>
          <a:xfrm>
            <a:off x="9654820" y="2798064"/>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Copy the F slides verbatim from the most recent approved deck. Every F-slide edit is a change to product truth and needs Vadim.</a:t>
            </a:r>
          </a:p>
        </p:txBody>
      </p:sp>
      <p:sp>
        <p:nvSpPr>
          <p:cNvPr id="35" name="Rounded Rectangle 34"/>
          <p:cNvSpPr/>
          <p:nvPr/>
        </p:nvSpPr>
        <p:spPr>
          <a:xfrm>
            <a:off x="658368" y="4151376"/>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58368" y="4151376"/>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822959" y="4334256"/>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59" y="4384548"/>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6</a:t>
            </a:r>
          </a:p>
        </p:txBody>
      </p:sp>
      <p:sp>
        <p:nvSpPr>
          <p:cNvPr id="39" name="TextBox 38"/>
          <p:cNvSpPr txBox="1"/>
          <p:nvPr/>
        </p:nvSpPr>
        <p:spPr>
          <a:xfrm>
            <a:off x="822959" y="4681728"/>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Run the guardrails pass</a:t>
            </a:r>
          </a:p>
        </p:txBody>
      </p:sp>
      <p:sp>
        <p:nvSpPr>
          <p:cNvPr id="40" name="TextBox 39"/>
          <p:cNvSpPr txBox="1"/>
          <p:nvPr/>
        </p:nvSpPr>
        <p:spPr>
          <a:xfrm>
            <a:off x="822959" y="5120640"/>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The 11 principles plus rules M1 and M2. As its own step, not while drafting.</a:t>
            </a:r>
          </a:p>
        </p:txBody>
      </p:sp>
      <p:sp>
        <p:nvSpPr>
          <p:cNvPr id="41" name="Rounded Rectangle 40"/>
          <p:cNvSpPr/>
          <p:nvPr/>
        </p:nvSpPr>
        <p:spPr>
          <a:xfrm>
            <a:off x="2866333" y="4151376"/>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866333" y="4151376"/>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030925" y="4334256"/>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030925" y="4384548"/>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7</a:t>
            </a:r>
          </a:p>
        </p:txBody>
      </p:sp>
      <p:sp>
        <p:nvSpPr>
          <p:cNvPr id="45" name="TextBox 44"/>
          <p:cNvSpPr txBox="1"/>
          <p:nvPr/>
        </p:nvSpPr>
        <p:spPr>
          <a:xfrm>
            <a:off x="3030925" y="4681728"/>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Run the AI-tells sweep</a:t>
            </a:r>
          </a:p>
        </p:txBody>
      </p:sp>
      <p:sp>
        <p:nvSpPr>
          <p:cNvPr id="46" name="TextBox 45"/>
          <p:cNvSpPr txBox="1"/>
          <p:nvPr/>
        </p:nvSpPr>
        <p:spPr>
          <a:xfrm>
            <a:off x="3030925" y="5120640"/>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detect-ai-tells.py with --channel page. Fix every hard fail and house-rule violation, then read it yourself and answer what the detector cannot.</a:t>
            </a:r>
          </a:p>
        </p:txBody>
      </p:sp>
      <p:sp>
        <p:nvSpPr>
          <p:cNvPr id="47" name="Rounded Rectangle 46"/>
          <p:cNvSpPr/>
          <p:nvPr/>
        </p:nvSpPr>
        <p:spPr>
          <a:xfrm>
            <a:off x="5074298" y="4151376"/>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74298" y="4151376"/>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238890" y="4334256"/>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238890" y="4384548"/>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8</a:t>
            </a:r>
          </a:p>
        </p:txBody>
      </p:sp>
      <p:sp>
        <p:nvSpPr>
          <p:cNvPr id="51" name="TextBox 50"/>
          <p:cNvSpPr txBox="1"/>
          <p:nvPr/>
        </p:nvSpPr>
        <p:spPr>
          <a:xfrm>
            <a:off x="5238890" y="4681728"/>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Write the text-fit review</a:t>
            </a:r>
          </a:p>
        </p:txBody>
      </p:sp>
      <p:sp>
        <p:nvSpPr>
          <p:cNvPr id="52" name="TextBox 51"/>
          <p:cNvSpPr txBox="1"/>
          <p:nvPr/>
        </p:nvSpPr>
        <p:spPr>
          <a:xfrm>
            <a:off x="5238890" y="5120640"/>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Slide by slide, is the new copy longer than what it replaces? The exemplar deck's review is the model, and roughly 15% is the tolerance.</a:t>
            </a:r>
          </a:p>
        </p:txBody>
      </p:sp>
      <p:sp>
        <p:nvSpPr>
          <p:cNvPr id="53" name="Rounded Rectangle 52"/>
          <p:cNvSpPr/>
          <p:nvPr/>
        </p:nvSpPr>
        <p:spPr>
          <a:xfrm>
            <a:off x="7282263" y="4151376"/>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7282263" y="4151376"/>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7446855" y="4334256"/>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446855" y="4384548"/>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9</a:t>
            </a:r>
          </a:p>
        </p:txBody>
      </p:sp>
      <p:sp>
        <p:nvSpPr>
          <p:cNvPr id="57" name="TextBox 56"/>
          <p:cNvSpPr txBox="1"/>
          <p:nvPr/>
        </p:nvSpPr>
        <p:spPr>
          <a:xfrm>
            <a:off x="7446855" y="4681728"/>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Write the open items block</a:t>
            </a:r>
          </a:p>
        </p:txBody>
      </p:sp>
      <p:sp>
        <p:nvSpPr>
          <p:cNvPr id="58" name="TextBox 57"/>
          <p:cNvSpPr txBox="1"/>
          <p:nvPr/>
        </p:nvSpPr>
        <p:spPr>
          <a:xfrm>
            <a:off x="7446855" y="5120640"/>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Every unresolved number, every unapproved quote, every claim needing Whitney. Per guardrail 11, flag rather than decide.</a:t>
            </a:r>
          </a:p>
        </p:txBody>
      </p:sp>
      <p:sp>
        <p:nvSpPr>
          <p:cNvPr id="59" name="Rounded Rectangle 58"/>
          <p:cNvSpPr/>
          <p:nvPr/>
        </p:nvSpPr>
        <p:spPr>
          <a:xfrm>
            <a:off x="9490228" y="4151376"/>
            <a:ext cx="2043373" cy="2139696"/>
          </a:xfrm>
          <a:prstGeom prst="roundRect">
            <a:avLst>
              <a:gd name="adj" fmla="val 1243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490228" y="4151376"/>
            <a:ext cx="2043373"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9654820" y="4334256"/>
            <a:ext cx="274320" cy="274320"/>
          </a:xfrm>
          <a:prstGeom prst="roundRect">
            <a:avLst>
              <a:gd name="adj" fmla="val 50000"/>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654820" y="4384548"/>
            <a:ext cx="274320" cy="201168"/>
          </a:xfrm>
          <a:prstGeom prst="rect">
            <a:avLst/>
          </a:prstGeom>
          <a:noFill/>
        </p:spPr>
        <p:txBody>
          <a:bodyPr wrap="square" lIns="0" rIns="0" tIns="0" bIns="0" anchor="t">
            <a:spAutoFit/>
          </a:bodyPr>
          <a:lstStyle/>
          <a:p>
            <a:pPr algn="ctr">
              <a:lnSpc>
                <a:spcPct val="128000"/>
              </a:lnSpc>
            </a:pPr>
            <a:r>
              <a:rPr sz="1000" b="1" i="0">
                <a:solidFill>
                  <a:srgbClr val="FFFFFF"/>
                </a:solidFill>
                <a:latin typeface="Satoshi"/>
              </a:rPr>
              <a:t>10</a:t>
            </a:r>
          </a:p>
        </p:txBody>
      </p:sp>
      <p:sp>
        <p:nvSpPr>
          <p:cNvPr id="63" name="TextBox 62"/>
          <p:cNvSpPr txBox="1"/>
          <p:nvPr/>
        </p:nvSpPr>
        <p:spPr>
          <a:xfrm>
            <a:off x="9654820" y="4681728"/>
            <a:ext cx="1714189" cy="420624"/>
          </a:xfrm>
          <a:prstGeom prst="rect">
            <a:avLst/>
          </a:prstGeom>
          <a:noFill/>
        </p:spPr>
        <p:txBody>
          <a:bodyPr wrap="square" lIns="0" rIns="0" tIns="0" bIns="0" anchor="t">
            <a:spAutoFit/>
          </a:bodyPr>
          <a:lstStyle/>
          <a:p>
            <a:pPr algn="l">
              <a:lnSpc>
                <a:spcPct val="114000"/>
              </a:lnSpc>
            </a:pPr>
            <a:r>
              <a:rPr sz="1000" b="1" i="0">
                <a:solidFill>
                  <a:srgbClr val="050F40"/>
                </a:solidFill>
                <a:latin typeface="Satoshi"/>
              </a:rPr>
              <a:t>Route it</a:t>
            </a:r>
          </a:p>
        </p:txBody>
      </p:sp>
      <p:sp>
        <p:nvSpPr>
          <p:cNvPr id="64" name="TextBox 63"/>
          <p:cNvSpPr txBox="1"/>
          <p:nvPr/>
        </p:nvSpPr>
        <p:spPr>
          <a:xfrm>
            <a:off x="9654820" y="5120640"/>
            <a:ext cx="1714189" cy="1024127"/>
          </a:xfrm>
          <a:prstGeom prst="rect">
            <a:avLst/>
          </a:prstGeom>
          <a:noFill/>
        </p:spPr>
        <p:txBody>
          <a:bodyPr wrap="square" lIns="0" rIns="0" tIns="0" bIns="0" anchor="t">
            <a:spAutoFit/>
          </a:bodyPr>
          <a:lstStyle/>
          <a:p>
            <a:pPr algn="l">
              <a:lnSpc>
                <a:spcPct val="124000"/>
              </a:lnSpc>
            </a:pPr>
            <a:r>
              <a:rPr sz="780" b="0" i="0">
                <a:solidFill>
                  <a:srgbClr val="4C4C4C"/>
                </a:solidFill>
                <a:latin typeface="Satoshi"/>
              </a:rPr>
              <a:t>Vadim for numbers, Whitney for regulated claims, Asselya for editorial, Katerina for competitive framing.</a:t>
            </a:r>
          </a:p>
        </p:txBody>
      </p:sp>
      <p:sp>
        <p:nvSpPr>
          <p:cNvPr id="65" name="TextBox 64"/>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66" name="TextBox 65"/>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39 / 61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06</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Landing-page build playbook</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The second production line. Four gates, seventeen slots, and the FAQ block that earns citations.</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40 / 61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06 · LANDING-PAGE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Route it through the pipeline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Pages on 3dlook.ai go through the page-builder skill. Nika owns the brief, the copy decisions and the final quality call. The pipeline enforces the parts that are easy to skip under deadline.</a:t>
            </a:r>
          </a:p>
        </p:txBody>
      </p:sp>
      <p:sp>
        <p:nvSpPr>
          <p:cNvPr id="5" name="Rounded Rectangle 4"/>
          <p:cNvSpPr/>
          <p:nvPr/>
        </p:nvSpPr>
        <p:spPr>
          <a:xfrm>
            <a:off x="658368" y="1828800"/>
            <a:ext cx="2526784" cy="1517904"/>
          </a:xfrm>
          <a:prstGeom prst="roundRect">
            <a:avLst>
              <a:gd name="adj" fmla="val 16733"/>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2526784"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7" y="2011680"/>
            <a:ext cx="2161024" cy="292608"/>
          </a:xfrm>
          <a:prstGeom prst="rect">
            <a:avLst/>
          </a:prstGeom>
          <a:noFill/>
        </p:spPr>
        <p:txBody>
          <a:bodyPr wrap="square" lIns="0" rIns="0" tIns="0" bIns="0" anchor="t">
            <a:spAutoFit/>
          </a:bodyPr>
          <a:lstStyle/>
          <a:p>
            <a:pPr algn="l">
              <a:lnSpc>
                <a:spcPct val="128000"/>
              </a:lnSpc>
            </a:pPr>
            <a:r>
              <a:rPr sz="1900" b="1" i="0">
                <a:solidFill>
                  <a:srgbClr val="143DFF"/>
                </a:solidFill>
                <a:latin typeface="Satoshi"/>
              </a:rPr>
              <a:t>G-I</a:t>
            </a:r>
          </a:p>
        </p:txBody>
      </p:sp>
      <p:sp>
        <p:nvSpPr>
          <p:cNvPr id="8" name="TextBox 7"/>
          <p:cNvSpPr txBox="1"/>
          <p:nvPr/>
        </p:nvSpPr>
        <p:spPr>
          <a:xfrm>
            <a:off x="841247" y="2340864"/>
            <a:ext cx="2161024" cy="256032"/>
          </a:xfrm>
          <a:prstGeom prst="rect">
            <a:avLst/>
          </a:prstGeom>
          <a:noFill/>
        </p:spPr>
        <p:txBody>
          <a:bodyPr wrap="square" lIns="0" rIns="0" tIns="0" bIns="0" anchor="t">
            <a:spAutoFit/>
          </a:bodyPr>
          <a:lstStyle/>
          <a:p>
            <a:pPr algn="l">
              <a:lnSpc>
                <a:spcPct val="116000"/>
              </a:lnSpc>
            </a:pPr>
            <a:r>
              <a:rPr sz="940" b="1" i="0">
                <a:solidFill>
                  <a:srgbClr val="050F40"/>
                </a:solidFill>
                <a:latin typeface="Satoshi"/>
              </a:rPr>
              <a:t>Blocks the page existing at all</a:t>
            </a:r>
          </a:p>
        </p:txBody>
      </p:sp>
      <p:sp>
        <p:nvSpPr>
          <p:cNvPr id="9" name="TextBox 8"/>
          <p:cNvSpPr txBox="1"/>
          <p:nvPr/>
        </p:nvSpPr>
        <p:spPr>
          <a:xfrm>
            <a:off x="841247" y="2670048"/>
            <a:ext cx="2161024" cy="512063"/>
          </a:xfrm>
          <a:prstGeom prst="rect">
            <a:avLst/>
          </a:prstGeom>
          <a:noFill/>
        </p:spPr>
        <p:txBody>
          <a:bodyPr wrap="square" lIns="0" rIns="0" tIns="0" bIns="0" anchor="t">
            <a:spAutoFit/>
          </a:bodyPr>
          <a:lstStyle/>
          <a:p>
            <a:pPr algn="l">
              <a:lnSpc>
                <a:spcPct val="126000"/>
              </a:lnSpc>
            </a:pPr>
            <a:r>
              <a:rPr sz="800" b="0" i="0">
                <a:solidFill>
                  <a:srgbClr val="4C4C4C"/>
                </a:solidFill>
                <a:latin typeface="Satoshi"/>
              </a:rPr>
              <a:t>A use-case file, two or more publishable cases from that vertical, real demand, five facts absent from the parent page, and the 60% uniqueness rule</a:t>
            </a:r>
          </a:p>
        </p:txBody>
      </p:sp>
      <p:sp>
        <p:nvSpPr>
          <p:cNvPr id="10" name="TextBox 9"/>
          <p:cNvSpPr txBox="1"/>
          <p:nvPr/>
        </p:nvSpPr>
        <p:spPr>
          <a:xfrm>
            <a:off x="3185152" y="2459736"/>
            <a:ext cx="256032" cy="256032"/>
          </a:xfrm>
          <a:prstGeom prst="rect">
            <a:avLst/>
          </a:prstGeom>
          <a:noFill/>
        </p:spPr>
        <p:txBody>
          <a:bodyPr wrap="square" lIns="0" rIns="0" tIns="0" bIns="0" anchor="t">
            <a:spAutoFit/>
          </a:bodyPr>
          <a:lstStyle/>
          <a:p>
            <a:pPr algn="ctr">
              <a:lnSpc>
                <a:spcPct val="128000"/>
              </a:lnSpc>
            </a:pPr>
            <a:r>
              <a:rPr sz="1700" b="1" i="0">
                <a:solidFill>
                  <a:srgbClr val="8A9CFF"/>
                </a:solidFill>
                <a:latin typeface="Satoshi"/>
              </a:rPr>
              <a:t>›</a:t>
            </a:r>
          </a:p>
        </p:txBody>
      </p:sp>
      <p:sp>
        <p:nvSpPr>
          <p:cNvPr id="11" name="Rounded Rectangle 10"/>
          <p:cNvSpPr/>
          <p:nvPr/>
        </p:nvSpPr>
        <p:spPr>
          <a:xfrm>
            <a:off x="3441184" y="1828800"/>
            <a:ext cx="2526784" cy="1517904"/>
          </a:xfrm>
          <a:prstGeom prst="roundRect">
            <a:avLst>
              <a:gd name="adj" fmla="val 16733"/>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41184" y="1828800"/>
            <a:ext cx="2526784"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4064" y="2011680"/>
            <a:ext cx="2161024" cy="292608"/>
          </a:xfrm>
          <a:prstGeom prst="rect">
            <a:avLst/>
          </a:prstGeom>
          <a:noFill/>
        </p:spPr>
        <p:txBody>
          <a:bodyPr wrap="square" lIns="0" rIns="0" tIns="0" bIns="0" anchor="t">
            <a:spAutoFit/>
          </a:bodyPr>
          <a:lstStyle/>
          <a:p>
            <a:pPr algn="l">
              <a:lnSpc>
                <a:spcPct val="128000"/>
              </a:lnSpc>
            </a:pPr>
            <a:r>
              <a:rPr sz="1900" b="1" i="0">
                <a:solidFill>
                  <a:srgbClr val="143DFF"/>
                </a:solidFill>
                <a:latin typeface="Satoshi"/>
              </a:rPr>
              <a:t>G-A</a:t>
            </a:r>
          </a:p>
        </p:txBody>
      </p:sp>
      <p:sp>
        <p:nvSpPr>
          <p:cNvPr id="14" name="TextBox 13"/>
          <p:cNvSpPr txBox="1"/>
          <p:nvPr/>
        </p:nvSpPr>
        <p:spPr>
          <a:xfrm>
            <a:off x="3624064" y="2340864"/>
            <a:ext cx="2161024" cy="256032"/>
          </a:xfrm>
          <a:prstGeom prst="rect">
            <a:avLst/>
          </a:prstGeom>
          <a:noFill/>
        </p:spPr>
        <p:txBody>
          <a:bodyPr wrap="square" lIns="0" rIns="0" tIns="0" bIns="0" anchor="t">
            <a:spAutoFit/>
          </a:bodyPr>
          <a:lstStyle/>
          <a:p>
            <a:pPr algn="l">
              <a:lnSpc>
                <a:spcPct val="116000"/>
              </a:lnSpc>
            </a:pPr>
            <a:r>
              <a:rPr sz="940" b="1" i="0">
                <a:solidFill>
                  <a:srgbClr val="050F40"/>
                </a:solidFill>
                <a:latin typeface="Satoshi"/>
              </a:rPr>
              <a:t>Blocks writing</a:t>
            </a:r>
          </a:p>
        </p:txBody>
      </p:sp>
      <p:sp>
        <p:nvSpPr>
          <p:cNvPr id="15" name="TextBox 14"/>
          <p:cNvSpPr txBox="1"/>
          <p:nvPr/>
        </p:nvSpPr>
        <p:spPr>
          <a:xfrm>
            <a:off x="3624064" y="2670048"/>
            <a:ext cx="2161024" cy="512063"/>
          </a:xfrm>
          <a:prstGeom prst="rect">
            <a:avLst/>
          </a:prstGeom>
          <a:noFill/>
        </p:spPr>
        <p:txBody>
          <a:bodyPr wrap="square" lIns="0" rIns="0" tIns="0" bIns="0" anchor="t">
            <a:spAutoFit/>
          </a:bodyPr>
          <a:lstStyle/>
          <a:p>
            <a:pPr algn="l">
              <a:lnSpc>
                <a:spcPct val="126000"/>
              </a:lnSpc>
            </a:pPr>
            <a:r>
              <a:rPr sz="800" b="0" i="0">
                <a:solidFill>
                  <a:srgbClr val="4C4C4C"/>
                </a:solidFill>
                <a:latin typeface="Satoshi"/>
              </a:rPr>
              <a:t>Placement, URL, cannibalization against existing pages, and the Search Console baseline all settled</a:t>
            </a:r>
          </a:p>
        </p:txBody>
      </p:sp>
      <p:sp>
        <p:nvSpPr>
          <p:cNvPr id="16" name="TextBox 15"/>
          <p:cNvSpPr txBox="1"/>
          <p:nvPr/>
        </p:nvSpPr>
        <p:spPr>
          <a:xfrm>
            <a:off x="5967968" y="2459736"/>
            <a:ext cx="256032" cy="256032"/>
          </a:xfrm>
          <a:prstGeom prst="rect">
            <a:avLst/>
          </a:prstGeom>
          <a:noFill/>
        </p:spPr>
        <p:txBody>
          <a:bodyPr wrap="square" lIns="0" rIns="0" tIns="0" bIns="0" anchor="t">
            <a:spAutoFit/>
          </a:bodyPr>
          <a:lstStyle/>
          <a:p>
            <a:pPr algn="ctr">
              <a:lnSpc>
                <a:spcPct val="128000"/>
              </a:lnSpc>
            </a:pPr>
            <a:r>
              <a:rPr sz="1700" b="1" i="0">
                <a:solidFill>
                  <a:srgbClr val="8A9CFF"/>
                </a:solidFill>
                <a:latin typeface="Satoshi"/>
              </a:rPr>
              <a:t>›</a:t>
            </a:r>
          </a:p>
        </p:txBody>
      </p:sp>
      <p:sp>
        <p:nvSpPr>
          <p:cNvPr id="17" name="Rounded Rectangle 16"/>
          <p:cNvSpPr/>
          <p:nvPr/>
        </p:nvSpPr>
        <p:spPr>
          <a:xfrm>
            <a:off x="6224000" y="1828800"/>
            <a:ext cx="2526784" cy="1517904"/>
          </a:xfrm>
          <a:prstGeom prst="roundRect">
            <a:avLst>
              <a:gd name="adj" fmla="val 16733"/>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24000" y="1828800"/>
            <a:ext cx="2526784"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6880" y="2011680"/>
            <a:ext cx="2161024" cy="292608"/>
          </a:xfrm>
          <a:prstGeom prst="rect">
            <a:avLst/>
          </a:prstGeom>
          <a:noFill/>
        </p:spPr>
        <p:txBody>
          <a:bodyPr wrap="square" lIns="0" rIns="0" tIns="0" bIns="0" anchor="t">
            <a:spAutoFit/>
          </a:bodyPr>
          <a:lstStyle/>
          <a:p>
            <a:pPr algn="l">
              <a:lnSpc>
                <a:spcPct val="128000"/>
              </a:lnSpc>
            </a:pPr>
            <a:r>
              <a:rPr sz="1900" b="1" i="0">
                <a:solidFill>
                  <a:srgbClr val="143DFF"/>
                </a:solidFill>
                <a:latin typeface="Satoshi"/>
              </a:rPr>
              <a:t>G-T</a:t>
            </a:r>
          </a:p>
        </p:txBody>
      </p:sp>
      <p:sp>
        <p:nvSpPr>
          <p:cNvPr id="20" name="TextBox 19"/>
          <p:cNvSpPr txBox="1"/>
          <p:nvPr/>
        </p:nvSpPr>
        <p:spPr>
          <a:xfrm>
            <a:off x="6406880" y="2340864"/>
            <a:ext cx="2161024" cy="256032"/>
          </a:xfrm>
          <a:prstGeom prst="rect">
            <a:avLst/>
          </a:prstGeom>
          <a:noFill/>
        </p:spPr>
        <p:txBody>
          <a:bodyPr wrap="square" lIns="0" rIns="0" tIns="0" bIns="0" anchor="t">
            <a:spAutoFit/>
          </a:bodyPr>
          <a:lstStyle/>
          <a:p>
            <a:pPr algn="l">
              <a:lnSpc>
                <a:spcPct val="116000"/>
              </a:lnSpc>
            </a:pPr>
            <a:r>
              <a:rPr sz="940" b="1" i="0">
                <a:solidFill>
                  <a:srgbClr val="050F40"/>
                </a:solidFill>
                <a:latin typeface="Satoshi"/>
              </a:rPr>
              <a:t>Blocks publishing, technically</a:t>
            </a:r>
          </a:p>
        </p:txBody>
      </p:sp>
      <p:sp>
        <p:nvSpPr>
          <p:cNvPr id="21" name="TextBox 20"/>
          <p:cNvSpPr txBox="1"/>
          <p:nvPr/>
        </p:nvSpPr>
        <p:spPr>
          <a:xfrm>
            <a:off x="6406880" y="2670048"/>
            <a:ext cx="2161024" cy="512063"/>
          </a:xfrm>
          <a:prstGeom prst="rect">
            <a:avLst/>
          </a:prstGeom>
          <a:noFill/>
        </p:spPr>
        <p:txBody>
          <a:bodyPr wrap="square" lIns="0" rIns="0" tIns="0" bIns="0" anchor="t">
            <a:spAutoFit/>
          </a:bodyPr>
          <a:lstStyle/>
          <a:p>
            <a:pPr algn="l">
              <a:lnSpc>
                <a:spcPct val="126000"/>
              </a:lnSpc>
            </a:pPr>
            <a:r>
              <a:rPr sz="800" b="0" i="0">
                <a:solidFill>
                  <a:srgbClr val="4C4C4C"/>
                </a:solidFill>
                <a:latin typeface="Satoshi"/>
              </a:rPr>
              <a:t>Schema, canonical, Yoast title and description, breadcrumbs, a single H1</a:t>
            </a:r>
          </a:p>
        </p:txBody>
      </p:sp>
      <p:sp>
        <p:nvSpPr>
          <p:cNvPr id="22" name="TextBox 21"/>
          <p:cNvSpPr txBox="1"/>
          <p:nvPr/>
        </p:nvSpPr>
        <p:spPr>
          <a:xfrm>
            <a:off x="8750785" y="2459736"/>
            <a:ext cx="256032" cy="256032"/>
          </a:xfrm>
          <a:prstGeom prst="rect">
            <a:avLst/>
          </a:prstGeom>
          <a:noFill/>
        </p:spPr>
        <p:txBody>
          <a:bodyPr wrap="square" lIns="0" rIns="0" tIns="0" bIns="0" anchor="t">
            <a:spAutoFit/>
          </a:bodyPr>
          <a:lstStyle/>
          <a:p>
            <a:pPr algn="ctr">
              <a:lnSpc>
                <a:spcPct val="128000"/>
              </a:lnSpc>
            </a:pPr>
            <a:r>
              <a:rPr sz="1700" b="1" i="0">
                <a:solidFill>
                  <a:srgbClr val="8A9CFF"/>
                </a:solidFill>
                <a:latin typeface="Satoshi"/>
              </a:rPr>
              <a:t>›</a:t>
            </a:r>
          </a:p>
        </p:txBody>
      </p:sp>
      <p:sp>
        <p:nvSpPr>
          <p:cNvPr id="23" name="Rounded Rectangle 22"/>
          <p:cNvSpPr/>
          <p:nvPr/>
        </p:nvSpPr>
        <p:spPr>
          <a:xfrm>
            <a:off x="9006817" y="1828800"/>
            <a:ext cx="2526784" cy="1517904"/>
          </a:xfrm>
          <a:prstGeom prst="roundRect">
            <a:avLst>
              <a:gd name="adj" fmla="val 16733"/>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06817" y="1828800"/>
            <a:ext cx="2526784"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89697" y="2011680"/>
            <a:ext cx="2161024" cy="292608"/>
          </a:xfrm>
          <a:prstGeom prst="rect">
            <a:avLst/>
          </a:prstGeom>
          <a:noFill/>
        </p:spPr>
        <p:txBody>
          <a:bodyPr wrap="square" lIns="0" rIns="0" tIns="0" bIns="0" anchor="t">
            <a:spAutoFit/>
          </a:bodyPr>
          <a:lstStyle/>
          <a:p>
            <a:pPr algn="l">
              <a:lnSpc>
                <a:spcPct val="128000"/>
              </a:lnSpc>
            </a:pPr>
            <a:r>
              <a:rPr sz="1900" b="1" i="0">
                <a:solidFill>
                  <a:srgbClr val="143DFF"/>
                </a:solidFill>
                <a:latin typeface="Satoshi"/>
              </a:rPr>
              <a:t>G-J</a:t>
            </a:r>
          </a:p>
        </p:txBody>
      </p:sp>
      <p:sp>
        <p:nvSpPr>
          <p:cNvPr id="26" name="TextBox 25"/>
          <p:cNvSpPr txBox="1"/>
          <p:nvPr/>
        </p:nvSpPr>
        <p:spPr>
          <a:xfrm>
            <a:off x="9189697" y="2340864"/>
            <a:ext cx="2161024" cy="256032"/>
          </a:xfrm>
          <a:prstGeom prst="rect">
            <a:avLst/>
          </a:prstGeom>
          <a:noFill/>
        </p:spPr>
        <p:txBody>
          <a:bodyPr wrap="square" lIns="0" rIns="0" tIns="0" bIns="0" anchor="t">
            <a:spAutoFit/>
          </a:bodyPr>
          <a:lstStyle/>
          <a:p>
            <a:pPr algn="l">
              <a:lnSpc>
                <a:spcPct val="116000"/>
              </a:lnSpc>
            </a:pPr>
            <a:r>
              <a:rPr sz="940" b="1" i="0">
                <a:solidFill>
                  <a:srgbClr val="050F40"/>
                </a:solidFill>
                <a:latin typeface="Satoshi"/>
              </a:rPr>
              <a:t>Blocks publishing, on quality</a:t>
            </a:r>
          </a:p>
        </p:txBody>
      </p:sp>
      <p:sp>
        <p:nvSpPr>
          <p:cNvPr id="27" name="TextBox 26"/>
          <p:cNvSpPr txBox="1"/>
          <p:nvPr/>
        </p:nvSpPr>
        <p:spPr>
          <a:xfrm>
            <a:off x="9189697" y="2670048"/>
            <a:ext cx="2161024" cy="512063"/>
          </a:xfrm>
          <a:prstGeom prst="rect">
            <a:avLst/>
          </a:prstGeom>
          <a:noFill/>
        </p:spPr>
        <p:txBody>
          <a:bodyPr wrap="square" lIns="0" rIns="0" tIns="0" bIns="0" anchor="t">
            <a:spAutoFit/>
          </a:bodyPr>
          <a:lstStyle/>
          <a:p>
            <a:pPr algn="l">
              <a:lnSpc>
                <a:spcPct val="126000"/>
              </a:lnSpc>
            </a:pPr>
            <a:r>
              <a:rPr sz="800" b="0" i="0">
                <a:solidFill>
                  <a:srgbClr val="4C4C4C"/>
                </a:solidFill>
                <a:latin typeface="Satoshi"/>
              </a:rPr>
              <a:t>A blind judge in a fresh subagent, 100-point page scorecard, threshold 85, maximum three rounds. Publishing below 85 without flagging it is not allowed</a:t>
            </a:r>
          </a:p>
        </p:txBody>
      </p:sp>
      <p:sp>
        <p:nvSpPr>
          <p:cNvPr id="28" name="Rounded Rectangle 27"/>
          <p:cNvSpPr/>
          <p:nvPr/>
        </p:nvSpPr>
        <p:spPr>
          <a:xfrm>
            <a:off x="658368" y="3529584"/>
            <a:ext cx="10875233" cy="914400"/>
          </a:xfrm>
          <a:prstGeom prst="roundRect">
            <a:avLst>
              <a:gd name="adj" fmla="val 27777"/>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77824" y="3648456"/>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READ THIS BEFORE PROMISING A VERTICAL PAGE</a:t>
            </a:r>
          </a:p>
        </p:txBody>
      </p:sp>
      <p:sp>
        <p:nvSpPr>
          <p:cNvPr id="30" name="TextBox 29"/>
          <p:cNvSpPr txBox="1"/>
          <p:nvPr/>
        </p:nvSpPr>
        <p:spPr>
          <a:xfrm>
            <a:off x="877824" y="3840480"/>
            <a:ext cx="10418033" cy="493776"/>
          </a:xfrm>
          <a:prstGeom prst="rect">
            <a:avLst/>
          </a:prstGeom>
          <a:noFill/>
        </p:spPr>
        <p:txBody>
          <a:bodyPr wrap="square" lIns="0" rIns="0" tIns="0" bIns="0" anchor="t">
            <a:spAutoFit/>
          </a:bodyPr>
          <a:lstStyle/>
          <a:p>
            <a:pPr algn="l">
              <a:lnSpc>
                <a:spcPct val="114000"/>
              </a:lnSpc>
            </a:pPr>
            <a:r>
              <a:rPr sz="1250" b="1" i="0">
                <a:solidFill>
                  <a:srgbClr val="FFFFFF"/>
                </a:solidFill>
                <a:latin typeface="Satoshi"/>
              </a:rPr>
              <a:t>G-I currently blocks almost every FitXpress vertical, because it wants two publishable cases and every FitXpress vertical has at most one. The options are a second case, an approved reference, or a recorded G-I waiver from Vadim. Do not quietly proceed.</a:t>
            </a:r>
          </a:p>
        </p:txBody>
      </p:sp>
      <p:sp>
        <p:nvSpPr>
          <p:cNvPr id="31" name="Rounded Rectangle 30"/>
          <p:cNvSpPr/>
          <p:nvPr/>
        </p:nvSpPr>
        <p:spPr>
          <a:xfrm>
            <a:off x="658368" y="4590288"/>
            <a:ext cx="5327888" cy="1792224"/>
          </a:xfrm>
          <a:prstGeom prst="roundRect">
            <a:avLst>
              <a:gd name="adj" fmla="val 1417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9536" y="4764024"/>
            <a:ext cx="4925552" cy="256032"/>
          </a:xfrm>
          <a:prstGeom prst="rect">
            <a:avLst/>
          </a:prstGeom>
          <a:noFill/>
        </p:spPr>
        <p:txBody>
          <a:bodyPr wrap="square" lIns="0" rIns="0" tIns="0" bIns="0" anchor="t">
            <a:spAutoFit/>
          </a:bodyPr>
          <a:lstStyle/>
          <a:p>
            <a:pPr algn="l">
              <a:lnSpc>
                <a:spcPct val="128000"/>
              </a:lnSpc>
            </a:pPr>
            <a:r>
              <a:rPr sz="1050" b="1" i="0">
                <a:solidFill>
                  <a:srgbClr val="050F40"/>
                </a:solidFill>
                <a:latin typeface="Satoshi"/>
              </a:rPr>
              <a:t>URL structure, two hierarchies of different depth</a:t>
            </a:r>
          </a:p>
        </p:txBody>
      </p:sp>
      <p:sp>
        <p:nvSpPr>
          <p:cNvPr id="33" name="TextBox 32"/>
          <p:cNvSpPr txBox="1"/>
          <p:nvPr/>
        </p:nvSpPr>
        <p:spPr>
          <a:xfrm>
            <a:off x="859536" y="5120640"/>
            <a:ext cx="4925552" cy="1078992"/>
          </a:xfrm>
          <a:prstGeom prst="rect">
            <a:avLst/>
          </a:prstGeom>
          <a:noFill/>
        </p:spPr>
        <p:txBody>
          <a:bodyPr wrap="square" lIns="0" rIns="0" tIns="0" bIns="0" anchor="t">
            <a:spAutoFit/>
          </a:bodyPr>
          <a:lstStyle/>
          <a:p>
            <a:pPr algn="l">
              <a:lnSpc>
                <a:spcPct val="126000"/>
              </a:lnSpc>
              <a:spcAft>
                <a:spcPts val="340"/>
              </a:spcAft>
            </a:pPr>
            <a:r>
              <a:rPr sz="840" b="1" i="0">
                <a:solidFill>
                  <a:srgbClr val="050F40"/>
                </a:solidFill>
                <a:latin typeface="Satoshi"/>
              </a:rPr>
              <a:t>·  </a:t>
            </a:r>
            <a:r>
              <a:rPr sz="840" b="0" i="0">
                <a:solidFill>
                  <a:srgbClr val="4C4C4C"/>
                </a:solidFill>
                <a:latin typeface="Satoshi"/>
              </a:rPr>
              <a:t>The homepage is the FitXpress parent, since /fitxpress/ redirects to /</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FitXpress vertical pages sit at /for-{vertical}/ with two-level breadcrumbs</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Mobile Tailor has its own parent, with /mobile-tailor/for-{vertical}/ beneath it and three-level breadcrumbs</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Never invent a /fitxpress/ path level</a:t>
            </a:r>
          </a:p>
        </p:txBody>
      </p:sp>
      <p:sp>
        <p:nvSpPr>
          <p:cNvPr id="34" name="Rounded Rectangle 33"/>
          <p:cNvSpPr/>
          <p:nvPr/>
        </p:nvSpPr>
        <p:spPr>
          <a:xfrm>
            <a:off x="6205712" y="4590288"/>
            <a:ext cx="5327888" cy="1792224"/>
          </a:xfrm>
          <a:prstGeom prst="roundRect">
            <a:avLst>
              <a:gd name="adj" fmla="val 14172"/>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6880" y="4764024"/>
            <a:ext cx="4925552" cy="256032"/>
          </a:xfrm>
          <a:prstGeom prst="rect">
            <a:avLst/>
          </a:prstGeom>
          <a:noFill/>
        </p:spPr>
        <p:txBody>
          <a:bodyPr wrap="square" lIns="0" rIns="0" tIns="0" bIns="0" anchor="t">
            <a:spAutoFit/>
          </a:bodyPr>
          <a:lstStyle/>
          <a:p>
            <a:pPr algn="l">
              <a:lnSpc>
                <a:spcPct val="128000"/>
              </a:lnSpc>
            </a:pPr>
            <a:r>
              <a:rPr sz="1050" b="1" i="0">
                <a:solidFill>
                  <a:srgbClr val="143DFF"/>
                </a:solidFill>
                <a:latin typeface="Satoshi"/>
              </a:rPr>
              <a:t>Where things go</a:t>
            </a:r>
          </a:p>
        </p:txBody>
      </p:sp>
      <p:sp>
        <p:nvSpPr>
          <p:cNvPr id="36" name="TextBox 35"/>
          <p:cNvSpPr txBox="1"/>
          <p:nvPr/>
        </p:nvSpPr>
        <p:spPr>
          <a:xfrm>
            <a:off x="6406880" y="5120640"/>
            <a:ext cx="4925552" cy="1078992"/>
          </a:xfrm>
          <a:prstGeom prst="rect">
            <a:avLst/>
          </a:prstGeom>
          <a:noFill/>
        </p:spPr>
        <p:txBody>
          <a:bodyPr wrap="square" lIns="0" rIns="0" tIns="0" bIns="0" anchor="t">
            <a:spAutoFit/>
          </a:bodyPr>
          <a:lstStyle/>
          <a:p>
            <a:pPr algn="l">
              <a:lnSpc>
                <a:spcPct val="126000"/>
              </a:lnSpc>
              <a:spcAft>
                <a:spcPts val="340"/>
              </a:spcAft>
            </a:pPr>
            <a:r>
              <a:rPr sz="840" b="1" i="0">
                <a:solidFill>
                  <a:srgbClr val="143DFF"/>
                </a:solidFill>
                <a:latin typeface="Satoshi"/>
              </a:rPr>
              <a:t>·  </a:t>
            </a:r>
            <a:r>
              <a:rPr sz="840" b="0" i="0">
                <a:solidFill>
                  <a:srgbClr val="4C4C4C"/>
                </a:solidFill>
                <a:latin typeface="Satoshi"/>
              </a:rPr>
              <a:t>Command: /page [vertical] [gate | build | judge | handoff | full]</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Artifacts: workspace/pages/{slug}/</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quality-controller is not a substitute for G-J. It is neither blind nor page-shaped</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The benchmark to match: /structured-body-data-for-telehealth-digital-health-programs/</a:t>
            </a:r>
          </a:p>
        </p:txBody>
      </p:sp>
      <p:sp>
        <p:nvSpPr>
          <p:cNvPr id="37" name="TextBox 36"/>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8" name="TextBox 37"/>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41 / 61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06 · LANDING-PAGE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section map, slots 1 to 9</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same 17 slots the pipeline enforces. Use this map when writing a brief, reviewing a draft, or building a campaign landing by hand.</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197753"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a:t>
            </a:r>
          </a:p>
        </p:txBody>
      </p:sp>
      <p:sp>
        <p:nvSpPr>
          <p:cNvPr id="7" name="TextBox 6"/>
          <p:cNvSpPr txBox="1"/>
          <p:nvPr/>
        </p:nvSpPr>
        <p:spPr>
          <a:xfrm>
            <a:off x="1139585" y="1879092"/>
            <a:ext cx="2264047"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Slot</a:t>
            </a:r>
          </a:p>
        </p:txBody>
      </p:sp>
      <p:sp>
        <p:nvSpPr>
          <p:cNvPr id="8" name="TextBox 7"/>
          <p:cNvSpPr txBox="1"/>
          <p:nvPr/>
        </p:nvSpPr>
        <p:spPr>
          <a:xfrm>
            <a:off x="3586512" y="1879092"/>
            <a:ext cx="7864792"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The rule</a:t>
            </a:r>
          </a:p>
        </p:txBody>
      </p:sp>
      <p:sp>
        <p:nvSpPr>
          <p:cNvPr id="9" name="Rectangle 8"/>
          <p:cNvSpPr/>
          <p:nvPr/>
        </p:nvSpPr>
        <p:spPr>
          <a:xfrm>
            <a:off x="658368" y="2103120"/>
            <a:ext cx="10875233" cy="4572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1442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a:t>
            </a:r>
          </a:p>
        </p:txBody>
      </p:sp>
      <p:sp>
        <p:nvSpPr>
          <p:cNvPr id="12" name="TextBox 11"/>
          <p:cNvSpPr txBox="1"/>
          <p:nvPr/>
        </p:nvSpPr>
        <p:spPr>
          <a:xfrm>
            <a:off x="1139585" y="21442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Breadcrumbs</a:t>
            </a:r>
          </a:p>
        </p:txBody>
      </p:sp>
      <p:sp>
        <p:nvSpPr>
          <p:cNvPr id="13" name="TextBox 12"/>
          <p:cNvSpPr txBox="1"/>
          <p:nvPr/>
        </p:nvSpPr>
        <p:spPr>
          <a:xfrm>
            <a:off x="3586512" y="21442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Two levels for FitXpress (Home to Vertical), three for Mobile Tailor. Match what live pages declare. Never a middle level that resolves to a redirect</a:t>
            </a:r>
          </a:p>
        </p:txBody>
      </p:sp>
      <p:sp>
        <p:nvSpPr>
          <p:cNvPr id="14" name="Rectangle 13"/>
          <p:cNvSpPr/>
          <p:nvPr/>
        </p:nvSpPr>
        <p:spPr>
          <a:xfrm>
            <a:off x="658368" y="2560320"/>
            <a:ext cx="10875233"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5603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26014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2</a:t>
            </a:r>
          </a:p>
        </p:txBody>
      </p:sp>
      <p:sp>
        <p:nvSpPr>
          <p:cNvPr id="17" name="TextBox 16"/>
          <p:cNvSpPr txBox="1"/>
          <p:nvPr/>
        </p:nvSpPr>
        <p:spPr>
          <a:xfrm>
            <a:off x="1139585" y="26014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H1</a:t>
            </a:r>
          </a:p>
        </p:txBody>
      </p:sp>
      <p:sp>
        <p:nvSpPr>
          <p:cNvPr id="18" name="TextBox 17"/>
          <p:cNvSpPr txBox="1"/>
          <p:nvPr/>
        </p:nvSpPr>
        <p:spPr>
          <a:xfrm>
            <a:off x="3586512" y="26014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[Outcome in the vertical's terms] for [vertical]. One H1. Primary query in it and in the first 100 words. No "best", no "most accurate", no banned words</a:t>
            </a:r>
          </a:p>
        </p:txBody>
      </p:sp>
      <p:sp>
        <p:nvSpPr>
          <p:cNvPr id="19" name="Rectangle 18"/>
          <p:cNvSpPr/>
          <p:nvPr/>
        </p:nvSpPr>
        <p:spPr>
          <a:xfrm>
            <a:off x="658368" y="3017520"/>
            <a:ext cx="10875233" cy="4572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30175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0586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3</a:t>
            </a:r>
          </a:p>
        </p:txBody>
      </p:sp>
      <p:sp>
        <p:nvSpPr>
          <p:cNvPr id="22" name="TextBox 21"/>
          <p:cNvSpPr txBox="1"/>
          <p:nvPr/>
        </p:nvSpPr>
        <p:spPr>
          <a:xfrm>
            <a:off x="1139585" y="30586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Hero and a vertical proof point</a:t>
            </a:r>
          </a:p>
        </p:txBody>
      </p:sp>
      <p:sp>
        <p:nvSpPr>
          <p:cNvPr id="23" name="TextBox 22"/>
          <p:cNvSpPr txBox="1"/>
          <p:nvPr/>
        </p:nvSpPr>
        <p:spPr>
          <a:xfrm>
            <a:off x="3586512" y="30586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One sentence on what the product does here, and a number from THIS vertical. The company-wide 112,100 scans figure does not work in a vertical hero</a:t>
            </a:r>
          </a:p>
        </p:txBody>
      </p:sp>
      <p:sp>
        <p:nvSpPr>
          <p:cNvPr id="24" name="Rectangle 23"/>
          <p:cNvSpPr/>
          <p:nvPr/>
        </p:nvSpPr>
        <p:spPr>
          <a:xfrm>
            <a:off x="658368" y="3474720"/>
            <a:ext cx="10875233"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4747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5158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4</a:t>
            </a:r>
          </a:p>
        </p:txBody>
      </p:sp>
      <p:sp>
        <p:nvSpPr>
          <p:cNvPr id="27" name="TextBox 26"/>
          <p:cNvSpPr txBox="1"/>
          <p:nvPr/>
        </p:nvSpPr>
        <p:spPr>
          <a:xfrm>
            <a:off x="1139585" y="35158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Vertical context</a:t>
            </a:r>
          </a:p>
        </p:txBody>
      </p:sp>
      <p:sp>
        <p:nvSpPr>
          <p:cNvPr id="28" name="TextBox 27"/>
          <p:cNvSpPr txBox="1"/>
          <p:nvPr/>
        </p:nvSpPr>
        <p:spPr>
          <a:xfrm>
            <a:off x="3586512" y="35158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slot the page exists for. Three to five specifics only someone who has worked in this market knows: which regulators actually come up, who signs off and who blocks, the procurement cycle, the units, the export formats, the seasonality</a:t>
            </a:r>
          </a:p>
        </p:txBody>
      </p:sp>
      <p:sp>
        <p:nvSpPr>
          <p:cNvPr id="29" name="Rectangle 28"/>
          <p:cNvSpPr/>
          <p:nvPr/>
        </p:nvSpPr>
        <p:spPr>
          <a:xfrm>
            <a:off x="658368" y="3931920"/>
            <a:ext cx="10875233" cy="4572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39319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39730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5</a:t>
            </a:r>
          </a:p>
        </p:txBody>
      </p:sp>
      <p:sp>
        <p:nvSpPr>
          <p:cNvPr id="32" name="TextBox 31"/>
          <p:cNvSpPr txBox="1"/>
          <p:nvPr/>
        </p:nvSpPr>
        <p:spPr>
          <a:xfrm>
            <a:off x="1139585" y="39730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Pains of this vertical</a:t>
            </a:r>
          </a:p>
        </p:txBody>
      </p:sp>
      <p:sp>
        <p:nvSpPr>
          <p:cNvPr id="33" name="TextBox 32"/>
          <p:cNvSpPr txBox="1"/>
          <p:nvPr/>
        </p:nvSpPr>
        <p:spPr>
          <a:xfrm>
            <a:off x="3586512" y="39730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From the use-case file and the audience.md hook, in the buyer's phrasing. Then honour that segment's "what NOT to say"</a:t>
            </a:r>
          </a:p>
        </p:txBody>
      </p:sp>
      <p:sp>
        <p:nvSpPr>
          <p:cNvPr id="34" name="Rectangle 33"/>
          <p:cNvSpPr/>
          <p:nvPr/>
        </p:nvSpPr>
        <p:spPr>
          <a:xfrm>
            <a:off x="658368" y="4389120"/>
            <a:ext cx="10875233"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389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44302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6</a:t>
            </a:r>
          </a:p>
        </p:txBody>
      </p:sp>
      <p:sp>
        <p:nvSpPr>
          <p:cNvPr id="37" name="TextBox 36"/>
          <p:cNvSpPr txBox="1"/>
          <p:nvPr/>
        </p:nvSpPr>
        <p:spPr>
          <a:xfrm>
            <a:off x="1139585" y="44302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What it is here, and the boundary</a:t>
            </a:r>
          </a:p>
        </p:txBody>
      </p:sp>
      <p:sp>
        <p:nvSpPr>
          <p:cNvPr id="38" name="TextBox 37"/>
          <p:cNvSpPr txBox="1"/>
          <p:nvPr/>
        </p:nvSpPr>
        <p:spPr>
          <a:xfrm>
            <a:off x="3586512" y="44302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Scope in the vertical's own words: what is captured, what is returned, what is documented. Then one boundary sentence: FitXpress is not positioned as a medical device. One negative, once</a:t>
            </a:r>
          </a:p>
        </p:txBody>
      </p:sp>
      <p:sp>
        <p:nvSpPr>
          <p:cNvPr id="39" name="Rectangle 38"/>
          <p:cNvSpPr/>
          <p:nvPr/>
        </p:nvSpPr>
        <p:spPr>
          <a:xfrm>
            <a:off x="658368" y="4846320"/>
            <a:ext cx="10875233" cy="4572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48463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8952" y="48874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7</a:t>
            </a:r>
          </a:p>
        </p:txBody>
      </p:sp>
      <p:sp>
        <p:nvSpPr>
          <p:cNvPr id="42" name="TextBox 41"/>
          <p:cNvSpPr txBox="1"/>
          <p:nvPr/>
        </p:nvSpPr>
        <p:spPr>
          <a:xfrm>
            <a:off x="1139585" y="48874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Where the workflow differs</a:t>
            </a:r>
          </a:p>
        </p:txBody>
      </p:sp>
      <p:sp>
        <p:nvSpPr>
          <p:cNvPr id="43" name="TextBox 42"/>
          <p:cNvSpPr txBox="1"/>
          <p:nvPr/>
        </p:nvSpPr>
        <p:spPr>
          <a:xfrm>
            <a:off x="3586512" y="48874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Not the whole flow. The two or three steps that run differently here: consent capture, retake logic, who reviews a flagged scan, how the record is filed</a:t>
            </a:r>
          </a:p>
        </p:txBody>
      </p:sp>
      <p:sp>
        <p:nvSpPr>
          <p:cNvPr id="44" name="Rectangle 43"/>
          <p:cNvSpPr/>
          <p:nvPr/>
        </p:nvSpPr>
        <p:spPr>
          <a:xfrm>
            <a:off x="658368" y="5303520"/>
            <a:ext cx="10875233" cy="4572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8368" y="53035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53446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8</a:t>
            </a:r>
          </a:p>
        </p:txBody>
      </p:sp>
      <p:sp>
        <p:nvSpPr>
          <p:cNvPr id="47" name="TextBox 46"/>
          <p:cNvSpPr txBox="1"/>
          <p:nvPr/>
        </p:nvSpPr>
        <p:spPr>
          <a:xfrm>
            <a:off x="1139585" y="53446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Compliance and data governance</a:t>
            </a:r>
          </a:p>
        </p:txBody>
      </p:sp>
      <p:sp>
        <p:nvSpPr>
          <p:cNvPr id="48" name="TextBox 47"/>
          <p:cNvSpPr txBox="1"/>
          <p:nvPr/>
        </p:nvSpPr>
        <p:spPr>
          <a:xfrm>
            <a:off x="3586512" y="53446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For a regulated vertical this is the deciding block. HIPAA and GDPR posture, encryption at rest, retention, no personal identifiers, consent handling, audit trails, privacy@3dlook.me. Every control stated with its limit</a:t>
            </a:r>
          </a:p>
        </p:txBody>
      </p:sp>
      <p:sp>
        <p:nvSpPr>
          <p:cNvPr id="49" name="Rectangle 48"/>
          <p:cNvSpPr/>
          <p:nvPr/>
        </p:nvSpPr>
        <p:spPr>
          <a:xfrm>
            <a:off x="658368" y="5760720"/>
            <a:ext cx="10875233" cy="4572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58368" y="57607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8952" y="5801868"/>
            <a:ext cx="197753"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9</a:t>
            </a:r>
          </a:p>
        </p:txBody>
      </p:sp>
      <p:sp>
        <p:nvSpPr>
          <p:cNvPr id="52" name="TextBox 51"/>
          <p:cNvSpPr txBox="1"/>
          <p:nvPr/>
        </p:nvSpPr>
        <p:spPr>
          <a:xfrm>
            <a:off x="1139585" y="5801868"/>
            <a:ext cx="2264047"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Accuracy, scoped</a:t>
            </a:r>
          </a:p>
        </p:txBody>
      </p:sp>
      <p:sp>
        <p:nvSpPr>
          <p:cNvPr id="53" name="TextBox 52"/>
          <p:cNvSpPr txBox="1"/>
          <p:nvPr/>
        </p:nvSpPr>
        <p:spPr>
          <a:xfrm>
            <a:off x="3586512" y="5801868"/>
            <a:ext cx="7864792" cy="4023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reframe, then the four conditions, then figures from proof-points.md only. No bare percentage. Never the three reserved words</a:t>
            </a:r>
          </a:p>
        </p:txBody>
      </p:sp>
      <p:sp>
        <p:nvSpPr>
          <p:cNvPr id="54" name="Rectangle 53"/>
          <p:cNvSpPr/>
          <p:nvPr/>
        </p:nvSpPr>
        <p:spPr>
          <a:xfrm>
            <a:off x="658368" y="62179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56" name="TextBox 55"/>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42 / 61</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06 · LANDING-PAGE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section map, slots 10 to 17</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Campaign landing variant: the same spine, shorter. Slots 2, 3, 5, 6, 9, a FAQ trimmed to four or five questions, and 15. One message, one action, no sibling-vertical cards competing with the campaign.</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252129"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a:t>
            </a:r>
          </a:p>
        </p:txBody>
      </p:sp>
      <p:sp>
        <p:nvSpPr>
          <p:cNvPr id="7" name="TextBox 6"/>
          <p:cNvSpPr txBox="1"/>
          <p:nvPr/>
        </p:nvSpPr>
        <p:spPr>
          <a:xfrm>
            <a:off x="1193961" y="1879092"/>
            <a:ext cx="2372799"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Slot</a:t>
            </a:r>
          </a:p>
        </p:txBody>
      </p:sp>
      <p:sp>
        <p:nvSpPr>
          <p:cNvPr id="8" name="TextBox 7"/>
          <p:cNvSpPr txBox="1"/>
          <p:nvPr/>
        </p:nvSpPr>
        <p:spPr>
          <a:xfrm>
            <a:off x="3749641" y="1879092"/>
            <a:ext cx="7701664"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The rule</a:t>
            </a:r>
          </a:p>
        </p:txBody>
      </p:sp>
      <p:sp>
        <p:nvSpPr>
          <p:cNvPr id="9" name="Rectangle 8"/>
          <p:cNvSpPr/>
          <p:nvPr/>
        </p:nvSpPr>
        <p:spPr>
          <a:xfrm>
            <a:off x="658368" y="2103120"/>
            <a:ext cx="10875233" cy="43434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144268"/>
            <a:ext cx="25212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10</a:t>
            </a:r>
          </a:p>
        </p:txBody>
      </p:sp>
      <p:sp>
        <p:nvSpPr>
          <p:cNvPr id="12" name="TextBox 11"/>
          <p:cNvSpPr txBox="1"/>
          <p:nvPr/>
        </p:nvSpPr>
        <p:spPr>
          <a:xfrm>
            <a:off x="1193961" y="2144268"/>
            <a:ext cx="237279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Cases from this vertical only</a:t>
            </a:r>
          </a:p>
        </p:txBody>
      </p:sp>
      <p:sp>
        <p:nvSpPr>
          <p:cNvPr id="13" name="TextBox 12"/>
          <p:cNvSpPr txBox="1"/>
          <p:nvPr/>
        </p:nvSpPr>
        <p:spPr>
          <a:xfrm>
            <a:off x="3749641" y="2144268"/>
            <a:ext cx="7701664"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Two cards minimum, each with a number from case-studies/, linked to /case-studies/. A case from an adjacent vertical breaks the page's promise. Mobile Tailor customer annual recurring revenue never appears anywhere</a:t>
            </a:r>
          </a:p>
        </p:txBody>
      </p:sp>
      <p:sp>
        <p:nvSpPr>
          <p:cNvPr id="14" name="Rectangle 13"/>
          <p:cNvSpPr/>
          <p:nvPr/>
        </p:nvSpPr>
        <p:spPr>
          <a:xfrm>
            <a:off x="658368" y="2537460"/>
            <a:ext cx="10875233" cy="43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53746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2578608"/>
            <a:ext cx="25212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11</a:t>
            </a:r>
          </a:p>
        </p:txBody>
      </p:sp>
      <p:sp>
        <p:nvSpPr>
          <p:cNvPr id="17" name="TextBox 16"/>
          <p:cNvSpPr txBox="1"/>
          <p:nvPr/>
        </p:nvSpPr>
        <p:spPr>
          <a:xfrm>
            <a:off x="1193961" y="2578608"/>
            <a:ext cx="237279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Customer quote from this vertical</a:t>
            </a:r>
          </a:p>
        </p:txBody>
      </p:sp>
      <p:sp>
        <p:nvSpPr>
          <p:cNvPr id="18" name="TextBox 17"/>
          <p:cNvSpPr txBox="1"/>
          <p:nvPr/>
        </p:nvSpPr>
        <p:spPr>
          <a:xfrm>
            <a:off x="3749641" y="2578608"/>
            <a:ext cx="7701664"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Name, role, company, only where the use is approved. No approved quote means the slot is dropped and recorded. Never an invented name or testimonial</a:t>
            </a:r>
          </a:p>
        </p:txBody>
      </p:sp>
      <p:sp>
        <p:nvSpPr>
          <p:cNvPr id="19" name="Rectangle 18"/>
          <p:cNvSpPr/>
          <p:nvPr/>
        </p:nvSpPr>
        <p:spPr>
          <a:xfrm>
            <a:off x="658368" y="2971800"/>
            <a:ext cx="10875233" cy="43434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297180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3012948"/>
            <a:ext cx="25212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12</a:t>
            </a:r>
          </a:p>
        </p:txBody>
      </p:sp>
      <p:sp>
        <p:nvSpPr>
          <p:cNvPr id="22" name="TextBox 21"/>
          <p:cNvSpPr txBox="1"/>
          <p:nvPr/>
        </p:nvSpPr>
        <p:spPr>
          <a:xfrm>
            <a:off x="1193961" y="3012948"/>
            <a:ext cx="237279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Integration, formats, support</a:t>
            </a:r>
          </a:p>
        </p:txBody>
      </p:sp>
      <p:sp>
        <p:nvSpPr>
          <p:cNvPr id="23" name="TextBox 22"/>
          <p:cNvSpPr txBox="1"/>
          <p:nvPr/>
        </p:nvSpPr>
        <p:spPr>
          <a:xfrm>
            <a:off x="3749641" y="3012948"/>
            <a:ext cx="7701664"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interface, web and mobile kits, the web widget, CSV export, 3D model export, what it plugs into here, white-label options, implementation support. The signal is "we are already inside your environment"</a:t>
            </a:r>
          </a:p>
        </p:txBody>
      </p:sp>
      <p:sp>
        <p:nvSpPr>
          <p:cNvPr id="24" name="Rectangle 23"/>
          <p:cNvSpPr/>
          <p:nvPr/>
        </p:nvSpPr>
        <p:spPr>
          <a:xfrm>
            <a:off x="658368" y="3406140"/>
            <a:ext cx="10875233" cy="43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40614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447288"/>
            <a:ext cx="25212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13</a:t>
            </a:r>
          </a:p>
        </p:txBody>
      </p:sp>
      <p:sp>
        <p:nvSpPr>
          <p:cNvPr id="27" name="TextBox 26"/>
          <p:cNvSpPr txBox="1"/>
          <p:nvPr/>
        </p:nvSpPr>
        <p:spPr>
          <a:xfrm>
            <a:off x="1193961" y="3447288"/>
            <a:ext cx="237279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Vertical FAQ</a:t>
            </a:r>
          </a:p>
        </p:txBody>
      </p:sp>
      <p:sp>
        <p:nvSpPr>
          <p:cNvPr id="28" name="TextBox 27"/>
          <p:cNvSpPr txBox="1"/>
          <p:nvPr/>
        </p:nvSpPr>
        <p:spPr>
          <a:xfrm>
            <a:off x="3749641" y="3447288"/>
            <a:ext cx="7701664"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questions asked here and nowhere else. Ships with FAQPage schema</a:t>
            </a:r>
          </a:p>
        </p:txBody>
      </p:sp>
      <p:sp>
        <p:nvSpPr>
          <p:cNvPr id="29" name="Rectangle 28"/>
          <p:cNvSpPr/>
          <p:nvPr/>
        </p:nvSpPr>
        <p:spPr>
          <a:xfrm>
            <a:off x="658368" y="3840480"/>
            <a:ext cx="10875233" cy="43434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384048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3881628"/>
            <a:ext cx="25212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14</a:t>
            </a:r>
          </a:p>
        </p:txBody>
      </p:sp>
      <p:sp>
        <p:nvSpPr>
          <p:cNvPr id="32" name="TextBox 31"/>
          <p:cNvSpPr txBox="1"/>
          <p:nvPr/>
        </p:nvSpPr>
        <p:spPr>
          <a:xfrm>
            <a:off x="1193961" y="3881628"/>
            <a:ext cx="237279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Price signal</a:t>
            </a:r>
          </a:p>
        </p:txBody>
      </p:sp>
      <p:sp>
        <p:nvSpPr>
          <p:cNvPr id="33" name="TextBox 32"/>
          <p:cNvSpPr txBox="1"/>
          <p:nvPr/>
        </p:nvSpPr>
        <p:spPr>
          <a:xfrm>
            <a:off x="3749641" y="3881628"/>
            <a:ext cx="7701664"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Name the entry tier and link to /pricing/. Mention the trial where it applies. Never the internal per-request rates</a:t>
            </a:r>
          </a:p>
        </p:txBody>
      </p:sp>
      <p:sp>
        <p:nvSpPr>
          <p:cNvPr id="34" name="Rectangle 33"/>
          <p:cNvSpPr/>
          <p:nvPr/>
        </p:nvSpPr>
        <p:spPr>
          <a:xfrm>
            <a:off x="658368" y="4274820"/>
            <a:ext cx="10875233" cy="43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42748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4315968"/>
            <a:ext cx="25212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15</a:t>
            </a:r>
          </a:p>
        </p:txBody>
      </p:sp>
      <p:sp>
        <p:nvSpPr>
          <p:cNvPr id="37" name="TextBox 36"/>
          <p:cNvSpPr txBox="1"/>
          <p:nvPr/>
        </p:nvSpPr>
        <p:spPr>
          <a:xfrm>
            <a:off x="1193961" y="4315968"/>
            <a:ext cx="237279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Primary action and form</a:t>
            </a:r>
          </a:p>
        </p:txBody>
      </p:sp>
      <p:sp>
        <p:nvSpPr>
          <p:cNvPr id="38" name="TextBox 37"/>
          <p:cNvSpPr txBox="1"/>
          <p:nvPr/>
        </p:nvSpPr>
        <p:spPr>
          <a:xfrm>
            <a:off x="3749641" y="4315968"/>
            <a:ext cx="7701664"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One action in the site's own language, visible without scrolling and repeated at the end. Minimal fields, visible consent, a confirmation state</a:t>
            </a:r>
          </a:p>
        </p:txBody>
      </p:sp>
      <p:sp>
        <p:nvSpPr>
          <p:cNvPr id="39" name="Rectangle 38"/>
          <p:cNvSpPr/>
          <p:nvPr/>
        </p:nvSpPr>
        <p:spPr>
          <a:xfrm>
            <a:off x="658368" y="4709159"/>
            <a:ext cx="10875233" cy="43434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470915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8952" y="4750307"/>
            <a:ext cx="25212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16</a:t>
            </a:r>
          </a:p>
        </p:txBody>
      </p:sp>
      <p:sp>
        <p:nvSpPr>
          <p:cNvPr id="42" name="TextBox 41"/>
          <p:cNvSpPr txBox="1"/>
          <p:nvPr/>
        </p:nvSpPr>
        <p:spPr>
          <a:xfrm>
            <a:off x="1193961" y="4750307"/>
            <a:ext cx="237279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Soft alternative and sibling verticals</a:t>
            </a:r>
          </a:p>
        </p:txBody>
      </p:sp>
      <p:sp>
        <p:nvSpPr>
          <p:cNvPr id="43" name="TextBox 42"/>
          <p:cNvSpPr txBox="1"/>
          <p:nvPr/>
        </p:nvSpPr>
        <p:spPr>
          <a:xfrm>
            <a:off x="3749641" y="4750307"/>
            <a:ext cx="7701664"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For buyers not ready to talk: the accuracy framework article, the vertical's hub article, a checklist. Then cards for two sibling verticals and a link up to the parent</a:t>
            </a:r>
          </a:p>
        </p:txBody>
      </p:sp>
      <p:sp>
        <p:nvSpPr>
          <p:cNvPr id="44" name="Rectangle 43"/>
          <p:cNvSpPr/>
          <p:nvPr/>
        </p:nvSpPr>
        <p:spPr>
          <a:xfrm>
            <a:off x="658368" y="5143499"/>
            <a:ext cx="10875233" cy="43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8368" y="514349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5184647"/>
            <a:ext cx="25212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17</a:t>
            </a:r>
          </a:p>
        </p:txBody>
      </p:sp>
      <p:sp>
        <p:nvSpPr>
          <p:cNvPr id="47" name="TextBox 46"/>
          <p:cNvSpPr txBox="1"/>
          <p:nvPr/>
        </p:nvSpPr>
        <p:spPr>
          <a:xfrm>
            <a:off x="1193961" y="5184647"/>
            <a:ext cx="2372799"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Hidden technical layer</a:t>
            </a:r>
          </a:p>
        </p:txBody>
      </p:sp>
      <p:sp>
        <p:nvSpPr>
          <p:cNvPr id="48" name="TextBox 47"/>
          <p:cNvSpPr txBox="1"/>
          <p:nvPr/>
        </p:nvSpPr>
        <p:spPr>
          <a:xfrm>
            <a:off x="3749641" y="5184647"/>
            <a:ext cx="7701664" cy="37947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Service or Product schema with audience and areaServed, FAQPage on the FAQ block, BreadcrumbList on the crumbs, canonical to self, Yoast title 60 characters or fewer, description 155 or fewer, a clean URL</a:t>
            </a:r>
          </a:p>
        </p:txBody>
      </p:sp>
      <p:sp>
        <p:nvSpPr>
          <p:cNvPr id="49" name="Rectangle 48"/>
          <p:cNvSpPr/>
          <p:nvPr/>
        </p:nvSpPr>
        <p:spPr>
          <a:xfrm>
            <a:off x="658368" y="557783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8368" y="5577840"/>
            <a:ext cx="10875233" cy="365760"/>
          </a:xfrm>
          <a:prstGeom prst="rect">
            <a:avLst/>
          </a:prstGeom>
          <a:noFill/>
        </p:spPr>
        <p:txBody>
          <a:bodyPr wrap="square" lIns="0" rIns="0" tIns="0" bIns="0" anchor="t">
            <a:spAutoFit/>
          </a:bodyPr>
          <a:lstStyle/>
          <a:p>
            <a:pPr algn="l">
              <a:lnSpc>
                <a:spcPct val="130000"/>
              </a:lnSpc>
            </a:pPr>
            <a:r>
              <a:rPr sz="840" b="0" i="1">
                <a:solidFill>
                  <a:srgbClr val="666666"/>
                </a:solidFill>
                <a:latin typeface="Satoshi"/>
              </a:rPr>
              <a:t>Design compliance on a page: navy carrying 60 to 70% of the weight on hero, proof band, CTA band and footer, white on content zones, electric blue as a single sharp accent, Satoshi only, the eyebrow label above each section heading, cards at 20px and chips at 15px, oversized numerals in the proof zone. The comparison table reflows on mobile, or it is not shippable.</a:t>
            </a:r>
          </a:p>
        </p:txBody>
      </p:sp>
      <p:sp>
        <p:nvSpPr>
          <p:cNvPr id="51" name="TextBox 5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52" name="TextBox 5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43 / 61</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06 · LANDING-PAGE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FAQ block</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FAQ is where a landing page earns citations in answer engines, and it is the slot most often skipped. Only one page on the whole site currently ships FAQPage schema.</a:t>
            </a:r>
          </a:p>
        </p:txBody>
      </p:sp>
      <p:sp>
        <p:nvSpPr>
          <p:cNvPr id="5" name="Rounded Rectangle 4"/>
          <p:cNvSpPr/>
          <p:nvPr/>
        </p:nvSpPr>
        <p:spPr>
          <a:xfrm>
            <a:off x="658368" y="1828800"/>
            <a:ext cx="3503157" cy="1316736"/>
          </a:xfrm>
          <a:prstGeom prst="roundRect">
            <a:avLst>
              <a:gd name="adj" fmla="val 1929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13167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84248"/>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Ten to thirteen questions</a:t>
            </a:r>
          </a:p>
        </p:txBody>
      </p:sp>
      <p:sp>
        <p:nvSpPr>
          <p:cNvPr id="8" name="TextBox 7"/>
          <p:cNvSpPr txBox="1"/>
          <p:nvPr/>
        </p:nvSpPr>
        <p:spPr>
          <a:xfrm>
            <a:off x="886968" y="2202942"/>
            <a:ext cx="3100821" cy="768858"/>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The benchmark telehealth page runs 13. Below about eight, the block stops carrying weight.</a:t>
            </a:r>
          </a:p>
        </p:txBody>
      </p:sp>
      <p:sp>
        <p:nvSpPr>
          <p:cNvPr id="9" name="Rounded Rectangle 8"/>
          <p:cNvSpPr/>
          <p:nvPr/>
        </p:nvSpPr>
        <p:spPr>
          <a:xfrm>
            <a:off x="4344405" y="1828800"/>
            <a:ext cx="3503157" cy="1316736"/>
          </a:xfrm>
          <a:prstGeom prst="roundRect">
            <a:avLst>
              <a:gd name="adj" fmla="val 1929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405" y="1828800"/>
            <a:ext cx="50292" cy="13167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3005" y="1984248"/>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Answer-first</a:t>
            </a:r>
          </a:p>
        </p:txBody>
      </p:sp>
      <p:sp>
        <p:nvSpPr>
          <p:cNvPr id="12" name="TextBox 11"/>
          <p:cNvSpPr txBox="1"/>
          <p:nvPr/>
        </p:nvSpPr>
        <p:spPr>
          <a:xfrm>
            <a:off x="4573005" y="2202942"/>
            <a:ext cx="3100821" cy="768858"/>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Each answer opens with a 40 to 60 word capsule that answers the question completely on its own, then adds detail. An answer engine quotes the first sentences.</a:t>
            </a:r>
          </a:p>
        </p:txBody>
      </p:sp>
      <p:sp>
        <p:nvSpPr>
          <p:cNvPr id="13" name="Rounded Rectangle 12"/>
          <p:cNvSpPr/>
          <p:nvPr/>
        </p:nvSpPr>
        <p:spPr>
          <a:xfrm>
            <a:off x="8030443" y="1828800"/>
            <a:ext cx="3503157" cy="1316736"/>
          </a:xfrm>
          <a:prstGeom prst="roundRect">
            <a:avLst>
              <a:gd name="adj" fmla="val 1929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0443" y="1828800"/>
            <a:ext cx="50292" cy="13167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9043" y="1984248"/>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Number first where a number exists</a:t>
            </a:r>
          </a:p>
        </p:txBody>
      </p:sp>
      <p:sp>
        <p:nvSpPr>
          <p:cNvPr id="16" name="TextBox 15"/>
          <p:cNvSpPr txBox="1"/>
          <p:nvPr/>
        </p:nvSpPr>
        <p:spPr>
          <a:xfrm>
            <a:off x="8259043" y="2202942"/>
            <a:ext cx="3100821" cy="768858"/>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"Structured body data returns in about 45 seconds from two guided smartphone photos" beats "Results are fast."</a:t>
            </a:r>
          </a:p>
        </p:txBody>
      </p:sp>
      <p:sp>
        <p:nvSpPr>
          <p:cNvPr id="17" name="Rounded Rectangle 16"/>
          <p:cNvSpPr/>
          <p:nvPr/>
        </p:nvSpPr>
        <p:spPr>
          <a:xfrm>
            <a:off x="658368" y="3328415"/>
            <a:ext cx="3503157" cy="1316736"/>
          </a:xfrm>
          <a:prstGeom prst="roundRect">
            <a:avLst>
              <a:gd name="adj" fmla="val 1929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328415"/>
            <a:ext cx="50292" cy="13167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3483863"/>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Vertical questions only</a:t>
            </a:r>
          </a:p>
        </p:txBody>
      </p:sp>
      <p:sp>
        <p:nvSpPr>
          <p:cNvPr id="20" name="TextBox 19"/>
          <p:cNvSpPr txBox="1"/>
          <p:nvPr/>
        </p:nvSpPr>
        <p:spPr>
          <a:xfrm>
            <a:off x="886968" y="3702557"/>
            <a:ext cx="3100821" cy="768858"/>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Regulatory posture, licensing, data residency, retention, who owns the data, what happens on a failed scan, what a pilot looks like, what the integration costs the development team. General product questions belong on the product page.</a:t>
            </a:r>
          </a:p>
        </p:txBody>
      </p:sp>
      <p:sp>
        <p:nvSpPr>
          <p:cNvPr id="21" name="Rounded Rectangle 20"/>
          <p:cNvSpPr/>
          <p:nvPr/>
        </p:nvSpPr>
        <p:spPr>
          <a:xfrm>
            <a:off x="4344405" y="3328415"/>
            <a:ext cx="3503157" cy="1316736"/>
          </a:xfrm>
          <a:prstGeom prst="roundRect">
            <a:avLst>
              <a:gd name="adj" fmla="val 1929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4405" y="3328415"/>
            <a:ext cx="50292" cy="13167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3005" y="3483863"/>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Source them from real objections</a:t>
            </a:r>
          </a:p>
        </p:txBody>
      </p:sp>
      <p:sp>
        <p:nvSpPr>
          <p:cNvPr id="24" name="TextBox 23"/>
          <p:cNvSpPr txBox="1"/>
          <p:nvPr/>
        </p:nvSpPr>
        <p:spPr>
          <a:xfrm>
            <a:off x="4573005" y="3702557"/>
            <a:ext cx="3100821" cy="768858"/>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From faq.md and from the business development owner for that market, not from imagination. Nick's call transcripts in Drive are the best raw material.</a:t>
            </a:r>
          </a:p>
        </p:txBody>
      </p:sp>
      <p:sp>
        <p:nvSpPr>
          <p:cNvPr id="25" name="Rounded Rectangle 24"/>
          <p:cNvSpPr/>
          <p:nvPr/>
        </p:nvSpPr>
        <p:spPr>
          <a:xfrm>
            <a:off x="8030443" y="3328415"/>
            <a:ext cx="3503157" cy="1316736"/>
          </a:xfrm>
          <a:prstGeom prst="roundRect">
            <a:avLst>
              <a:gd name="adj" fmla="val 1929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0443" y="3328415"/>
            <a:ext cx="50292" cy="131673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59043" y="3483863"/>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The boundary questions are mandatory</a:t>
            </a:r>
          </a:p>
        </p:txBody>
      </p:sp>
      <p:sp>
        <p:nvSpPr>
          <p:cNvPr id="28" name="TextBox 27"/>
          <p:cNvSpPr txBox="1"/>
          <p:nvPr/>
        </p:nvSpPr>
        <p:spPr>
          <a:xfrm>
            <a:off x="8259043" y="3702557"/>
            <a:ext cx="3100821" cy="768858"/>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On every health vertical: "Is it a medical device?" and "Where do the photos go?". The first answers no, structured body data supporting workflow, not a diagnostic device or a replacement for clinical judgment. The second gives the flow, the deletion policy and who controls retention.</a:t>
            </a:r>
          </a:p>
        </p:txBody>
      </p:sp>
      <p:sp>
        <p:nvSpPr>
          <p:cNvPr id="29" name="Rounded Rectangle 28"/>
          <p:cNvSpPr/>
          <p:nvPr/>
        </p:nvSpPr>
        <p:spPr>
          <a:xfrm>
            <a:off x="658368" y="4700016"/>
            <a:ext cx="10875233" cy="859536"/>
          </a:xfrm>
          <a:prstGeom prst="roundRect">
            <a:avLst>
              <a:gd name="adj" fmla="val 29550"/>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 y="4818888"/>
            <a:ext cx="1737360" cy="182880"/>
          </a:xfrm>
          <a:prstGeom prst="rect">
            <a:avLst/>
          </a:prstGeom>
          <a:noFill/>
        </p:spPr>
        <p:txBody>
          <a:bodyPr wrap="square" lIns="0" rIns="0" tIns="0" bIns="0" anchor="t">
            <a:spAutoFit/>
          </a:bodyPr>
          <a:lstStyle/>
          <a:p>
            <a:pPr algn="l">
              <a:lnSpc>
                <a:spcPct val="128000"/>
              </a:lnSpc>
            </a:pPr>
            <a:r>
              <a:rPr sz="800" b="1" i="0">
                <a:solidFill>
                  <a:srgbClr val="8A9CFF"/>
                </a:solidFill>
                <a:latin typeface="Satoshi"/>
              </a:rPr>
              <a:t>FAQPAGE SCHEMA ON THE BLOCK</a:t>
            </a:r>
          </a:p>
        </p:txBody>
      </p:sp>
      <p:sp>
        <p:nvSpPr>
          <p:cNvPr id="31" name="TextBox 30"/>
          <p:cNvSpPr txBox="1"/>
          <p:nvPr/>
        </p:nvSpPr>
        <p:spPr>
          <a:xfrm>
            <a:off x="877824" y="5010912"/>
            <a:ext cx="10418033" cy="438911"/>
          </a:xfrm>
          <a:prstGeom prst="rect">
            <a:avLst/>
          </a:prstGeom>
          <a:noFill/>
        </p:spPr>
        <p:txBody>
          <a:bodyPr wrap="square" lIns="0" rIns="0" tIns="0" bIns="0" anchor="t">
            <a:spAutoFit/>
          </a:bodyPr>
          <a:lstStyle/>
          <a:p>
            <a:pPr algn="l">
              <a:lnSpc>
                <a:spcPct val="114000"/>
              </a:lnSpc>
            </a:pPr>
            <a:r>
              <a:rPr sz="1200" b="1" i="0">
                <a:solidFill>
                  <a:srgbClr val="FFFFFF"/>
                </a:solidFill>
                <a:latin typeface="Satoshi"/>
              </a:rPr>
              <a:t>Modelled on the telehealth page. Mark it up, or the block is doing half its job. Two more page-level rules help humans and answer engines equally: open every major section with a 40 to 60 word answer-first capsule, and keep a visible "Last updated" line.</a:t>
            </a:r>
          </a:p>
        </p:txBody>
      </p:sp>
      <p:sp>
        <p:nvSpPr>
          <p:cNvPr id="32" name="TextBox 31"/>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3" name="TextBox 32"/>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44 / 61</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06 · LANDING-PAGE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Calls to action, by funnel stage</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Match the call to action to where the page sits. Do not force one call to action onto every page.</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795891"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Stage</a:t>
            </a:r>
          </a:p>
        </p:txBody>
      </p:sp>
      <p:sp>
        <p:nvSpPr>
          <p:cNvPr id="7" name="TextBox 6"/>
          <p:cNvSpPr txBox="1"/>
          <p:nvPr/>
        </p:nvSpPr>
        <p:spPr>
          <a:xfrm>
            <a:off x="1737723" y="1879092"/>
            <a:ext cx="2862185"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Page intent</a:t>
            </a:r>
          </a:p>
        </p:txBody>
      </p:sp>
      <p:sp>
        <p:nvSpPr>
          <p:cNvPr id="8" name="TextBox 7"/>
          <p:cNvSpPr txBox="1"/>
          <p:nvPr/>
        </p:nvSpPr>
        <p:spPr>
          <a:xfrm>
            <a:off x="4782788" y="1879092"/>
            <a:ext cx="6668517"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Call-to-action language</a:t>
            </a:r>
          </a:p>
        </p:txBody>
      </p:sp>
      <p:sp>
        <p:nvSpPr>
          <p:cNvPr id="9" name="Rectangle 8"/>
          <p:cNvSpPr/>
          <p:nvPr/>
        </p:nvSpPr>
        <p:spPr>
          <a:xfrm>
            <a:off x="658368" y="2103120"/>
            <a:ext cx="10875233" cy="38404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144268"/>
            <a:ext cx="795891" cy="32918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TOFU</a:t>
            </a:r>
          </a:p>
        </p:txBody>
      </p:sp>
      <p:sp>
        <p:nvSpPr>
          <p:cNvPr id="12" name="TextBox 11"/>
          <p:cNvSpPr txBox="1"/>
          <p:nvPr/>
        </p:nvSpPr>
        <p:spPr>
          <a:xfrm>
            <a:off x="1737723" y="2144268"/>
            <a:ext cx="286218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Educational, definitional, "what is this"</a:t>
            </a:r>
          </a:p>
        </p:txBody>
      </p:sp>
      <p:sp>
        <p:nvSpPr>
          <p:cNvPr id="13" name="TextBox 12"/>
          <p:cNvSpPr txBox="1"/>
          <p:nvPr/>
        </p:nvSpPr>
        <p:spPr>
          <a:xfrm>
            <a:off x="4782788" y="2144268"/>
            <a:ext cx="6668517"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Soft: "Explore how mobile body scanning works", "Read the accuracy framework"</a:t>
            </a:r>
          </a:p>
        </p:txBody>
      </p:sp>
      <p:sp>
        <p:nvSpPr>
          <p:cNvPr id="14" name="Rectangle 13"/>
          <p:cNvSpPr/>
          <p:nvPr/>
        </p:nvSpPr>
        <p:spPr>
          <a:xfrm>
            <a:off x="658368" y="2487168"/>
            <a:ext cx="10875233" cy="3840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48716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2528315"/>
            <a:ext cx="795891" cy="32918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MOFU</a:t>
            </a:r>
          </a:p>
        </p:txBody>
      </p:sp>
      <p:sp>
        <p:nvSpPr>
          <p:cNvPr id="17" name="TextBox 16"/>
          <p:cNvSpPr txBox="1"/>
          <p:nvPr/>
        </p:nvSpPr>
        <p:spPr>
          <a:xfrm>
            <a:off x="1737723" y="2528315"/>
            <a:ext cx="286218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Comparison, workflow, evaluation</a:t>
            </a:r>
          </a:p>
        </p:txBody>
      </p:sp>
      <p:sp>
        <p:nvSpPr>
          <p:cNvPr id="18" name="TextBox 17"/>
          <p:cNvSpPr txBox="1"/>
          <p:nvPr/>
        </p:nvSpPr>
        <p:spPr>
          <a:xfrm>
            <a:off x="4782788" y="2528315"/>
            <a:ext cx="6668517"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Evaluation: "See how FitXpress supports remote progress tracking", "Review the buyer checklist", "See sample outputs"</a:t>
            </a:r>
          </a:p>
        </p:txBody>
      </p:sp>
      <p:sp>
        <p:nvSpPr>
          <p:cNvPr id="19" name="Rectangle 18"/>
          <p:cNvSpPr/>
          <p:nvPr/>
        </p:nvSpPr>
        <p:spPr>
          <a:xfrm>
            <a:off x="658368" y="2871215"/>
            <a:ext cx="10875233" cy="38404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2871215"/>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2912363"/>
            <a:ext cx="795891" cy="32918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BOFU</a:t>
            </a:r>
          </a:p>
        </p:txBody>
      </p:sp>
      <p:sp>
        <p:nvSpPr>
          <p:cNvPr id="22" name="TextBox 21"/>
          <p:cNvSpPr txBox="1"/>
          <p:nvPr/>
        </p:nvSpPr>
        <p:spPr>
          <a:xfrm>
            <a:off x="1737723" y="2912363"/>
            <a:ext cx="2862185"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Operational, commercial, vertical page bottom</a:t>
            </a:r>
          </a:p>
        </p:txBody>
      </p:sp>
      <p:sp>
        <p:nvSpPr>
          <p:cNvPr id="23" name="TextBox 22"/>
          <p:cNvSpPr txBox="1"/>
          <p:nvPr/>
        </p:nvSpPr>
        <p:spPr>
          <a:xfrm>
            <a:off x="4782788" y="2912363"/>
            <a:ext cx="6668517" cy="32918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Direct: "Book a demo", "Talk to 3DLOOK about your workflow", "Explore FitXpress for telehealth and weight loss"</a:t>
            </a:r>
          </a:p>
        </p:txBody>
      </p:sp>
      <p:sp>
        <p:nvSpPr>
          <p:cNvPr id="24" name="Rectangle 23"/>
          <p:cNvSpPr/>
          <p:nvPr/>
        </p:nvSpPr>
        <p:spPr>
          <a:xfrm>
            <a:off x="658368" y="3255263"/>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58368" y="3566160"/>
            <a:ext cx="5327888" cy="1737360"/>
          </a:xfrm>
          <a:prstGeom prst="roundRect">
            <a:avLst>
              <a:gd name="adj" fmla="val 14619"/>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 y="3739896"/>
            <a:ext cx="4925552" cy="256032"/>
          </a:xfrm>
          <a:prstGeom prst="rect">
            <a:avLst/>
          </a:prstGeom>
          <a:noFill/>
        </p:spPr>
        <p:txBody>
          <a:bodyPr wrap="square" lIns="0" rIns="0" tIns="0" bIns="0" anchor="t">
            <a:spAutoFit/>
          </a:bodyPr>
          <a:lstStyle/>
          <a:p>
            <a:pPr algn="l">
              <a:lnSpc>
                <a:spcPct val="128000"/>
              </a:lnSpc>
            </a:pPr>
            <a:r>
              <a:rPr sz="1100" b="1" i="0">
                <a:solidFill>
                  <a:srgbClr val="143DFF"/>
                </a:solidFill>
                <a:latin typeface="Satoshi"/>
              </a:rPr>
              <a:t>Pair a primary with an evaluation secondary</a:t>
            </a:r>
          </a:p>
        </p:txBody>
      </p:sp>
      <p:sp>
        <p:nvSpPr>
          <p:cNvPr id="27" name="TextBox 26"/>
          <p:cNvSpPr txBox="1"/>
          <p:nvPr/>
        </p:nvSpPr>
        <p:spPr>
          <a:xfrm>
            <a:off x="859536" y="4096511"/>
            <a:ext cx="4925552" cy="1024127"/>
          </a:xfrm>
          <a:prstGeom prst="rect">
            <a:avLst/>
          </a:prstGeom>
          <a:noFill/>
        </p:spPr>
        <p:txBody>
          <a:bodyPr wrap="square" lIns="0" rIns="0" tIns="0" bIns="0" anchor="t">
            <a:spAutoFit/>
          </a:bodyPr>
          <a:lstStyle/>
          <a:p>
            <a:pPr algn="l">
              <a:lnSpc>
                <a:spcPct val="126000"/>
              </a:lnSpc>
              <a:spcAft>
                <a:spcPts val="340"/>
              </a:spcAft>
            </a:pPr>
            <a:r>
              <a:rPr sz="880" b="1" i="0">
                <a:solidFill>
                  <a:srgbClr val="143DFF"/>
                </a:solidFill>
                <a:latin typeface="Satoshi"/>
              </a:rPr>
              <a:t>·  </a:t>
            </a:r>
            <a:r>
              <a:rPr sz="880" b="0" i="0">
                <a:solidFill>
                  <a:srgbClr val="4C4C4C"/>
                </a:solidFill>
                <a:latin typeface="Satoshi"/>
              </a:rPr>
              <a:t>On a vertical page, pair a direct primary with an evaluation secondary, which is what the benchmark page does: "Book a demo" plus "See sample outputs"</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The secondary catches the buyer who is not ready to talk to a human but is ready to look at a payload, and that buyer is a large share of the technical audience</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One primary action, visible without scrolling and repeated at the end</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Form fields minimal, consent visible, a confirmation state</a:t>
            </a:r>
          </a:p>
        </p:txBody>
      </p:sp>
      <p:sp>
        <p:nvSpPr>
          <p:cNvPr id="28" name="Rounded Rectangle 27"/>
          <p:cNvSpPr/>
          <p:nvPr/>
        </p:nvSpPr>
        <p:spPr>
          <a:xfrm>
            <a:off x="6205712" y="3566160"/>
            <a:ext cx="5327888" cy="1737360"/>
          </a:xfrm>
          <a:prstGeom prst="roundRect">
            <a:avLst>
              <a:gd name="adj" fmla="val 14619"/>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6880" y="3739896"/>
            <a:ext cx="4925552" cy="256032"/>
          </a:xfrm>
          <a:prstGeom prst="rect">
            <a:avLst/>
          </a:prstGeom>
          <a:noFill/>
        </p:spPr>
        <p:txBody>
          <a:bodyPr wrap="square" lIns="0" rIns="0" tIns="0" bIns="0" anchor="t">
            <a:spAutoFit/>
          </a:bodyPr>
          <a:lstStyle/>
          <a:p>
            <a:pPr algn="l">
              <a:lnSpc>
                <a:spcPct val="128000"/>
              </a:lnSpc>
            </a:pPr>
            <a:r>
              <a:rPr sz="1100" b="1" i="0">
                <a:solidFill>
                  <a:srgbClr val="050F40"/>
                </a:solidFill>
                <a:latin typeface="Satoshi"/>
              </a:rPr>
              <a:t>Site-wide language already in use, worth matching</a:t>
            </a:r>
          </a:p>
        </p:txBody>
      </p:sp>
      <p:sp>
        <p:nvSpPr>
          <p:cNvPr id="30" name="TextBox 29"/>
          <p:cNvSpPr txBox="1"/>
          <p:nvPr/>
        </p:nvSpPr>
        <p:spPr>
          <a:xfrm>
            <a:off x="6406880" y="4096511"/>
            <a:ext cx="4925552" cy="1024127"/>
          </a:xfrm>
          <a:prstGeom prst="rect">
            <a:avLst/>
          </a:prstGeom>
          <a:noFill/>
        </p:spPr>
        <p:txBody>
          <a:bodyPr wrap="square" lIns="0" rIns="0" tIns="0" bIns="0" anchor="t">
            <a:spAutoFit/>
          </a:bodyPr>
          <a:lstStyle/>
          <a:p>
            <a:pPr algn="l">
              <a:lnSpc>
                <a:spcPct val="126000"/>
              </a:lnSpc>
              <a:spcAft>
                <a:spcPts val="319"/>
              </a:spcAft>
            </a:pPr>
            <a:r>
              <a:rPr sz="827" b="1" i="0">
                <a:solidFill>
                  <a:srgbClr val="050F40"/>
                </a:solidFill>
                <a:latin typeface="Satoshi"/>
              </a:rPr>
              <a:t>·  </a:t>
            </a:r>
            <a:r>
              <a:rPr sz="827" b="0" i="0">
                <a:solidFill>
                  <a:srgbClr val="4C4C4C"/>
                </a:solidFill>
                <a:latin typeface="Satoshi"/>
              </a:rPr>
              <a:t>"Let's talk"</a:t>
            </a:r>
          </a:p>
          <a:p>
            <a:pPr algn="l">
              <a:lnSpc>
                <a:spcPct val="126000"/>
              </a:lnSpc>
              <a:spcAft>
                <a:spcPts val="319"/>
              </a:spcAft>
            </a:pPr>
            <a:r>
              <a:rPr sz="827" b="1" i="0">
                <a:solidFill>
                  <a:srgbClr val="050F40"/>
                </a:solidFill>
                <a:latin typeface="Satoshi"/>
              </a:rPr>
              <a:t>·  </a:t>
            </a:r>
            <a:r>
              <a:rPr sz="827" b="0" i="0">
                <a:solidFill>
                  <a:srgbClr val="4C4C4C"/>
                </a:solidFill>
                <a:latin typeface="Satoshi"/>
              </a:rPr>
              <a:t>"Request a Demo"</a:t>
            </a:r>
          </a:p>
          <a:p>
            <a:pPr algn="l">
              <a:lnSpc>
                <a:spcPct val="126000"/>
              </a:lnSpc>
              <a:spcAft>
                <a:spcPts val="319"/>
              </a:spcAft>
            </a:pPr>
            <a:r>
              <a:rPr sz="827" b="1" i="0">
                <a:solidFill>
                  <a:srgbClr val="050F40"/>
                </a:solidFill>
                <a:latin typeface="Satoshi"/>
              </a:rPr>
              <a:t>·  </a:t>
            </a:r>
            <a:r>
              <a:rPr sz="827" b="0" i="0">
                <a:solidFill>
                  <a:srgbClr val="4C4C4C"/>
                </a:solidFill>
                <a:latin typeface="Satoshi"/>
              </a:rPr>
              <a:t>"Unlock Body Data"</a:t>
            </a:r>
          </a:p>
          <a:p>
            <a:pPr algn="l">
              <a:lnSpc>
                <a:spcPct val="126000"/>
              </a:lnSpc>
              <a:spcAft>
                <a:spcPts val="319"/>
              </a:spcAft>
            </a:pPr>
            <a:r>
              <a:rPr sz="827" b="1" i="0">
                <a:solidFill>
                  <a:srgbClr val="050F40"/>
                </a:solidFill>
                <a:latin typeface="Satoshi"/>
              </a:rPr>
              <a:t>·  </a:t>
            </a:r>
            <a:r>
              <a:rPr sz="827" b="0" i="0">
                <a:solidFill>
                  <a:srgbClr val="4C4C4C"/>
                </a:solidFill>
                <a:latin typeface="Satoshi"/>
              </a:rPr>
              <a:t>"Get in touch"</a:t>
            </a:r>
          </a:p>
          <a:p>
            <a:pPr algn="l">
              <a:lnSpc>
                <a:spcPct val="126000"/>
              </a:lnSpc>
              <a:spcAft>
                <a:spcPts val="319"/>
              </a:spcAft>
            </a:pPr>
            <a:r>
              <a:rPr sz="827" b="1" i="0">
                <a:solidFill>
                  <a:srgbClr val="050F40"/>
                </a:solidFill>
                <a:latin typeface="Satoshi"/>
              </a:rPr>
              <a:t>·  </a:t>
            </a:r>
            <a:r>
              <a:rPr sz="827" b="0" i="0">
                <a:solidFill>
                  <a:srgbClr val="4C4C4C"/>
                </a:solidFill>
                <a:latin typeface="Satoshi"/>
              </a:rPr>
              <a:t>"Book a Consultation"</a:t>
            </a:r>
          </a:p>
          <a:p>
            <a:pPr algn="l">
              <a:lnSpc>
                <a:spcPct val="126000"/>
              </a:lnSpc>
              <a:spcAft>
                <a:spcPts val="319"/>
              </a:spcAft>
            </a:pPr>
            <a:r>
              <a:rPr sz="827" b="1" i="0">
                <a:solidFill>
                  <a:srgbClr val="050F40"/>
                </a:solidFill>
                <a:latin typeface="Satoshi"/>
              </a:rPr>
              <a:t>·  </a:t>
            </a:r>
            <a:r>
              <a:rPr sz="827" b="0" i="0">
                <a:solidFill>
                  <a:srgbClr val="4C4C4C"/>
                </a:solidFill>
                <a:latin typeface="Satoshi"/>
              </a:rPr>
              <a:t>"Explore Technology"</a:t>
            </a:r>
          </a:p>
        </p:txBody>
      </p:sp>
      <p:sp>
        <p:nvSpPr>
          <p:cNvPr id="31" name="TextBox 30"/>
          <p:cNvSpPr txBox="1"/>
          <p:nvPr/>
        </p:nvSpPr>
        <p:spPr>
          <a:xfrm>
            <a:off x="658368" y="5468112"/>
            <a:ext cx="10875233" cy="329184"/>
          </a:xfrm>
          <a:prstGeom prst="rect">
            <a:avLst/>
          </a:prstGeom>
          <a:noFill/>
        </p:spPr>
        <p:txBody>
          <a:bodyPr wrap="square" lIns="0" rIns="0" tIns="0" bIns="0" anchor="t">
            <a:spAutoFit/>
          </a:bodyPr>
          <a:lstStyle/>
          <a:p>
            <a:pPr algn="l">
              <a:lnSpc>
                <a:spcPct val="130000"/>
              </a:lnSpc>
            </a:pPr>
            <a:r>
              <a:rPr sz="860" b="0" i="1">
                <a:solidFill>
                  <a:srgbClr val="666666"/>
                </a:solidFill>
                <a:latin typeface="Satoshi"/>
              </a:rPr>
              <a:t>Design compliance on a page: navy carrying 60 to 70% of the weight on hero, proof band, CTA band and footer, white on content zones, electric blue as a single sharp accent, Satoshi only, the eyebrow label above each section heading, cards at 20px and chips at 15px, oversized numerals in the proof zone. The comparison table reflows on mobile, or it is not shippable.</a:t>
            </a:r>
          </a:p>
        </p:txBody>
      </p:sp>
      <p:sp>
        <p:nvSpPr>
          <p:cNvPr id="32" name="TextBox 31"/>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3" name="TextBox 32"/>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45 / 61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06 · LANDING-PAGE PLAYBOOK</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Page pre-launch checklist</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Run it in order. Anything unresolved goes into the open items block rather than into a judgement call made alone.</a:t>
            </a:r>
          </a:p>
        </p:txBody>
      </p:sp>
      <p:sp>
        <p:nvSpPr>
          <p:cNvPr id="5" name="Rounded Rectangle 4"/>
          <p:cNvSpPr/>
          <p:nvPr/>
        </p:nvSpPr>
        <p:spPr>
          <a:xfrm>
            <a:off x="658368" y="1828800"/>
            <a:ext cx="2028742" cy="2487168"/>
          </a:xfrm>
          <a:prstGeom prst="roundRect">
            <a:avLst>
              <a:gd name="adj" fmla="val 1252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248716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84248"/>
            <a:ext cx="1626406"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Structure and numbers</a:t>
            </a:r>
          </a:p>
        </p:txBody>
      </p:sp>
      <p:sp>
        <p:nvSpPr>
          <p:cNvPr id="8" name="TextBox 7"/>
          <p:cNvSpPr txBox="1"/>
          <p:nvPr/>
        </p:nvSpPr>
        <p:spPr>
          <a:xfrm>
            <a:off x="886968" y="2202942"/>
            <a:ext cx="1626406" cy="1939290"/>
          </a:xfrm>
          <a:prstGeom prst="rect">
            <a:avLst/>
          </a:prstGeom>
          <a:noFill/>
        </p:spPr>
        <p:txBody>
          <a:bodyPr wrap="square" lIns="0" rIns="0" tIns="0" bIns="0" anchor="t">
            <a:spAutoFit/>
          </a:bodyPr>
          <a:lstStyle/>
          <a:p>
            <a:pPr algn="l">
              <a:lnSpc>
                <a:spcPct val="124000"/>
              </a:lnSpc>
              <a:spcAft>
                <a:spcPts val="320"/>
              </a:spcAft>
            </a:pPr>
            <a:r>
              <a:rPr sz="819" b="1" i="0">
                <a:solidFill>
                  <a:srgbClr val="143DFF"/>
                </a:solidFill>
                <a:latin typeface="Satoshi"/>
              </a:rPr>
              <a:t>·  </a:t>
            </a:r>
            <a:r>
              <a:rPr sz="819" b="0" i="0">
                <a:solidFill>
                  <a:srgbClr val="4C4C4C"/>
                </a:solidFill>
                <a:latin typeface="Satoshi"/>
              </a:rPr>
              <a:t>One H1, with H2 and H3 hierarchy intact</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Every number byte-identical across hero, body, FAQ and disclaimer</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Data-flow wording accurate everywhere</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Word count in the benchmark range, roughly 1,200 to 1,600</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A visible "Last updated" line</a:t>
            </a:r>
          </a:p>
        </p:txBody>
      </p:sp>
      <p:sp>
        <p:nvSpPr>
          <p:cNvPr id="9" name="Rounded Rectangle 8"/>
          <p:cNvSpPr/>
          <p:nvPr/>
        </p:nvSpPr>
        <p:spPr>
          <a:xfrm>
            <a:off x="2869990" y="1828800"/>
            <a:ext cx="2028742" cy="2487168"/>
          </a:xfrm>
          <a:prstGeom prst="roundRect">
            <a:avLst>
              <a:gd name="adj" fmla="val 1252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869990" y="1828800"/>
            <a:ext cx="50292" cy="248716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98590" y="1984248"/>
            <a:ext cx="1626406"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Permissions and price</a:t>
            </a:r>
          </a:p>
        </p:txBody>
      </p:sp>
      <p:sp>
        <p:nvSpPr>
          <p:cNvPr id="12" name="TextBox 11"/>
          <p:cNvSpPr txBox="1"/>
          <p:nvPr/>
        </p:nvSpPr>
        <p:spPr>
          <a:xfrm>
            <a:off x="3098590" y="2202942"/>
            <a:ext cx="1626406" cy="1939290"/>
          </a:xfrm>
          <a:prstGeom prst="rect">
            <a:avLst/>
          </a:prstGeom>
          <a:noFill/>
        </p:spPr>
        <p:txBody>
          <a:bodyPr wrap="square" lIns="0" rIns="0" tIns="0" bIns="0" anchor="t">
            <a:spAutoFit/>
          </a:bodyPr>
          <a:lstStyle/>
          <a:p>
            <a:pPr algn="l">
              <a:lnSpc>
                <a:spcPct val="124000"/>
              </a:lnSpc>
              <a:spcAft>
                <a:spcPts val="320"/>
              </a:spcAft>
            </a:pPr>
            <a:r>
              <a:rPr sz="819" b="1" i="0">
                <a:solidFill>
                  <a:srgbClr val="143DFF"/>
                </a:solidFill>
                <a:latin typeface="Satoshi"/>
              </a:rPr>
              <a:t>·  </a:t>
            </a:r>
            <a:r>
              <a:rPr sz="819" b="0" i="0">
                <a:solidFill>
                  <a:srgbClr val="4C4C4C"/>
                </a:solidFill>
                <a:latin typeface="Satoshi"/>
              </a:rPr>
              <a:t>Logo-usage permission confirmed per customer</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No scan-volume figures published from the activity dashboard</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No pricing table on the page. Only the signal and a link to /pricing/</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The entry tier named, and the trial mentioned where it applies</a:t>
            </a:r>
          </a:p>
        </p:txBody>
      </p:sp>
      <p:sp>
        <p:nvSpPr>
          <p:cNvPr id="13" name="Rounded Rectangle 12"/>
          <p:cNvSpPr/>
          <p:nvPr/>
        </p:nvSpPr>
        <p:spPr>
          <a:xfrm>
            <a:off x="5081613" y="1828800"/>
            <a:ext cx="2028742" cy="2487168"/>
          </a:xfrm>
          <a:prstGeom prst="roundRect">
            <a:avLst>
              <a:gd name="adj" fmla="val 1252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81613" y="1828800"/>
            <a:ext cx="50292" cy="248716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10213" y="1984248"/>
            <a:ext cx="1626406"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Links and markup</a:t>
            </a:r>
          </a:p>
        </p:txBody>
      </p:sp>
      <p:sp>
        <p:nvSpPr>
          <p:cNvPr id="16" name="TextBox 15"/>
          <p:cNvSpPr txBox="1"/>
          <p:nvPr/>
        </p:nvSpPr>
        <p:spPr>
          <a:xfrm>
            <a:off x="5310213" y="2202942"/>
            <a:ext cx="1626406" cy="1939290"/>
          </a:xfrm>
          <a:prstGeom prst="rect">
            <a:avLst/>
          </a:prstGeom>
          <a:noFill/>
        </p:spPr>
        <p:txBody>
          <a:bodyPr wrap="square" lIns="0" rIns="0" tIns="0" bIns="0" anchor="t">
            <a:spAutoFit/>
          </a:bodyPr>
          <a:lstStyle/>
          <a:p>
            <a:pPr algn="l">
              <a:lnSpc>
                <a:spcPct val="124000"/>
              </a:lnSpc>
              <a:spcAft>
                <a:spcPts val="320"/>
              </a:spcAft>
            </a:pPr>
            <a:r>
              <a:rPr sz="819" b="1" i="0">
                <a:solidFill>
                  <a:srgbClr val="143DFF"/>
                </a:solidFill>
                <a:latin typeface="Satoshi"/>
              </a:rPr>
              <a:t>·  </a:t>
            </a:r>
            <a:r>
              <a:rPr sz="819" b="0" i="0">
                <a:solidFill>
                  <a:srgbClr val="4C4C4C"/>
                </a:solidFill>
                <a:latin typeface="Satoshi"/>
              </a:rPr>
              <a:t>Internal links in all four directions: up to the parent, down or across to siblings, out to the supporting article, in from the parent</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JSON-LD present: Organization, Service or SoftwareApplication, BreadcrumbList, FAQPage</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Canonical to self, Yoast title 60 characters or fewer, description 155 or fewer</a:t>
            </a:r>
          </a:p>
        </p:txBody>
      </p:sp>
      <p:sp>
        <p:nvSpPr>
          <p:cNvPr id="17" name="Rounded Rectangle 16"/>
          <p:cNvSpPr/>
          <p:nvPr/>
        </p:nvSpPr>
        <p:spPr>
          <a:xfrm>
            <a:off x="7293236" y="1828800"/>
            <a:ext cx="2028742" cy="2487168"/>
          </a:xfrm>
          <a:prstGeom prst="roundRect">
            <a:avLst>
              <a:gd name="adj" fmla="val 1252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293236" y="1828800"/>
            <a:ext cx="50292" cy="248716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21836" y="1984248"/>
            <a:ext cx="1626406"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Media and performance</a:t>
            </a:r>
          </a:p>
        </p:txBody>
      </p:sp>
      <p:sp>
        <p:nvSpPr>
          <p:cNvPr id="20" name="TextBox 19"/>
          <p:cNvSpPr txBox="1"/>
          <p:nvPr/>
        </p:nvSpPr>
        <p:spPr>
          <a:xfrm>
            <a:off x="7521836" y="2202942"/>
            <a:ext cx="1626406" cy="1939290"/>
          </a:xfrm>
          <a:prstGeom prst="rect">
            <a:avLst/>
          </a:prstGeom>
          <a:noFill/>
        </p:spPr>
        <p:txBody>
          <a:bodyPr wrap="square" lIns="0" rIns="0" tIns="0" bIns="0" anchor="t">
            <a:spAutoFit/>
          </a:bodyPr>
          <a:lstStyle/>
          <a:p>
            <a:pPr algn="l">
              <a:lnSpc>
                <a:spcPct val="124000"/>
              </a:lnSpc>
              <a:spcAft>
                <a:spcPts val="320"/>
              </a:spcAft>
            </a:pPr>
            <a:r>
              <a:rPr sz="819" b="1" i="0">
                <a:solidFill>
                  <a:srgbClr val="143DFF"/>
                </a:solidFill>
                <a:latin typeface="Satoshi"/>
              </a:rPr>
              <a:t>·  </a:t>
            </a:r>
            <a:r>
              <a:rPr sz="819" b="0" i="0">
                <a:solidFill>
                  <a:srgbClr val="4C4C4C"/>
                </a:solidFill>
                <a:latin typeface="Satoshi"/>
              </a:rPr>
              <a:t>Alt text written for this vertical's context</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WebP or AVIF, lazy-loaded</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Largest contentful paint under 2.5 seconds</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The comparison table reflows on mobile</a:t>
            </a:r>
          </a:p>
        </p:txBody>
      </p:sp>
      <p:sp>
        <p:nvSpPr>
          <p:cNvPr id="21" name="Rounded Rectangle 20"/>
          <p:cNvSpPr/>
          <p:nvPr/>
        </p:nvSpPr>
        <p:spPr>
          <a:xfrm>
            <a:off x="9504858" y="1828800"/>
            <a:ext cx="2028742" cy="2487168"/>
          </a:xfrm>
          <a:prstGeom prst="roundRect">
            <a:avLst>
              <a:gd name="adj" fmla="val 1252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504858" y="1828800"/>
            <a:ext cx="50292" cy="248716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733458" y="1984248"/>
            <a:ext cx="1626406"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Sign-off</a:t>
            </a:r>
          </a:p>
        </p:txBody>
      </p:sp>
      <p:sp>
        <p:nvSpPr>
          <p:cNvPr id="24" name="TextBox 23"/>
          <p:cNvSpPr txBox="1"/>
          <p:nvPr/>
        </p:nvSpPr>
        <p:spPr>
          <a:xfrm>
            <a:off x="9733458" y="2202942"/>
            <a:ext cx="1626406" cy="1939290"/>
          </a:xfrm>
          <a:prstGeom prst="rect">
            <a:avLst/>
          </a:prstGeom>
          <a:noFill/>
        </p:spPr>
        <p:txBody>
          <a:bodyPr wrap="square" lIns="0" rIns="0" tIns="0" bIns="0" anchor="t">
            <a:spAutoFit/>
          </a:bodyPr>
          <a:lstStyle/>
          <a:p>
            <a:pPr algn="l">
              <a:lnSpc>
                <a:spcPct val="124000"/>
              </a:lnSpc>
              <a:spcAft>
                <a:spcPts val="320"/>
              </a:spcAft>
            </a:pPr>
            <a:r>
              <a:rPr sz="819" b="1" i="0">
                <a:solidFill>
                  <a:srgbClr val="143DFF"/>
                </a:solidFill>
                <a:latin typeface="Satoshi"/>
              </a:rPr>
              <a:t>·  </a:t>
            </a:r>
            <a:r>
              <a:rPr sz="819" b="0" i="0">
                <a:solidFill>
                  <a:srgbClr val="4C4C4C"/>
                </a:solidFill>
                <a:latin typeface="Satoshi"/>
              </a:rPr>
              <a:t>Asselya's editorial review before publish</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G-T passed</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G-J scored 85 or above, or the shortfall explicitly flagged</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Open items block written</a:t>
            </a:r>
          </a:p>
        </p:txBody>
      </p:sp>
      <p:sp>
        <p:nvSpPr>
          <p:cNvPr id="25" name="Rounded Rectangle 24"/>
          <p:cNvSpPr/>
          <p:nvPr/>
        </p:nvSpPr>
        <p:spPr>
          <a:xfrm>
            <a:off x="658368" y="4498848"/>
            <a:ext cx="10875233" cy="640080"/>
          </a:xfrm>
          <a:prstGeom prst="roundRect">
            <a:avLst>
              <a:gd name="adj" fmla="val 39682"/>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77824" y="4590288"/>
            <a:ext cx="10418033" cy="457199"/>
          </a:xfrm>
          <a:prstGeom prst="rect">
            <a:avLst/>
          </a:prstGeom>
          <a:noFill/>
        </p:spPr>
        <p:txBody>
          <a:bodyPr wrap="square" lIns="0" rIns="0" tIns="0" bIns="0" anchor="ctr">
            <a:spAutoFit/>
          </a:bodyPr>
          <a:lstStyle/>
          <a:p>
            <a:pPr algn="l">
              <a:lnSpc>
                <a:spcPct val="116000"/>
              </a:lnSpc>
            </a:pPr>
            <a:r>
              <a:rPr sz="1200" b="1" i="0">
                <a:solidFill>
                  <a:srgbClr val="FFFFFF"/>
                </a:solidFill>
                <a:latin typeface="Satoshi"/>
              </a:rPr>
              <a:t>Asselya's editorial review and the G-J score are the two steps most likely to be skipped under deadline, and they are the two that keep a page from being republished twice.</a:t>
            </a:r>
          </a:p>
        </p:txBody>
      </p:sp>
      <p:sp>
        <p:nvSpPr>
          <p:cNvPr id="27" name="TextBox 26"/>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28" name="TextBox 27"/>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46 / 61</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07</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Messaging and proof library</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The approved hero lines, the whole permitted universe of figures, the citation rules, and the objections.</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47 / 61</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07 · MESSAGING AND PROOF</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Approved hero lines</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From messaging.md, which is the approved set. Adapt wording per artifact. Never invent a new claim inside a hero line.</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2862185"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Segment</a:t>
            </a:r>
          </a:p>
        </p:txBody>
      </p:sp>
      <p:sp>
        <p:nvSpPr>
          <p:cNvPr id="7" name="TextBox 6"/>
          <p:cNvSpPr txBox="1"/>
          <p:nvPr/>
        </p:nvSpPr>
        <p:spPr>
          <a:xfrm>
            <a:off x="3804017" y="1879092"/>
            <a:ext cx="7647288"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Hero line</a:t>
            </a:r>
          </a:p>
        </p:txBody>
      </p:sp>
      <p:sp>
        <p:nvSpPr>
          <p:cNvPr id="8" name="Rectangle 7"/>
          <p:cNvSpPr/>
          <p:nvPr/>
        </p:nvSpPr>
        <p:spPr>
          <a:xfrm>
            <a:off x="658368" y="2103120"/>
            <a:ext cx="10875233" cy="3429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44268"/>
            <a:ext cx="2862185" cy="28803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Telehealth and weight loss</a:t>
            </a:r>
          </a:p>
        </p:txBody>
      </p:sp>
      <p:sp>
        <p:nvSpPr>
          <p:cNvPr id="11" name="TextBox 10"/>
          <p:cNvSpPr txBox="1"/>
          <p:nvPr/>
        </p:nvSpPr>
        <p:spPr>
          <a:xfrm>
            <a:off x="3804017" y="2144268"/>
            <a:ext cx="7647288" cy="2880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Verify body progress remotely to boost retention, reduce drop-off, and prove program ROI</a:t>
            </a:r>
          </a:p>
        </p:txBody>
      </p:sp>
      <p:sp>
        <p:nvSpPr>
          <p:cNvPr id="12" name="Rectangle 11"/>
          <p:cNvSpPr/>
          <p:nvPr/>
        </p:nvSpPr>
        <p:spPr>
          <a:xfrm>
            <a:off x="658368" y="2446020"/>
            <a:ext cx="10875233"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4460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2487168"/>
            <a:ext cx="2862185" cy="28803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Online pharmacy, BMI verification</a:t>
            </a:r>
          </a:p>
        </p:txBody>
      </p:sp>
      <p:sp>
        <p:nvSpPr>
          <p:cNvPr id="15" name="TextBox 14"/>
          <p:cNvSpPr txBox="1"/>
          <p:nvPr/>
        </p:nvSpPr>
        <p:spPr>
          <a:xfrm>
            <a:off x="3804017" y="2487168"/>
            <a:ext cx="7647288" cy="2880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Verify BMI inside the order flow to cut fraud, speed approvals, and stay audit-ready</a:t>
            </a:r>
          </a:p>
        </p:txBody>
      </p:sp>
      <p:sp>
        <p:nvSpPr>
          <p:cNvPr id="16" name="Rectangle 15"/>
          <p:cNvSpPr/>
          <p:nvPr/>
        </p:nvSpPr>
        <p:spPr>
          <a:xfrm>
            <a:off x="658368" y="2788920"/>
            <a:ext cx="10875233" cy="3429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27889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2830068"/>
            <a:ext cx="2862185" cy="28803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Insurance underwriting</a:t>
            </a:r>
          </a:p>
        </p:txBody>
      </p:sp>
      <p:sp>
        <p:nvSpPr>
          <p:cNvPr id="19" name="TextBox 18"/>
          <p:cNvSpPr txBox="1"/>
          <p:nvPr/>
        </p:nvSpPr>
        <p:spPr>
          <a:xfrm>
            <a:off x="3804017" y="2830068"/>
            <a:ext cx="7647288" cy="2880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Verify body metrics remotely to issue faster, cut rework, and strengthen auditability</a:t>
            </a:r>
          </a:p>
        </p:txBody>
      </p:sp>
      <p:sp>
        <p:nvSpPr>
          <p:cNvPr id="20" name="Rectangle 19"/>
          <p:cNvSpPr/>
          <p:nvPr/>
        </p:nvSpPr>
        <p:spPr>
          <a:xfrm>
            <a:off x="658368" y="3131820"/>
            <a:ext cx="10875233"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1318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172968"/>
            <a:ext cx="2862185" cy="28803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Wellness rewards</a:t>
            </a:r>
          </a:p>
        </p:txBody>
      </p:sp>
      <p:sp>
        <p:nvSpPr>
          <p:cNvPr id="23" name="TextBox 22"/>
          <p:cNvSpPr txBox="1"/>
          <p:nvPr/>
        </p:nvSpPr>
        <p:spPr>
          <a:xfrm>
            <a:off x="3804017" y="3172968"/>
            <a:ext cx="7647288" cy="2880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Verify wellness progress remotely to reduce disputes, boost participation, and improve program reporting</a:t>
            </a:r>
          </a:p>
        </p:txBody>
      </p:sp>
      <p:sp>
        <p:nvSpPr>
          <p:cNvPr id="24" name="Rectangle 23"/>
          <p:cNvSpPr/>
          <p:nvPr/>
        </p:nvSpPr>
        <p:spPr>
          <a:xfrm>
            <a:off x="658368" y="3474720"/>
            <a:ext cx="10875233" cy="3429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4747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515868"/>
            <a:ext cx="2862185" cy="28803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Bariatric pre-authorization</a:t>
            </a:r>
          </a:p>
        </p:txBody>
      </p:sp>
      <p:sp>
        <p:nvSpPr>
          <p:cNvPr id="27" name="TextBox 26"/>
          <p:cNvSpPr txBox="1"/>
          <p:nvPr/>
        </p:nvSpPr>
        <p:spPr>
          <a:xfrm>
            <a:off x="3804017" y="3515868"/>
            <a:ext cx="7647288" cy="2880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Pre-qualify patients remotely to reduce wasted consults, speed pre-auth, and improve conversion to procedures</a:t>
            </a:r>
          </a:p>
        </p:txBody>
      </p:sp>
      <p:sp>
        <p:nvSpPr>
          <p:cNvPr id="28" name="Rectangle 27"/>
          <p:cNvSpPr/>
          <p:nvPr/>
        </p:nvSpPr>
        <p:spPr>
          <a:xfrm>
            <a:off x="658368" y="3817620"/>
            <a:ext cx="10875233" cy="3429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38176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3858768"/>
            <a:ext cx="2862185" cy="28803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Occupational health</a:t>
            </a:r>
          </a:p>
        </p:txBody>
      </p:sp>
      <p:sp>
        <p:nvSpPr>
          <p:cNvPr id="31" name="TextBox 30"/>
          <p:cNvSpPr txBox="1"/>
          <p:nvPr/>
        </p:nvSpPr>
        <p:spPr>
          <a:xfrm>
            <a:off x="3804017" y="3858768"/>
            <a:ext cx="7647288" cy="2880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Standardize screening intake remotely to increase throughput, reduce rescreens, and speed clearance decisions</a:t>
            </a:r>
          </a:p>
        </p:txBody>
      </p:sp>
      <p:sp>
        <p:nvSpPr>
          <p:cNvPr id="32" name="Rectangle 31"/>
          <p:cNvSpPr/>
          <p:nvPr/>
        </p:nvSpPr>
        <p:spPr>
          <a:xfrm>
            <a:off x="658368" y="4160520"/>
            <a:ext cx="10875233" cy="342900"/>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58368" y="41605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4201668"/>
            <a:ext cx="2862185" cy="288036"/>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Clinical trials</a:t>
            </a:r>
          </a:p>
        </p:txBody>
      </p:sp>
      <p:sp>
        <p:nvSpPr>
          <p:cNvPr id="35" name="TextBox 34"/>
          <p:cNvSpPr txBox="1"/>
          <p:nvPr/>
        </p:nvSpPr>
        <p:spPr>
          <a:xfrm>
            <a:off x="3804017" y="4201668"/>
            <a:ext cx="7647288" cy="288036"/>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Standardize anthropometrics across sites and reduce visit burden to improve data quality and retention</a:t>
            </a:r>
          </a:p>
        </p:txBody>
      </p:sp>
      <p:sp>
        <p:nvSpPr>
          <p:cNvPr id="36" name="Rectangle 35"/>
          <p:cNvSpPr/>
          <p:nvPr/>
        </p:nvSpPr>
        <p:spPr>
          <a:xfrm>
            <a:off x="658368" y="45034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8368" y="4517136"/>
            <a:ext cx="10875233" cy="402336"/>
          </a:xfrm>
          <a:prstGeom prst="rect">
            <a:avLst/>
          </a:prstGeom>
          <a:noFill/>
        </p:spPr>
        <p:txBody>
          <a:bodyPr wrap="square" lIns="0" rIns="0" tIns="0" bIns="0" anchor="t">
            <a:spAutoFit/>
          </a:bodyPr>
          <a:lstStyle/>
          <a:p>
            <a:pPr algn="l">
              <a:lnSpc>
                <a:spcPct val="128000"/>
              </a:lnSpc>
            </a:pPr>
            <a:r>
              <a:rPr sz="900" b="0" i="1">
                <a:solidFill>
                  <a:srgbClr val="666666"/>
                </a:solidFill>
                <a:latin typeface="Satoshi"/>
              </a:rPr>
              <a:t>Three of these are three-part parallel constructions, which sits close to the punch-triad rule. They are approved as hero lines because the three items are outcomes rather than adjectives. Do not extend the pattern into body copy.</a:t>
            </a:r>
          </a:p>
        </p:txBody>
      </p:sp>
      <p:sp>
        <p:nvSpPr>
          <p:cNvPr id="38" name="Rounded Rectangle 37"/>
          <p:cNvSpPr/>
          <p:nvPr/>
        </p:nvSpPr>
        <p:spPr>
          <a:xfrm>
            <a:off x="658368" y="4974336"/>
            <a:ext cx="5327888" cy="1371600"/>
          </a:xfrm>
          <a:prstGeom prst="roundRect">
            <a:avLst>
              <a:gd name="adj" fmla="val 18518"/>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59536" y="5148072"/>
            <a:ext cx="4925552" cy="256032"/>
          </a:xfrm>
          <a:prstGeom prst="rect">
            <a:avLst/>
          </a:prstGeom>
          <a:noFill/>
        </p:spPr>
        <p:txBody>
          <a:bodyPr wrap="square" lIns="0" rIns="0" tIns="0" bIns="0" anchor="t">
            <a:spAutoFit/>
          </a:bodyPr>
          <a:lstStyle/>
          <a:p>
            <a:pPr algn="l">
              <a:lnSpc>
                <a:spcPct val="128000"/>
              </a:lnSpc>
            </a:pPr>
            <a:r>
              <a:rPr sz="1100" b="1" i="0">
                <a:solidFill>
                  <a:srgbClr val="143DFF"/>
                </a:solidFill>
                <a:latin typeface="Satoshi"/>
              </a:rPr>
              <a:t>Taglines, used sparingly when a short hook is needed</a:t>
            </a:r>
          </a:p>
        </p:txBody>
      </p:sp>
      <p:sp>
        <p:nvSpPr>
          <p:cNvPr id="40" name="TextBox 39"/>
          <p:cNvSpPr txBox="1"/>
          <p:nvPr/>
        </p:nvSpPr>
        <p:spPr>
          <a:xfrm>
            <a:off x="859536" y="5504688"/>
            <a:ext cx="4925552" cy="658368"/>
          </a:xfrm>
          <a:prstGeom prst="rect">
            <a:avLst/>
          </a:prstGeom>
          <a:noFill/>
        </p:spPr>
        <p:txBody>
          <a:bodyPr wrap="square" lIns="0" rIns="0" tIns="0" bIns="0" anchor="t">
            <a:spAutoFit/>
          </a:bodyPr>
          <a:lstStyle/>
          <a:p>
            <a:pPr algn="l">
              <a:lnSpc>
                <a:spcPct val="126000"/>
              </a:lnSpc>
              <a:spcAft>
                <a:spcPts val="340"/>
              </a:spcAft>
            </a:pPr>
            <a:r>
              <a:rPr sz="880" b="1" i="0">
                <a:solidFill>
                  <a:srgbClr val="143DFF"/>
                </a:solidFill>
                <a:latin typeface="Satoshi"/>
              </a:rPr>
              <a:t>·  </a:t>
            </a:r>
            <a:r>
              <a:rPr sz="880" b="0" i="0">
                <a:solidFill>
                  <a:srgbClr val="4C4C4C"/>
                </a:solidFill>
                <a:latin typeface="Satoshi"/>
              </a:rPr>
              <a:t>Verified body data, built for trust</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Two photos. 80+ measurements. 45 seconds</a:t>
            </a:r>
          </a:p>
          <a:p>
            <a:pPr algn="l">
              <a:lnSpc>
                <a:spcPct val="126000"/>
              </a:lnSpc>
              <a:spcAft>
                <a:spcPts val="340"/>
              </a:spcAft>
            </a:pPr>
            <a:r>
              <a:rPr sz="880" b="1" i="0">
                <a:solidFill>
                  <a:srgbClr val="143DFF"/>
                </a:solidFill>
                <a:latin typeface="Satoshi"/>
              </a:rPr>
              <a:t>·  </a:t>
            </a:r>
            <a:r>
              <a:rPr sz="880" b="0" i="0">
                <a:solidFill>
                  <a:srgbClr val="4C4C4C"/>
                </a:solidFill>
                <a:latin typeface="Satoshi"/>
              </a:rPr>
              <a:t>From scan to outcome, in one workflow</a:t>
            </a:r>
          </a:p>
        </p:txBody>
      </p:sp>
      <p:sp>
        <p:nvSpPr>
          <p:cNvPr id="41" name="Rounded Rectangle 40"/>
          <p:cNvSpPr/>
          <p:nvPr/>
        </p:nvSpPr>
        <p:spPr>
          <a:xfrm>
            <a:off x="6205712" y="4974336"/>
            <a:ext cx="5327888" cy="1371600"/>
          </a:xfrm>
          <a:prstGeom prst="roundRect">
            <a:avLst>
              <a:gd name="adj" fmla="val 18518"/>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6880" y="5148072"/>
            <a:ext cx="4925552" cy="256032"/>
          </a:xfrm>
          <a:prstGeom prst="rect">
            <a:avLst/>
          </a:prstGeom>
          <a:noFill/>
        </p:spPr>
        <p:txBody>
          <a:bodyPr wrap="square" lIns="0" rIns="0" tIns="0" bIns="0" anchor="t">
            <a:spAutoFit/>
          </a:bodyPr>
          <a:lstStyle/>
          <a:p>
            <a:pPr algn="l">
              <a:lnSpc>
                <a:spcPct val="128000"/>
              </a:lnSpc>
            </a:pPr>
            <a:r>
              <a:rPr sz="1100" b="1" i="0">
                <a:solidFill>
                  <a:srgbClr val="050F40"/>
                </a:solidFill>
                <a:latin typeface="Satoshi"/>
              </a:rPr>
              <a:t>Phrases to prefer</a:t>
            </a:r>
          </a:p>
        </p:txBody>
      </p:sp>
      <p:sp>
        <p:nvSpPr>
          <p:cNvPr id="43" name="TextBox 42"/>
          <p:cNvSpPr txBox="1"/>
          <p:nvPr/>
        </p:nvSpPr>
        <p:spPr>
          <a:xfrm>
            <a:off x="6406880" y="5504688"/>
            <a:ext cx="4925552" cy="658368"/>
          </a:xfrm>
          <a:prstGeom prst="rect">
            <a:avLst/>
          </a:prstGeom>
          <a:noFill/>
        </p:spPr>
        <p:txBody>
          <a:bodyPr wrap="square" lIns="0" rIns="0" tIns="0" bIns="0" anchor="t">
            <a:spAutoFit/>
          </a:bodyPr>
          <a:lstStyle/>
          <a:p>
            <a:pPr algn="l">
              <a:lnSpc>
                <a:spcPct val="126000"/>
              </a:lnSpc>
              <a:spcAft>
                <a:spcPts val="305"/>
              </a:spcAft>
            </a:pPr>
            <a:r>
              <a:rPr sz="792" b="1" i="0">
                <a:solidFill>
                  <a:srgbClr val="050F40"/>
                </a:solidFill>
                <a:latin typeface="Satoshi"/>
              </a:rPr>
              <a:t>·  </a:t>
            </a:r>
            <a:r>
              <a:rPr sz="792" b="0" i="0">
                <a:solidFill>
                  <a:srgbClr val="4C4C4C"/>
                </a:solidFill>
                <a:latin typeface="Satoshi"/>
              </a:rPr>
              <a:t>"Verified body data" over "accurate measurements"</a:t>
            </a:r>
          </a:p>
          <a:p>
            <a:pPr algn="l">
              <a:lnSpc>
                <a:spcPct val="126000"/>
              </a:lnSpc>
              <a:spcAft>
                <a:spcPts val="305"/>
              </a:spcAft>
            </a:pPr>
            <a:r>
              <a:rPr sz="792" b="1" i="0">
                <a:solidFill>
                  <a:srgbClr val="050F40"/>
                </a:solidFill>
                <a:latin typeface="Satoshi"/>
              </a:rPr>
              <a:t>·  </a:t>
            </a:r>
            <a:r>
              <a:rPr sz="792" b="0" i="0">
                <a:solidFill>
                  <a:srgbClr val="4C4C4C"/>
                </a:solidFill>
                <a:latin typeface="Satoshi"/>
              </a:rPr>
              <a:t>"Trusted workflow layer" over "scanning API"</a:t>
            </a:r>
          </a:p>
          <a:p>
            <a:pPr algn="l">
              <a:lnSpc>
                <a:spcPct val="126000"/>
              </a:lnSpc>
              <a:spcAft>
                <a:spcPts val="305"/>
              </a:spcAft>
            </a:pPr>
            <a:r>
              <a:rPr sz="792" b="1" i="0">
                <a:solidFill>
                  <a:srgbClr val="050F40"/>
                </a:solidFill>
                <a:latin typeface="Satoshi"/>
              </a:rPr>
              <a:t>·  </a:t>
            </a:r>
            <a:r>
              <a:rPr sz="792" b="0" i="0">
                <a:solidFill>
                  <a:srgbClr val="4C4C4C"/>
                </a:solidFill>
                <a:latin typeface="Satoshi"/>
              </a:rPr>
              <a:t>"Audit-ready records" for regulated industries</a:t>
            </a:r>
          </a:p>
          <a:p>
            <a:pPr algn="l">
              <a:lnSpc>
                <a:spcPct val="126000"/>
              </a:lnSpc>
              <a:spcAft>
                <a:spcPts val="305"/>
              </a:spcAft>
            </a:pPr>
            <a:r>
              <a:rPr sz="792" b="1" i="0">
                <a:solidFill>
                  <a:srgbClr val="050F40"/>
                </a:solidFill>
                <a:latin typeface="Satoshi"/>
              </a:rPr>
              <a:t>·  </a:t>
            </a:r>
            <a:r>
              <a:rPr sz="792" b="0" i="0">
                <a:solidFill>
                  <a:srgbClr val="4C4C4C"/>
                </a:solidFill>
                <a:latin typeface="Satoshi"/>
              </a:rPr>
              <a:t>"Real-world accuracy" over "lab accuracy"</a:t>
            </a:r>
          </a:p>
        </p:txBody>
      </p:sp>
      <p:sp>
        <p:nvSpPr>
          <p:cNvPr id="44" name="TextBox 43"/>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45" name="TextBox 44"/>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48 / 61</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07 · MESSAGING AND PROOF</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approved proof set</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This is the whole permitted universe of figures, copied from proof-points.md. If a number is not here, it does not ship.</a:t>
            </a:r>
          </a:p>
        </p:txBody>
      </p:sp>
      <p:sp>
        <p:nvSpPr>
          <p:cNvPr id="5" name="Rounded Rectangle 4"/>
          <p:cNvSpPr/>
          <p:nvPr/>
        </p:nvSpPr>
        <p:spPr>
          <a:xfrm>
            <a:off x="658368" y="1828800"/>
            <a:ext cx="1675378" cy="1005840"/>
          </a:xfrm>
          <a:prstGeom prst="roundRect">
            <a:avLst>
              <a:gd name="adj" fmla="val 2525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947672"/>
            <a:ext cx="1382770" cy="402336"/>
          </a:xfrm>
          <a:prstGeom prst="rect">
            <a:avLst/>
          </a:prstGeom>
          <a:noFill/>
        </p:spPr>
        <p:txBody>
          <a:bodyPr wrap="square" lIns="0" rIns="0" tIns="0" bIns="0" anchor="t">
            <a:spAutoFit/>
          </a:bodyPr>
          <a:lstStyle/>
          <a:p>
            <a:pPr algn="ctr">
              <a:lnSpc>
                <a:spcPct val="100000"/>
              </a:lnSpc>
            </a:pPr>
            <a:r>
              <a:rPr sz="1550" b="1" i="0">
                <a:solidFill>
                  <a:srgbClr val="143DFF"/>
                </a:solidFill>
                <a:latin typeface="Satoshi"/>
              </a:rPr>
              <a:t>96 to 97%</a:t>
            </a:r>
          </a:p>
        </p:txBody>
      </p:sp>
      <p:sp>
        <p:nvSpPr>
          <p:cNvPr id="7" name="TextBox 6"/>
          <p:cNvSpPr txBox="1"/>
          <p:nvPr/>
        </p:nvSpPr>
        <p:spPr>
          <a:xfrm>
            <a:off x="768096" y="2395728"/>
            <a:ext cx="1455922" cy="347472"/>
          </a:xfrm>
          <a:prstGeom prst="rect">
            <a:avLst/>
          </a:prstGeom>
          <a:noFill/>
        </p:spPr>
        <p:txBody>
          <a:bodyPr wrap="square" lIns="0" rIns="0" tIns="0" bIns="0" anchor="t">
            <a:spAutoFit/>
          </a:bodyPr>
          <a:lstStyle/>
          <a:p>
            <a:pPr algn="ctr">
              <a:lnSpc>
                <a:spcPct val="122000"/>
              </a:lnSpc>
            </a:pPr>
            <a:r>
              <a:rPr sz="800" b="0" i="0">
                <a:solidFill>
                  <a:srgbClr val="666666"/>
                </a:solidFill>
                <a:latin typeface="Satoshi"/>
              </a:rPr>
              <a:t>Accuracy against expert manual measurement</a:t>
            </a:r>
          </a:p>
        </p:txBody>
      </p:sp>
      <p:sp>
        <p:nvSpPr>
          <p:cNvPr id="8" name="Rounded Rectangle 7"/>
          <p:cNvSpPr/>
          <p:nvPr/>
        </p:nvSpPr>
        <p:spPr>
          <a:xfrm>
            <a:off x="2498338" y="1828800"/>
            <a:ext cx="1675378" cy="1005840"/>
          </a:xfrm>
          <a:prstGeom prst="roundRect">
            <a:avLst>
              <a:gd name="adj" fmla="val 2525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44642" y="1947672"/>
            <a:ext cx="1382770" cy="402336"/>
          </a:xfrm>
          <a:prstGeom prst="rect">
            <a:avLst/>
          </a:prstGeom>
          <a:noFill/>
        </p:spPr>
        <p:txBody>
          <a:bodyPr wrap="square" lIns="0" rIns="0" tIns="0" bIns="0" anchor="t">
            <a:spAutoFit/>
          </a:bodyPr>
          <a:lstStyle/>
          <a:p>
            <a:pPr algn="ctr">
              <a:lnSpc>
                <a:spcPct val="100000"/>
              </a:lnSpc>
            </a:pPr>
            <a:r>
              <a:rPr sz="1550" b="1" i="0">
                <a:solidFill>
                  <a:srgbClr val="143DFF"/>
                </a:solidFill>
                <a:latin typeface="Satoshi"/>
              </a:rPr>
              <a:t>1.5 to 2.0 cm</a:t>
            </a:r>
          </a:p>
        </p:txBody>
      </p:sp>
      <p:sp>
        <p:nvSpPr>
          <p:cNvPr id="10" name="TextBox 9"/>
          <p:cNvSpPr txBox="1"/>
          <p:nvPr/>
        </p:nvSpPr>
        <p:spPr>
          <a:xfrm>
            <a:off x="2608066" y="2395728"/>
            <a:ext cx="1455922" cy="347472"/>
          </a:xfrm>
          <a:prstGeom prst="rect">
            <a:avLst/>
          </a:prstGeom>
          <a:noFill/>
        </p:spPr>
        <p:txBody>
          <a:bodyPr wrap="square" lIns="0" rIns="0" tIns="0" bIns="0" anchor="t">
            <a:spAutoFit/>
          </a:bodyPr>
          <a:lstStyle/>
          <a:p>
            <a:pPr algn="ctr">
              <a:lnSpc>
                <a:spcPct val="122000"/>
              </a:lnSpc>
            </a:pPr>
            <a:r>
              <a:rPr sz="800" b="0" i="0">
                <a:solidFill>
                  <a:srgbClr val="666666"/>
                </a:solidFill>
                <a:latin typeface="Satoshi"/>
              </a:rPr>
              <a:t>Typical error margin</a:t>
            </a:r>
          </a:p>
        </p:txBody>
      </p:sp>
      <p:sp>
        <p:nvSpPr>
          <p:cNvPr id="11" name="Rounded Rectangle 10"/>
          <p:cNvSpPr/>
          <p:nvPr/>
        </p:nvSpPr>
        <p:spPr>
          <a:xfrm>
            <a:off x="4338309" y="1828800"/>
            <a:ext cx="1675378" cy="1005840"/>
          </a:xfrm>
          <a:prstGeom prst="roundRect">
            <a:avLst>
              <a:gd name="adj" fmla="val 2525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4613" y="1947672"/>
            <a:ext cx="1382770" cy="402336"/>
          </a:xfrm>
          <a:prstGeom prst="rect">
            <a:avLst/>
          </a:prstGeom>
          <a:noFill/>
        </p:spPr>
        <p:txBody>
          <a:bodyPr wrap="square" lIns="0" rIns="0" tIns="0" bIns="0" anchor="t">
            <a:spAutoFit/>
          </a:bodyPr>
          <a:lstStyle/>
          <a:p>
            <a:pPr algn="ctr">
              <a:lnSpc>
                <a:spcPct val="100000"/>
              </a:lnSpc>
            </a:pPr>
            <a:r>
              <a:rPr sz="1550" b="1" i="0">
                <a:solidFill>
                  <a:srgbClr val="143DFF"/>
                </a:solidFill>
                <a:latin typeface="Satoshi"/>
              </a:rPr>
              <a:t>&lt; 1 cm</a:t>
            </a:r>
          </a:p>
        </p:txBody>
      </p:sp>
      <p:sp>
        <p:nvSpPr>
          <p:cNvPr id="13" name="TextBox 12"/>
          <p:cNvSpPr txBox="1"/>
          <p:nvPr/>
        </p:nvSpPr>
        <p:spPr>
          <a:xfrm>
            <a:off x="4448037" y="2395728"/>
            <a:ext cx="1455922" cy="347472"/>
          </a:xfrm>
          <a:prstGeom prst="rect">
            <a:avLst/>
          </a:prstGeom>
          <a:noFill/>
        </p:spPr>
        <p:txBody>
          <a:bodyPr wrap="square" lIns="0" rIns="0" tIns="0" bIns="0" anchor="t">
            <a:spAutoFit/>
          </a:bodyPr>
          <a:lstStyle/>
          <a:p>
            <a:pPr algn="ctr">
              <a:lnSpc>
                <a:spcPct val="122000"/>
              </a:lnSpc>
            </a:pPr>
            <a:r>
              <a:rPr sz="800" b="0" i="0">
                <a:solidFill>
                  <a:srgbClr val="666666"/>
                </a:solidFill>
                <a:latin typeface="Satoshi"/>
              </a:rPr>
              <a:t>Variance across repeated scans</a:t>
            </a:r>
          </a:p>
        </p:txBody>
      </p:sp>
      <p:sp>
        <p:nvSpPr>
          <p:cNvPr id="14" name="Rounded Rectangle 13"/>
          <p:cNvSpPr/>
          <p:nvPr/>
        </p:nvSpPr>
        <p:spPr>
          <a:xfrm>
            <a:off x="6178280" y="1828800"/>
            <a:ext cx="1675378" cy="1005840"/>
          </a:xfrm>
          <a:prstGeom prst="roundRect">
            <a:avLst>
              <a:gd name="adj" fmla="val 2525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24584" y="1947672"/>
            <a:ext cx="1382770" cy="402336"/>
          </a:xfrm>
          <a:prstGeom prst="rect">
            <a:avLst/>
          </a:prstGeom>
          <a:noFill/>
        </p:spPr>
        <p:txBody>
          <a:bodyPr wrap="square" lIns="0" rIns="0" tIns="0" bIns="0" anchor="t">
            <a:spAutoFit/>
          </a:bodyPr>
          <a:lstStyle/>
          <a:p>
            <a:pPr algn="ctr">
              <a:lnSpc>
                <a:spcPct val="100000"/>
              </a:lnSpc>
            </a:pPr>
            <a:r>
              <a:rPr sz="1550" b="1" i="0">
                <a:solidFill>
                  <a:srgbClr val="143DFF"/>
                </a:solidFill>
                <a:latin typeface="Satoshi"/>
              </a:rPr>
              <a:t>95%+</a:t>
            </a:r>
          </a:p>
        </p:txBody>
      </p:sp>
      <p:sp>
        <p:nvSpPr>
          <p:cNvPr id="16" name="TextBox 15"/>
          <p:cNvSpPr txBox="1"/>
          <p:nvPr/>
        </p:nvSpPr>
        <p:spPr>
          <a:xfrm>
            <a:off x="6288008" y="2395728"/>
            <a:ext cx="1455922" cy="347472"/>
          </a:xfrm>
          <a:prstGeom prst="rect">
            <a:avLst/>
          </a:prstGeom>
          <a:noFill/>
        </p:spPr>
        <p:txBody>
          <a:bodyPr wrap="square" lIns="0" rIns="0" tIns="0" bIns="0" anchor="t">
            <a:spAutoFit/>
          </a:bodyPr>
          <a:lstStyle/>
          <a:p>
            <a:pPr algn="ctr">
              <a:lnSpc>
                <a:spcPct val="122000"/>
              </a:lnSpc>
            </a:pPr>
            <a:r>
              <a:rPr sz="800" b="0" i="0">
                <a:solidFill>
                  <a:srgbClr val="666666"/>
                </a:solidFill>
                <a:latin typeface="Satoshi"/>
              </a:rPr>
              <a:t>Overall repeatability consistency</a:t>
            </a:r>
          </a:p>
        </p:txBody>
      </p:sp>
      <p:sp>
        <p:nvSpPr>
          <p:cNvPr id="17" name="Rounded Rectangle 16"/>
          <p:cNvSpPr/>
          <p:nvPr/>
        </p:nvSpPr>
        <p:spPr>
          <a:xfrm>
            <a:off x="8018251" y="1828800"/>
            <a:ext cx="1675378" cy="1005840"/>
          </a:xfrm>
          <a:prstGeom prst="roundRect">
            <a:avLst>
              <a:gd name="adj" fmla="val 2525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64555" y="1947672"/>
            <a:ext cx="1382770" cy="402336"/>
          </a:xfrm>
          <a:prstGeom prst="rect">
            <a:avLst/>
          </a:prstGeom>
          <a:noFill/>
        </p:spPr>
        <p:txBody>
          <a:bodyPr wrap="square" lIns="0" rIns="0" tIns="0" bIns="0" anchor="t">
            <a:spAutoFit/>
          </a:bodyPr>
          <a:lstStyle/>
          <a:p>
            <a:pPr algn="ctr">
              <a:lnSpc>
                <a:spcPct val="100000"/>
              </a:lnSpc>
            </a:pPr>
            <a:r>
              <a:rPr sz="1550" b="1" i="0">
                <a:solidFill>
                  <a:srgbClr val="143DFF"/>
                </a:solidFill>
                <a:latin typeface="Satoshi"/>
              </a:rPr>
              <a:t>+/- 3.5%</a:t>
            </a:r>
          </a:p>
        </p:txBody>
      </p:sp>
      <p:sp>
        <p:nvSpPr>
          <p:cNvPr id="19" name="TextBox 18"/>
          <p:cNvSpPr txBox="1"/>
          <p:nvPr/>
        </p:nvSpPr>
        <p:spPr>
          <a:xfrm>
            <a:off x="8127979" y="2395728"/>
            <a:ext cx="1455922" cy="347472"/>
          </a:xfrm>
          <a:prstGeom prst="rect">
            <a:avLst/>
          </a:prstGeom>
          <a:noFill/>
        </p:spPr>
        <p:txBody>
          <a:bodyPr wrap="square" lIns="0" rIns="0" tIns="0" bIns="0" anchor="t">
            <a:spAutoFit/>
          </a:bodyPr>
          <a:lstStyle/>
          <a:p>
            <a:pPr algn="ctr">
              <a:lnSpc>
                <a:spcPct val="122000"/>
              </a:lnSpc>
            </a:pPr>
            <a:r>
              <a:rPr sz="800" b="0" i="0">
                <a:solidFill>
                  <a:srgbClr val="666666"/>
                </a:solidFill>
                <a:latin typeface="Satoshi"/>
              </a:rPr>
              <a:t>Weight estimation average error</a:t>
            </a:r>
          </a:p>
        </p:txBody>
      </p:sp>
      <p:sp>
        <p:nvSpPr>
          <p:cNvPr id="20" name="Rounded Rectangle 19"/>
          <p:cNvSpPr/>
          <p:nvPr/>
        </p:nvSpPr>
        <p:spPr>
          <a:xfrm>
            <a:off x="9858222" y="1828800"/>
            <a:ext cx="1675378" cy="1005840"/>
          </a:xfrm>
          <a:prstGeom prst="roundRect">
            <a:avLst>
              <a:gd name="adj" fmla="val 2525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004526" y="1947672"/>
            <a:ext cx="1382770" cy="402336"/>
          </a:xfrm>
          <a:prstGeom prst="rect">
            <a:avLst/>
          </a:prstGeom>
          <a:noFill/>
        </p:spPr>
        <p:txBody>
          <a:bodyPr wrap="square" lIns="0" rIns="0" tIns="0" bIns="0" anchor="t">
            <a:spAutoFit/>
          </a:bodyPr>
          <a:lstStyle/>
          <a:p>
            <a:pPr algn="ctr">
              <a:lnSpc>
                <a:spcPct val="100000"/>
              </a:lnSpc>
            </a:pPr>
            <a:r>
              <a:rPr sz="1550" b="1" i="0">
                <a:solidFill>
                  <a:srgbClr val="143DFF"/>
                </a:solidFill>
                <a:latin typeface="Satoshi"/>
              </a:rPr>
              <a:t>&lt; 45 sec</a:t>
            </a:r>
          </a:p>
        </p:txBody>
      </p:sp>
      <p:sp>
        <p:nvSpPr>
          <p:cNvPr id="22" name="TextBox 21"/>
          <p:cNvSpPr txBox="1"/>
          <p:nvPr/>
        </p:nvSpPr>
        <p:spPr>
          <a:xfrm>
            <a:off x="9967950" y="2395728"/>
            <a:ext cx="1455922" cy="347472"/>
          </a:xfrm>
          <a:prstGeom prst="rect">
            <a:avLst/>
          </a:prstGeom>
          <a:noFill/>
        </p:spPr>
        <p:txBody>
          <a:bodyPr wrap="square" lIns="0" rIns="0" tIns="0" bIns="0" anchor="t">
            <a:spAutoFit/>
          </a:bodyPr>
          <a:lstStyle/>
          <a:p>
            <a:pPr algn="ctr">
              <a:lnSpc>
                <a:spcPct val="122000"/>
              </a:lnSpc>
            </a:pPr>
            <a:r>
              <a:rPr sz="800" b="0" i="0">
                <a:solidFill>
                  <a:srgbClr val="666666"/>
                </a:solidFill>
                <a:latin typeface="Satoshi"/>
              </a:rPr>
              <a:t>Two photos to structured results</a:t>
            </a:r>
          </a:p>
        </p:txBody>
      </p:sp>
      <p:sp>
        <p:nvSpPr>
          <p:cNvPr id="23" name="TextBox 22"/>
          <p:cNvSpPr txBox="1"/>
          <p:nvPr/>
        </p:nvSpPr>
        <p:spPr>
          <a:xfrm>
            <a:off x="658368" y="2962656"/>
            <a:ext cx="5274488" cy="201168"/>
          </a:xfrm>
          <a:prstGeom prst="rect">
            <a:avLst/>
          </a:prstGeom>
          <a:noFill/>
        </p:spPr>
        <p:txBody>
          <a:bodyPr wrap="square" lIns="0" rIns="0" tIns="0" bIns="0" anchor="t">
            <a:spAutoFit/>
          </a:bodyPr>
          <a:lstStyle/>
          <a:p>
            <a:pPr algn="l">
              <a:lnSpc>
                <a:spcPct val="128000"/>
              </a:lnSpc>
            </a:pPr>
            <a:r>
              <a:rPr sz="800" b="1" i="0">
                <a:solidFill>
                  <a:srgbClr val="143DFF"/>
                </a:solidFill>
                <a:latin typeface="Satoshi"/>
              </a:rPr>
              <a:t>ACCURACY BY MEASUREMENT, ABSOLUTE ERROR</a:t>
            </a:r>
          </a:p>
        </p:txBody>
      </p:sp>
      <p:sp>
        <p:nvSpPr>
          <p:cNvPr id="24" name="Rectangle 23"/>
          <p:cNvSpPr/>
          <p:nvPr/>
        </p:nvSpPr>
        <p:spPr>
          <a:xfrm>
            <a:off x="658368" y="3218688"/>
            <a:ext cx="5274488" cy="22402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68096" y="3255264"/>
            <a:ext cx="3164692"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Wrist girth</a:t>
            </a:r>
          </a:p>
        </p:txBody>
      </p:sp>
      <p:sp>
        <p:nvSpPr>
          <p:cNvPr id="26" name="TextBox 25"/>
          <p:cNvSpPr txBox="1"/>
          <p:nvPr/>
        </p:nvSpPr>
        <p:spPr>
          <a:xfrm>
            <a:off x="3823060" y="3255264"/>
            <a:ext cx="1981779"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0.54 cm</a:t>
            </a:r>
          </a:p>
        </p:txBody>
      </p:sp>
      <p:sp>
        <p:nvSpPr>
          <p:cNvPr id="27" name="Rectangle 26"/>
          <p:cNvSpPr/>
          <p:nvPr/>
        </p:nvSpPr>
        <p:spPr>
          <a:xfrm>
            <a:off x="658368" y="3442716"/>
            <a:ext cx="5274488" cy="2240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8096" y="3479292"/>
            <a:ext cx="3164692"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Calf</a:t>
            </a:r>
          </a:p>
        </p:txBody>
      </p:sp>
      <p:sp>
        <p:nvSpPr>
          <p:cNvPr id="29" name="TextBox 28"/>
          <p:cNvSpPr txBox="1"/>
          <p:nvPr/>
        </p:nvSpPr>
        <p:spPr>
          <a:xfrm>
            <a:off x="3823060" y="3479292"/>
            <a:ext cx="1981779"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1.27 cm</a:t>
            </a:r>
          </a:p>
        </p:txBody>
      </p:sp>
      <p:sp>
        <p:nvSpPr>
          <p:cNvPr id="30" name="Rectangle 29"/>
          <p:cNvSpPr/>
          <p:nvPr/>
        </p:nvSpPr>
        <p:spPr>
          <a:xfrm>
            <a:off x="658368" y="3666744"/>
            <a:ext cx="5274488" cy="22402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68096" y="3703320"/>
            <a:ext cx="3164692"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Neck</a:t>
            </a:r>
          </a:p>
        </p:txBody>
      </p:sp>
      <p:sp>
        <p:nvSpPr>
          <p:cNvPr id="32" name="TextBox 31"/>
          <p:cNvSpPr txBox="1"/>
          <p:nvPr/>
        </p:nvSpPr>
        <p:spPr>
          <a:xfrm>
            <a:off x="3823060" y="3703320"/>
            <a:ext cx="1981779"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1.48 cm</a:t>
            </a:r>
          </a:p>
        </p:txBody>
      </p:sp>
      <p:sp>
        <p:nvSpPr>
          <p:cNvPr id="33" name="Rectangle 32"/>
          <p:cNvSpPr/>
          <p:nvPr/>
        </p:nvSpPr>
        <p:spPr>
          <a:xfrm>
            <a:off x="658368" y="3890772"/>
            <a:ext cx="5274488" cy="2240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68096" y="3927348"/>
            <a:ext cx="3164692"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Thigh</a:t>
            </a:r>
          </a:p>
        </p:txBody>
      </p:sp>
      <p:sp>
        <p:nvSpPr>
          <p:cNvPr id="35" name="TextBox 34"/>
          <p:cNvSpPr txBox="1"/>
          <p:nvPr/>
        </p:nvSpPr>
        <p:spPr>
          <a:xfrm>
            <a:off x="3823060" y="3927348"/>
            <a:ext cx="1981779"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1.64 cm</a:t>
            </a:r>
          </a:p>
        </p:txBody>
      </p:sp>
      <p:sp>
        <p:nvSpPr>
          <p:cNvPr id="36" name="Rectangle 35"/>
          <p:cNvSpPr/>
          <p:nvPr/>
        </p:nvSpPr>
        <p:spPr>
          <a:xfrm>
            <a:off x="658368" y="4114800"/>
            <a:ext cx="5274488" cy="22402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8096" y="4151376"/>
            <a:ext cx="3164692"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Knee</a:t>
            </a:r>
          </a:p>
        </p:txBody>
      </p:sp>
      <p:sp>
        <p:nvSpPr>
          <p:cNvPr id="38" name="TextBox 37"/>
          <p:cNvSpPr txBox="1"/>
          <p:nvPr/>
        </p:nvSpPr>
        <p:spPr>
          <a:xfrm>
            <a:off x="3823060" y="4151376"/>
            <a:ext cx="1981779"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1.73 cm</a:t>
            </a:r>
          </a:p>
        </p:txBody>
      </p:sp>
      <p:sp>
        <p:nvSpPr>
          <p:cNvPr id="39" name="Rectangle 38"/>
          <p:cNvSpPr/>
          <p:nvPr/>
        </p:nvSpPr>
        <p:spPr>
          <a:xfrm>
            <a:off x="658368" y="4338828"/>
            <a:ext cx="5274488" cy="2240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68096" y="4375404"/>
            <a:ext cx="3164692"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Chest</a:t>
            </a:r>
          </a:p>
        </p:txBody>
      </p:sp>
      <p:sp>
        <p:nvSpPr>
          <p:cNvPr id="41" name="TextBox 40"/>
          <p:cNvSpPr txBox="1"/>
          <p:nvPr/>
        </p:nvSpPr>
        <p:spPr>
          <a:xfrm>
            <a:off x="3823060" y="4375404"/>
            <a:ext cx="1981779"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1.74 cm</a:t>
            </a:r>
          </a:p>
        </p:txBody>
      </p:sp>
      <p:sp>
        <p:nvSpPr>
          <p:cNvPr id="42" name="Rectangle 41"/>
          <p:cNvSpPr/>
          <p:nvPr/>
        </p:nvSpPr>
        <p:spPr>
          <a:xfrm>
            <a:off x="658368" y="4562856"/>
            <a:ext cx="5274488" cy="22402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8096" y="4599432"/>
            <a:ext cx="3164692"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Waist</a:t>
            </a:r>
          </a:p>
        </p:txBody>
      </p:sp>
      <p:sp>
        <p:nvSpPr>
          <p:cNvPr id="44" name="TextBox 43"/>
          <p:cNvSpPr txBox="1"/>
          <p:nvPr/>
        </p:nvSpPr>
        <p:spPr>
          <a:xfrm>
            <a:off x="3823060" y="4599432"/>
            <a:ext cx="1981779"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2.14 cm</a:t>
            </a:r>
          </a:p>
        </p:txBody>
      </p:sp>
      <p:sp>
        <p:nvSpPr>
          <p:cNvPr id="45" name="Rectangle 44"/>
          <p:cNvSpPr/>
          <p:nvPr/>
        </p:nvSpPr>
        <p:spPr>
          <a:xfrm>
            <a:off x="658368" y="4786884"/>
            <a:ext cx="5274488" cy="2240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8096" y="4823460"/>
            <a:ext cx="3164692"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Hip</a:t>
            </a:r>
          </a:p>
        </p:txBody>
      </p:sp>
      <p:sp>
        <p:nvSpPr>
          <p:cNvPr id="47" name="TextBox 46"/>
          <p:cNvSpPr txBox="1"/>
          <p:nvPr/>
        </p:nvSpPr>
        <p:spPr>
          <a:xfrm>
            <a:off x="3823060" y="4823460"/>
            <a:ext cx="1981779"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2.25 cm</a:t>
            </a:r>
          </a:p>
        </p:txBody>
      </p:sp>
      <p:sp>
        <p:nvSpPr>
          <p:cNvPr id="48" name="TextBox 47"/>
          <p:cNvSpPr txBox="1"/>
          <p:nvPr/>
        </p:nvSpPr>
        <p:spPr>
          <a:xfrm>
            <a:off x="6207176" y="2962656"/>
            <a:ext cx="5326425" cy="201168"/>
          </a:xfrm>
          <a:prstGeom prst="rect">
            <a:avLst/>
          </a:prstGeom>
          <a:noFill/>
        </p:spPr>
        <p:txBody>
          <a:bodyPr wrap="square" lIns="0" rIns="0" tIns="0" bIns="0" anchor="t">
            <a:spAutoFit/>
          </a:bodyPr>
          <a:lstStyle/>
          <a:p>
            <a:pPr algn="l">
              <a:lnSpc>
                <a:spcPct val="128000"/>
              </a:lnSpc>
            </a:pPr>
            <a:r>
              <a:rPr sz="800" b="1" i="0">
                <a:solidFill>
                  <a:srgbClr val="143DFF"/>
                </a:solidFill>
                <a:latin typeface="Satoshi"/>
              </a:rPr>
              <a:t>REPEATABILITY BY MEASUREMENT, SAME STUDY</a:t>
            </a:r>
          </a:p>
        </p:txBody>
      </p:sp>
      <p:sp>
        <p:nvSpPr>
          <p:cNvPr id="49" name="Rectangle 48"/>
          <p:cNvSpPr/>
          <p:nvPr/>
        </p:nvSpPr>
        <p:spPr>
          <a:xfrm>
            <a:off x="6207176" y="3218688"/>
            <a:ext cx="5326425" cy="22402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316904" y="3255264"/>
            <a:ext cx="3195855"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Chest</a:t>
            </a:r>
          </a:p>
        </p:txBody>
      </p:sp>
      <p:sp>
        <p:nvSpPr>
          <p:cNvPr id="51" name="TextBox 50"/>
          <p:cNvSpPr txBox="1"/>
          <p:nvPr/>
        </p:nvSpPr>
        <p:spPr>
          <a:xfrm>
            <a:off x="9403031" y="3255264"/>
            <a:ext cx="2002554"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0.60 cm</a:t>
            </a:r>
          </a:p>
        </p:txBody>
      </p:sp>
      <p:sp>
        <p:nvSpPr>
          <p:cNvPr id="52" name="Rectangle 51"/>
          <p:cNvSpPr/>
          <p:nvPr/>
        </p:nvSpPr>
        <p:spPr>
          <a:xfrm>
            <a:off x="6207176" y="3442716"/>
            <a:ext cx="5326425" cy="2240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316904" y="3479292"/>
            <a:ext cx="3195855"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Waist</a:t>
            </a:r>
          </a:p>
        </p:txBody>
      </p:sp>
      <p:sp>
        <p:nvSpPr>
          <p:cNvPr id="54" name="TextBox 53"/>
          <p:cNvSpPr txBox="1"/>
          <p:nvPr/>
        </p:nvSpPr>
        <p:spPr>
          <a:xfrm>
            <a:off x="9403031" y="3479292"/>
            <a:ext cx="2002554"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0.89 cm</a:t>
            </a:r>
          </a:p>
        </p:txBody>
      </p:sp>
      <p:sp>
        <p:nvSpPr>
          <p:cNvPr id="55" name="Rectangle 54"/>
          <p:cNvSpPr/>
          <p:nvPr/>
        </p:nvSpPr>
        <p:spPr>
          <a:xfrm>
            <a:off x="6207176" y="3666744"/>
            <a:ext cx="5326425" cy="22402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316904" y="3703320"/>
            <a:ext cx="3195855"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Low hips</a:t>
            </a:r>
          </a:p>
        </p:txBody>
      </p:sp>
      <p:sp>
        <p:nvSpPr>
          <p:cNvPr id="57" name="TextBox 56"/>
          <p:cNvSpPr txBox="1"/>
          <p:nvPr/>
        </p:nvSpPr>
        <p:spPr>
          <a:xfrm>
            <a:off x="9403031" y="3703320"/>
            <a:ext cx="2002554"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0.86 cm</a:t>
            </a:r>
          </a:p>
        </p:txBody>
      </p:sp>
      <p:sp>
        <p:nvSpPr>
          <p:cNvPr id="58" name="Rectangle 57"/>
          <p:cNvSpPr/>
          <p:nvPr/>
        </p:nvSpPr>
        <p:spPr>
          <a:xfrm>
            <a:off x="6207176" y="3890772"/>
            <a:ext cx="5326425" cy="2240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16904" y="3927348"/>
            <a:ext cx="3195855"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Knee</a:t>
            </a:r>
          </a:p>
        </p:txBody>
      </p:sp>
      <p:sp>
        <p:nvSpPr>
          <p:cNvPr id="60" name="TextBox 59"/>
          <p:cNvSpPr txBox="1"/>
          <p:nvPr/>
        </p:nvSpPr>
        <p:spPr>
          <a:xfrm>
            <a:off x="9403031" y="3927348"/>
            <a:ext cx="2002554"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0.12 cm</a:t>
            </a:r>
          </a:p>
        </p:txBody>
      </p:sp>
      <p:sp>
        <p:nvSpPr>
          <p:cNvPr id="61" name="Rectangle 60"/>
          <p:cNvSpPr/>
          <p:nvPr/>
        </p:nvSpPr>
        <p:spPr>
          <a:xfrm>
            <a:off x="6207176" y="4114800"/>
            <a:ext cx="5326425" cy="22402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316904" y="4151376"/>
            <a:ext cx="3195855"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Calf</a:t>
            </a:r>
          </a:p>
        </p:txBody>
      </p:sp>
      <p:sp>
        <p:nvSpPr>
          <p:cNvPr id="63" name="TextBox 62"/>
          <p:cNvSpPr txBox="1"/>
          <p:nvPr/>
        </p:nvSpPr>
        <p:spPr>
          <a:xfrm>
            <a:off x="9403031" y="4151376"/>
            <a:ext cx="2002554"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0.12 cm</a:t>
            </a:r>
          </a:p>
        </p:txBody>
      </p:sp>
      <p:sp>
        <p:nvSpPr>
          <p:cNvPr id="64" name="Rectangle 63"/>
          <p:cNvSpPr/>
          <p:nvPr/>
        </p:nvSpPr>
        <p:spPr>
          <a:xfrm>
            <a:off x="6207176" y="4338828"/>
            <a:ext cx="5326425" cy="2240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316904" y="4375404"/>
            <a:ext cx="3195855" cy="182880"/>
          </a:xfrm>
          <a:prstGeom prst="rect">
            <a:avLst/>
          </a:prstGeom>
          <a:noFill/>
        </p:spPr>
        <p:txBody>
          <a:bodyPr wrap="square" lIns="0" rIns="0" tIns="0" bIns="0" anchor="t">
            <a:spAutoFit/>
          </a:bodyPr>
          <a:lstStyle/>
          <a:p>
            <a:pPr algn="l">
              <a:lnSpc>
                <a:spcPct val="128000"/>
              </a:lnSpc>
            </a:pPr>
            <a:r>
              <a:rPr sz="840" b="0" i="0">
                <a:solidFill>
                  <a:srgbClr val="4C4C4C"/>
                </a:solidFill>
                <a:latin typeface="Satoshi"/>
              </a:rPr>
              <a:t>Ankle</a:t>
            </a:r>
          </a:p>
        </p:txBody>
      </p:sp>
      <p:sp>
        <p:nvSpPr>
          <p:cNvPr id="66" name="TextBox 65"/>
          <p:cNvSpPr txBox="1"/>
          <p:nvPr/>
        </p:nvSpPr>
        <p:spPr>
          <a:xfrm>
            <a:off x="9403031" y="4375404"/>
            <a:ext cx="2002554" cy="182880"/>
          </a:xfrm>
          <a:prstGeom prst="rect">
            <a:avLst/>
          </a:prstGeom>
          <a:noFill/>
        </p:spPr>
        <p:txBody>
          <a:bodyPr wrap="square" lIns="0" rIns="0" tIns="0" bIns="0" anchor="t">
            <a:spAutoFit/>
          </a:bodyPr>
          <a:lstStyle/>
          <a:p>
            <a:pPr algn="r">
              <a:lnSpc>
                <a:spcPct val="128000"/>
              </a:lnSpc>
            </a:pPr>
            <a:r>
              <a:rPr sz="840" b="1" i="0">
                <a:solidFill>
                  <a:srgbClr val="143DFF"/>
                </a:solidFill>
                <a:latin typeface="Satoshi"/>
              </a:rPr>
              <a:t>0.07 cm</a:t>
            </a:r>
          </a:p>
        </p:txBody>
      </p:sp>
      <p:sp>
        <p:nvSpPr>
          <p:cNvPr id="67" name="TextBox 66"/>
          <p:cNvSpPr txBox="1"/>
          <p:nvPr/>
        </p:nvSpPr>
        <p:spPr>
          <a:xfrm>
            <a:off x="6207176" y="4443984"/>
            <a:ext cx="5326425" cy="731520"/>
          </a:xfrm>
          <a:prstGeom prst="rect">
            <a:avLst/>
          </a:prstGeom>
          <a:noFill/>
        </p:spPr>
        <p:txBody>
          <a:bodyPr wrap="square" lIns="0" rIns="0" tIns="0" bIns="0" anchor="t">
            <a:spAutoFit/>
          </a:bodyPr>
          <a:lstStyle/>
          <a:p>
            <a:pPr algn="l">
              <a:lnSpc>
                <a:spcPct val="130000"/>
              </a:lnSpc>
            </a:pPr>
            <a:r>
              <a:rPr sz="860" b="0" i="1">
                <a:solidFill>
                  <a:srgbClr val="666666"/>
                </a:solidFill>
                <a:latin typeface="Satoshi"/>
              </a:rPr>
              <a:t>Both tables come from the 2025 Accuracy and Repeatability Study, measured against expert manual measurement. Never mix them with the ISO multi-company benchmark, which is a different reference and is not in proof-points.md. Repeatability is the argument for every longitudinal vertical, so lead with it there.</a:t>
            </a:r>
          </a:p>
        </p:txBody>
      </p:sp>
      <p:sp>
        <p:nvSpPr>
          <p:cNvPr id="68" name="TextBox 6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69" name="TextBox 6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49 / 61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07 · MESSAGING AND PROOF</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approved proof set, continued</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Coverage, training data, customers and company facts. Same rule: if a number is not in proof-points.md, it does not ship.</a:t>
            </a:r>
          </a:p>
        </p:txBody>
      </p:sp>
      <p:sp>
        <p:nvSpPr>
          <p:cNvPr id="5" name="Rounded Rectangle 4"/>
          <p:cNvSpPr/>
          <p:nvPr/>
        </p:nvSpPr>
        <p:spPr>
          <a:xfrm>
            <a:off x="658368" y="1828800"/>
            <a:ext cx="3503157" cy="1700784"/>
          </a:xfrm>
          <a:prstGeom prst="roundRect">
            <a:avLst>
              <a:gd name="adj" fmla="val 14934"/>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17007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84248"/>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Speed and coverage</a:t>
            </a:r>
          </a:p>
        </p:txBody>
      </p:sp>
      <p:sp>
        <p:nvSpPr>
          <p:cNvPr id="8" name="TextBox 7"/>
          <p:cNvSpPr txBox="1"/>
          <p:nvPr/>
        </p:nvSpPr>
        <p:spPr>
          <a:xfrm>
            <a:off x="886968" y="2202942"/>
            <a:ext cx="3100821" cy="1152906"/>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Photo to results under 45 seconds. Photos required: 2, front and side. Body measurements: 80+. Body composition outputs: Body Mass Index (BMI), basal metabolic rate (BMR), body fat percentage, lean mass, fat mass, essential fat, beneficial fat. Points in the source 3D model: 5M+ per model.</a:t>
            </a:r>
          </a:p>
        </p:txBody>
      </p:sp>
      <p:sp>
        <p:nvSpPr>
          <p:cNvPr id="9" name="Rounded Rectangle 8"/>
          <p:cNvSpPr/>
          <p:nvPr/>
        </p:nvSpPr>
        <p:spPr>
          <a:xfrm>
            <a:off x="4344405" y="1828800"/>
            <a:ext cx="3503157" cy="1700784"/>
          </a:xfrm>
          <a:prstGeom prst="roundRect">
            <a:avLst>
              <a:gd name="adj" fmla="val 14934"/>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405" y="1828800"/>
            <a:ext cx="50292" cy="17007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3005" y="1984248"/>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Training data</a:t>
            </a:r>
          </a:p>
        </p:txBody>
      </p:sp>
      <p:sp>
        <p:nvSpPr>
          <p:cNvPr id="12" name="TextBox 11"/>
          <p:cNvSpPr txBox="1"/>
          <p:nvPr/>
        </p:nvSpPr>
        <p:spPr>
          <a:xfrm>
            <a:off x="4573005" y="2202942"/>
            <a:ext cx="3100821" cy="1152906"/>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9+ years. 150,000+ photographs. 30,000+ 3D scans. 430,000+ individual measurements. Ages 16 to 78. Weight 38 to 210 kg. Height 150 to 205 cm. 48% male, 52% female. Locations: US and Europe. 86 parameters measured per person, 34 photo configurations per user.</a:t>
            </a:r>
          </a:p>
        </p:txBody>
      </p:sp>
      <p:sp>
        <p:nvSpPr>
          <p:cNvPr id="13" name="Rounded Rectangle 12"/>
          <p:cNvSpPr/>
          <p:nvPr/>
        </p:nvSpPr>
        <p:spPr>
          <a:xfrm>
            <a:off x="8030443" y="1828800"/>
            <a:ext cx="3503157" cy="1700784"/>
          </a:xfrm>
          <a:prstGeom prst="roundRect">
            <a:avLst>
              <a:gd name="adj" fmla="val 14934"/>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0443" y="1828800"/>
            <a:ext cx="50292" cy="17007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9043" y="1984248"/>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Company</a:t>
            </a:r>
          </a:p>
        </p:txBody>
      </p:sp>
      <p:sp>
        <p:nvSpPr>
          <p:cNvPr id="16" name="TextBox 15"/>
          <p:cNvSpPr txBox="1"/>
          <p:nvPr/>
        </p:nvSpPr>
        <p:spPr>
          <a:xfrm>
            <a:off x="8259043" y="2202942"/>
            <a:ext cx="3100821" cy="1152906"/>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Founded 2016. 28 employees. $16.2M raised. Sifted 2020 Pioneers of the New World. IEEE Retail Digital Transformation Grand Challenge winner. Member of Mobile Body Scanning Standards. Headcount is contested: the sales playbook says 22. See section 9, item 8.</a:t>
            </a:r>
          </a:p>
        </p:txBody>
      </p:sp>
      <p:sp>
        <p:nvSpPr>
          <p:cNvPr id="17" name="Rounded Rectangle 16"/>
          <p:cNvSpPr/>
          <p:nvPr/>
        </p:nvSpPr>
        <p:spPr>
          <a:xfrm>
            <a:off x="658368" y="3712464"/>
            <a:ext cx="3503157" cy="1700784"/>
          </a:xfrm>
          <a:prstGeom prst="roundRect">
            <a:avLst>
              <a:gd name="adj" fmla="val 14934"/>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58368" y="3712464"/>
            <a:ext cx="50292" cy="17007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6968" y="386791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FitXpress customer outcomes</a:t>
            </a:r>
          </a:p>
        </p:txBody>
      </p:sp>
      <p:sp>
        <p:nvSpPr>
          <p:cNvPr id="20" name="TextBox 19"/>
          <p:cNvSpPr txBox="1"/>
          <p:nvPr/>
        </p:nvSpPr>
        <p:spPr>
          <a:xfrm>
            <a:off x="886968" y="4086606"/>
            <a:ext cx="3100821" cy="1152905"/>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Yazen: 34,000 scans in 2025, weight-loss management support. UK Meds: 7,500 scans in 2025, Body Mass Index (BMI) verification for online pharmacy, 7 months customer lifetime to date. Healthyr: patient profile complement. Naming is subject to permission, and permission is currently contradictory. See section 9, item 5.</a:t>
            </a:r>
          </a:p>
        </p:txBody>
      </p:sp>
      <p:sp>
        <p:nvSpPr>
          <p:cNvPr id="21" name="Rounded Rectangle 20"/>
          <p:cNvSpPr/>
          <p:nvPr/>
        </p:nvSpPr>
        <p:spPr>
          <a:xfrm>
            <a:off x="4344405" y="3712464"/>
            <a:ext cx="3503157" cy="1700784"/>
          </a:xfrm>
          <a:prstGeom prst="roundRect">
            <a:avLst>
              <a:gd name="adj" fmla="val 14934"/>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44405" y="3712464"/>
            <a:ext cx="50292" cy="17007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3005" y="386791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Aggregate</a:t>
            </a:r>
          </a:p>
        </p:txBody>
      </p:sp>
      <p:sp>
        <p:nvSpPr>
          <p:cNvPr id="24" name="TextBox 23"/>
          <p:cNvSpPr txBox="1"/>
          <p:nvPr/>
        </p:nvSpPr>
        <p:spPr>
          <a:xfrm>
            <a:off x="4573005" y="4086606"/>
            <a:ext cx="3100821" cy="1152905"/>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100+ customers all-time. 67 active customers in 2025. 112,100 total scans in 2025. Internal only and never customer-facing: annual recurring revenue figures, and Mobile Tailor customer revenue in any form.</a:t>
            </a:r>
          </a:p>
        </p:txBody>
      </p:sp>
      <p:sp>
        <p:nvSpPr>
          <p:cNvPr id="25" name="Rounded Rectangle 24"/>
          <p:cNvSpPr/>
          <p:nvPr/>
        </p:nvSpPr>
        <p:spPr>
          <a:xfrm>
            <a:off x="8030443" y="3712464"/>
            <a:ext cx="3503157" cy="1700784"/>
          </a:xfrm>
          <a:prstGeom prst="roundRect">
            <a:avLst>
              <a:gd name="adj" fmla="val 14934"/>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30443" y="3712464"/>
            <a:ext cx="50292" cy="170078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59043" y="386791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Market sizing, internal only</a:t>
            </a:r>
          </a:p>
        </p:txBody>
      </p:sp>
      <p:sp>
        <p:nvSpPr>
          <p:cNvPr id="28" name="TextBox 27"/>
          <p:cNvSpPr txBox="1"/>
          <p:nvPr/>
        </p:nvSpPr>
        <p:spPr>
          <a:xfrm>
            <a:off x="8259043" y="4086606"/>
            <a:ext cx="3100821" cy="1152905"/>
          </a:xfrm>
          <a:prstGeom prst="rect">
            <a:avLst/>
          </a:prstGeom>
          <a:noFill/>
        </p:spPr>
        <p:txBody>
          <a:bodyPr wrap="square" lIns="0" rIns="0" tIns="0" bIns="0" anchor="t">
            <a:spAutoFit/>
          </a:bodyPr>
          <a:lstStyle/>
          <a:p>
            <a:pPr algn="l">
              <a:lnSpc>
                <a:spcPct val="130000"/>
              </a:lnSpc>
            </a:pPr>
            <a:r>
              <a:rPr sz="840" b="0" i="0">
                <a:solidFill>
                  <a:srgbClr val="4C4C4C"/>
                </a:solidFill>
                <a:latin typeface="Satoshi"/>
              </a:rPr>
              <a:t>Insurance underwriting $25 to 75M a year. Wellness rewards $50 to 200M. Bariatric pre-qualification $10 to 30M. Occupational health screening $20 to 60M. Clinical trials $10 to 40M. Marked illustrative in the source. Planning and prioritization use only.</a:t>
            </a:r>
          </a:p>
        </p:txBody>
      </p:sp>
      <p:sp>
        <p:nvSpPr>
          <p:cNvPr id="29" name="Rounded Rectangle 28"/>
          <p:cNvSpPr/>
          <p:nvPr/>
        </p:nvSpPr>
        <p:spPr>
          <a:xfrm>
            <a:off x="658368" y="5486400"/>
            <a:ext cx="10875233" cy="658368"/>
          </a:xfrm>
          <a:prstGeom prst="roundRect">
            <a:avLst>
              <a:gd name="adj" fmla="val 38580"/>
            </a:avLst>
          </a:prstGeom>
          <a:gradFill rotWithShape="1">
            <a:gsLst>
              <a:gs pos="0">
                <a:srgbClr val="1B36B8"/>
              </a:gs>
              <a:gs pos="55000">
                <a:srgbClr val="08186B"/>
              </a:gs>
              <a:gs pos="100000">
                <a:srgbClr val="050F40"/>
              </a:gs>
            </a:gsLst>
            <a:path path="circle">
              <a:fillToRect l="28000" t="50000" r="72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77824" y="5577840"/>
            <a:ext cx="10418033" cy="475488"/>
          </a:xfrm>
          <a:prstGeom prst="rect">
            <a:avLst/>
          </a:prstGeom>
          <a:noFill/>
        </p:spPr>
        <p:txBody>
          <a:bodyPr wrap="square" lIns="0" rIns="0" tIns="0" bIns="0" anchor="ctr">
            <a:spAutoFit/>
          </a:bodyPr>
          <a:lstStyle/>
          <a:p>
            <a:pPr algn="l">
              <a:lnSpc>
                <a:spcPct val="116000"/>
              </a:lnSpc>
            </a:pPr>
            <a:r>
              <a:rPr sz="1200" b="1" i="0">
                <a:solidFill>
                  <a:srgbClr val="FFFFFF"/>
                </a:solidFill>
                <a:latin typeface="Satoshi"/>
              </a:rPr>
              <a:t>A vertical hero needs a number from THAT vertical. The company-wide 112,100 scans figure does not work in a vertical hero, and reaching for it is the usual sign that the vertical has no proof yet.</a:t>
            </a:r>
          </a:p>
        </p:txBody>
      </p:sp>
      <p:sp>
        <p:nvSpPr>
          <p:cNvPr id="31" name="TextBox 3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2" name="TextBox 3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50 / 61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07 · MESSAGING AND PROOF</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Compliance, price signal, and the citation rules</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compliance block is the deciding block in every regulated vertical, and the negatives in it are as load-bearing as the positives.</a:t>
            </a:r>
          </a:p>
        </p:txBody>
      </p:sp>
      <p:sp>
        <p:nvSpPr>
          <p:cNvPr id="5" name="Rounded Rectangle 4"/>
          <p:cNvSpPr/>
          <p:nvPr/>
        </p:nvSpPr>
        <p:spPr>
          <a:xfrm>
            <a:off x="658368" y="1828800"/>
            <a:ext cx="5327888" cy="1920240"/>
          </a:xfrm>
          <a:prstGeom prst="roundRect">
            <a:avLst>
              <a:gd name="adj" fmla="val 13227"/>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002536"/>
            <a:ext cx="4925552" cy="256032"/>
          </a:xfrm>
          <a:prstGeom prst="rect">
            <a:avLst/>
          </a:prstGeom>
          <a:noFill/>
        </p:spPr>
        <p:txBody>
          <a:bodyPr wrap="square" lIns="0" rIns="0" tIns="0" bIns="0" anchor="t">
            <a:spAutoFit/>
          </a:bodyPr>
          <a:lstStyle/>
          <a:p>
            <a:pPr algn="l">
              <a:lnSpc>
                <a:spcPct val="128000"/>
              </a:lnSpc>
            </a:pPr>
            <a:r>
              <a:rPr sz="1100" b="1" i="0">
                <a:solidFill>
                  <a:srgbClr val="143DFF"/>
                </a:solidFill>
                <a:latin typeface="Satoshi"/>
              </a:rPr>
              <a:t>Compliance and security, what is true</a:t>
            </a:r>
          </a:p>
        </p:txBody>
      </p:sp>
      <p:sp>
        <p:nvSpPr>
          <p:cNvPr id="7" name="TextBox 6"/>
          <p:cNvSpPr txBox="1"/>
          <p:nvPr/>
        </p:nvSpPr>
        <p:spPr>
          <a:xfrm>
            <a:off x="859536" y="2359152"/>
            <a:ext cx="4925552" cy="1207008"/>
          </a:xfrm>
          <a:prstGeom prst="rect">
            <a:avLst/>
          </a:prstGeom>
          <a:noFill/>
        </p:spPr>
        <p:txBody>
          <a:bodyPr wrap="square" lIns="0" rIns="0" tIns="0" bIns="0" anchor="t">
            <a:spAutoFit/>
          </a:bodyPr>
          <a:lstStyle/>
          <a:p>
            <a:pPr algn="l">
              <a:lnSpc>
                <a:spcPct val="126000"/>
              </a:lnSpc>
              <a:spcAft>
                <a:spcPts val="340"/>
              </a:spcAft>
            </a:pPr>
            <a:r>
              <a:rPr sz="840" b="1" i="0">
                <a:solidFill>
                  <a:srgbClr val="143DFF"/>
                </a:solidFill>
                <a:latin typeface="Satoshi"/>
              </a:rPr>
              <a:t>·  </a:t>
            </a:r>
            <a:r>
              <a:rPr sz="840" b="0" i="0">
                <a:solidFill>
                  <a:srgbClr val="4C4C4C"/>
                </a:solidFill>
                <a:latin typeface="Satoshi"/>
              </a:rPr>
              <a:t>HIPAA maintained, for FitXpress in US healthcare contexts. Follows GDPR principles</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TLS in transit. AWS S3 server-side encryption at rest, always on, cannot be disabled</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Photos removed immediately after processing or within 30 days per client policy, and auto-blurred when stored. Face obfuscation at capture</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No personal identifiers processed. End-user images never shared with third parties</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Business associate agreements signed for HIPAA-covered customers. Privacy contact privacy@3dlook.me</a:t>
            </a:r>
          </a:p>
        </p:txBody>
      </p:sp>
      <p:sp>
        <p:nvSpPr>
          <p:cNvPr id="8" name="Rounded Rectangle 7"/>
          <p:cNvSpPr/>
          <p:nvPr/>
        </p:nvSpPr>
        <p:spPr>
          <a:xfrm>
            <a:off x="6205712" y="1828800"/>
            <a:ext cx="5327888" cy="1920240"/>
          </a:xfrm>
          <a:prstGeom prst="roundRect">
            <a:avLst>
              <a:gd name="adj" fmla="val 13227"/>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6880" y="2002536"/>
            <a:ext cx="4925552" cy="256032"/>
          </a:xfrm>
          <a:prstGeom prst="rect">
            <a:avLst/>
          </a:prstGeom>
          <a:noFill/>
        </p:spPr>
        <p:txBody>
          <a:bodyPr wrap="square" lIns="0" rIns="0" tIns="0" bIns="0" anchor="t">
            <a:spAutoFit/>
          </a:bodyPr>
          <a:lstStyle/>
          <a:p>
            <a:pPr algn="l">
              <a:lnSpc>
                <a:spcPct val="128000"/>
              </a:lnSpc>
            </a:pPr>
            <a:r>
              <a:rPr sz="1100" b="1" i="0">
                <a:solidFill>
                  <a:srgbClr val="050F40"/>
                </a:solidFill>
                <a:latin typeface="Satoshi"/>
              </a:rPr>
              <a:t>What is NOT true, and must never be implied</a:t>
            </a:r>
          </a:p>
        </p:txBody>
      </p:sp>
      <p:sp>
        <p:nvSpPr>
          <p:cNvPr id="10" name="TextBox 9"/>
          <p:cNvSpPr txBox="1"/>
          <p:nvPr/>
        </p:nvSpPr>
        <p:spPr>
          <a:xfrm>
            <a:off x="6406880" y="2359152"/>
            <a:ext cx="4925552" cy="1207008"/>
          </a:xfrm>
          <a:prstGeom prst="rect">
            <a:avLst/>
          </a:prstGeom>
          <a:noFill/>
        </p:spPr>
        <p:txBody>
          <a:bodyPr wrap="square" lIns="0" rIns="0" tIns="0" bIns="0" anchor="t">
            <a:spAutoFit/>
          </a:bodyPr>
          <a:lstStyle/>
          <a:p>
            <a:pPr algn="l">
              <a:lnSpc>
                <a:spcPct val="126000"/>
              </a:lnSpc>
              <a:spcAft>
                <a:spcPts val="340"/>
              </a:spcAft>
            </a:pPr>
            <a:r>
              <a:rPr sz="840" b="1" i="0">
                <a:solidFill>
                  <a:srgbClr val="050F40"/>
                </a:solidFill>
                <a:latin typeface="Satoshi"/>
              </a:rPr>
              <a:t>·  </a:t>
            </a:r>
            <a:r>
              <a:rPr sz="840" b="0" i="0">
                <a:solidFill>
                  <a:srgbClr val="4C4C4C"/>
                </a:solidFill>
                <a:latin typeface="Satoshi"/>
              </a:rPr>
              <a:t>NOT cleared by the Food and Drug Administration (FDA)</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NOT SOC 2 certified. It is in progress. Confirm with Vadim before any mention</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NOT peer-reviewed, and NOT third-party clinically validated</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Compliance is framed on data-privacy frameworks, never on medical-device frameworks</a:t>
            </a:r>
          </a:p>
        </p:txBody>
      </p:sp>
      <p:sp>
        <p:nvSpPr>
          <p:cNvPr id="11" name="Rounded Rectangle 10"/>
          <p:cNvSpPr/>
          <p:nvPr/>
        </p:nvSpPr>
        <p:spPr>
          <a:xfrm>
            <a:off x="658368" y="3895344"/>
            <a:ext cx="3503157" cy="1956816"/>
          </a:xfrm>
          <a:prstGeom prst="roundRect">
            <a:avLst>
              <a:gd name="adj" fmla="val 1298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58368" y="3895344"/>
            <a:ext cx="50292" cy="195681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86968" y="405079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Pricing signal</a:t>
            </a:r>
          </a:p>
        </p:txBody>
      </p:sp>
      <p:sp>
        <p:nvSpPr>
          <p:cNvPr id="14" name="TextBox 13"/>
          <p:cNvSpPr txBox="1"/>
          <p:nvPr/>
        </p:nvSpPr>
        <p:spPr>
          <a:xfrm>
            <a:off x="886968" y="4269486"/>
            <a:ext cx="3100821" cy="1408937"/>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Free trial: one month, 200 requests, full kit access. Entry tier $1,000 a month. No integration fee, no setup fee. Public detail lives on /pricing/, and the internal per-request table never appears in an external artifact. Confirm the live page before any deck or landing page ships, because pricing.md and the live page disagree. Section 9, item 4.</a:t>
            </a:r>
          </a:p>
        </p:txBody>
      </p:sp>
      <p:sp>
        <p:nvSpPr>
          <p:cNvPr id="15" name="Rounded Rectangle 14"/>
          <p:cNvSpPr/>
          <p:nvPr/>
        </p:nvSpPr>
        <p:spPr>
          <a:xfrm>
            <a:off x="4344405" y="3895344"/>
            <a:ext cx="3503157" cy="1956816"/>
          </a:xfrm>
          <a:prstGeom prst="roundRect">
            <a:avLst>
              <a:gd name="adj" fmla="val 1298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44405" y="3895344"/>
            <a:ext cx="50292" cy="195681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3005" y="405079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Citation rules, part one</a:t>
            </a:r>
          </a:p>
        </p:txBody>
      </p:sp>
      <p:sp>
        <p:nvSpPr>
          <p:cNvPr id="18" name="TextBox 17"/>
          <p:cNvSpPr txBox="1"/>
          <p:nvPr/>
        </p:nvSpPr>
        <p:spPr>
          <a:xfrm>
            <a:off x="4573005" y="4269486"/>
            <a:ext cx="3100821" cy="1408937"/>
          </a:xfrm>
          <a:prstGeom prst="rect">
            <a:avLst/>
          </a:prstGeom>
          <a:noFill/>
        </p:spPr>
        <p:txBody>
          <a:bodyPr wrap="square" lIns="0" rIns="0" tIns="0" bIns="0" anchor="t">
            <a:spAutoFit/>
          </a:bodyPr>
          <a:lstStyle/>
          <a:p>
            <a:pPr algn="l">
              <a:lnSpc>
                <a:spcPct val="124000"/>
              </a:lnSpc>
              <a:spcAft>
                <a:spcPts val="320"/>
              </a:spcAft>
            </a:pPr>
            <a:r>
              <a:rPr sz="819" b="1" i="0">
                <a:solidFill>
                  <a:srgbClr val="143DFF"/>
                </a:solidFill>
                <a:latin typeface="Satoshi"/>
              </a:rPr>
              <a:t>·  </a:t>
            </a:r>
            <a:r>
              <a:rPr sz="819" b="0" i="0">
                <a:solidFill>
                  <a:srgbClr val="4C4C4C"/>
                </a:solidFill>
                <a:latin typeface="Satoshi"/>
              </a:rPr>
              <a:t>Prefer the customer outcome over the internal metric. "UK Meds uses FitXpress for BMI verification" carries more weight with a buyer than "we have 96% accuracy"</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Never invent a comparison. No "ten times more accurate than X" unless that exact figure exists in proof-points.md with a source</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Use the range form when a figure may drift. "Around 95 to 97% accuracy" survives a small correction; a single precise number does not</a:t>
            </a:r>
          </a:p>
        </p:txBody>
      </p:sp>
      <p:sp>
        <p:nvSpPr>
          <p:cNvPr id="19" name="Rounded Rectangle 18"/>
          <p:cNvSpPr/>
          <p:nvPr/>
        </p:nvSpPr>
        <p:spPr>
          <a:xfrm>
            <a:off x="8030443" y="3895344"/>
            <a:ext cx="3503157" cy="1956816"/>
          </a:xfrm>
          <a:prstGeom prst="roundRect">
            <a:avLst>
              <a:gd name="adj" fmla="val 1298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30443" y="3895344"/>
            <a:ext cx="50292" cy="1956816"/>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9043" y="4050792"/>
            <a:ext cx="3100821" cy="154686"/>
          </a:xfrm>
          <a:prstGeom prst="rect">
            <a:avLst/>
          </a:prstGeom>
          <a:noFill/>
        </p:spPr>
        <p:txBody>
          <a:bodyPr wrap="square" lIns="0" rIns="0" tIns="0" bIns="0" anchor="t">
            <a:spAutoFit/>
          </a:bodyPr>
          <a:lstStyle/>
          <a:p>
            <a:pPr algn="l">
              <a:lnSpc>
                <a:spcPct val="114000"/>
              </a:lnSpc>
            </a:pPr>
            <a:r>
              <a:rPr sz="1050" b="1" i="0">
                <a:solidFill>
                  <a:srgbClr val="050F40"/>
                </a:solidFill>
                <a:latin typeface="Satoshi"/>
              </a:rPr>
              <a:t>Citation rules, part two</a:t>
            </a:r>
          </a:p>
        </p:txBody>
      </p:sp>
      <p:sp>
        <p:nvSpPr>
          <p:cNvPr id="22" name="TextBox 21"/>
          <p:cNvSpPr txBox="1"/>
          <p:nvPr/>
        </p:nvSpPr>
        <p:spPr>
          <a:xfrm>
            <a:off x="8259043" y="4269486"/>
            <a:ext cx="3100821" cy="1408937"/>
          </a:xfrm>
          <a:prstGeom prst="rect">
            <a:avLst/>
          </a:prstGeom>
          <a:noFill/>
        </p:spPr>
        <p:txBody>
          <a:bodyPr wrap="square" lIns="0" rIns="0" tIns="0" bIns="0" anchor="t">
            <a:spAutoFit/>
          </a:bodyPr>
          <a:lstStyle/>
          <a:p>
            <a:pPr algn="l">
              <a:lnSpc>
                <a:spcPct val="124000"/>
              </a:lnSpc>
              <a:spcAft>
                <a:spcPts val="320"/>
              </a:spcAft>
            </a:pPr>
            <a:r>
              <a:rPr sz="819" b="1" i="0">
                <a:solidFill>
                  <a:srgbClr val="143DFF"/>
                </a:solidFill>
                <a:latin typeface="Satoshi"/>
              </a:rPr>
              <a:t>·  </a:t>
            </a:r>
            <a:r>
              <a:rPr sz="819" b="0" i="0">
                <a:solidFill>
                  <a:srgbClr val="4C4C4C"/>
                </a:solidFill>
                <a:latin typeface="Satoshi"/>
              </a:rPr>
              <a:t>One number, everywhere the same. Byte-identical in the hero, the body, the FAQ and the disclaimer. If two sources conflict, never average them: keep the defensible one, or replace both with a qualitative statement</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Every customer name and number comes from case-studies/, and only with current written permission</a:t>
            </a:r>
          </a:p>
          <a:p>
            <a:pPr algn="l">
              <a:lnSpc>
                <a:spcPct val="124000"/>
              </a:lnSpc>
              <a:spcAft>
                <a:spcPts val="320"/>
              </a:spcAft>
            </a:pPr>
            <a:r>
              <a:rPr sz="819" b="1" i="0">
                <a:solidFill>
                  <a:srgbClr val="143DFF"/>
                </a:solidFill>
                <a:latin typeface="Satoshi"/>
              </a:rPr>
              <a:t>·  </a:t>
            </a:r>
            <a:r>
              <a:rPr sz="819" b="0" i="0">
                <a:solidFill>
                  <a:srgbClr val="4C4C4C"/>
                </a:solidFill>
                <a:latin typeface="Satoshi"/>
              </a:rPr>
              <a:t>External statistics need a named body and a link. Verify at source, and get approval before it appears in a customer-facing deck</a:t>
            </a:r>
          </a:p>
        </p:txBody>
      </p:sp>
      <p:sp>
        <p:nvSpPr>
          <p:cNvPr id="23" name="TextBox 22"/>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24" name="TextBox 23"/>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51 / 61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07 · MESSAGING AND PROOF</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Objection handling</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Marketing-side answers built for collateral. Sales has its own phrasing in the AE playbook, and the two should not contradict each other.</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2644680"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Objection</a:t>
            </a:r>
          </a:p>
        </p:txBody>
      </p:sp>
      <p:sp>
        <p:nvSpPr>
          <p:cNvPr id="7" name="TextBox 6"/>
          <p:cNvSpPr txBox="1"/>
          <p:nvPr/>
        </p:nvSpPr>
        <p:spPr>
          <a:xfrm>
            <a:off x="3586512" y="1879092"/>
            <a:ext cx="7864792"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Answer</a:t>
            </a:r>
          </a:p>
        </p:txBody>
      </p:sp>
      <p:sp>
        <p:nvSpPr>
          <p:cNvPr id="8" name="Rectangle 7"/>
          <p:cNvSpPr/>
          <p:nvPr/>
        </p:nvSpPr>
        <p:spPr>
          <a:xfrm>
            <a:off x="658368" y="2103120"/>
            <a:ext cx="10875233" cy="47548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44268"/>
            <a:ext cx="2644680" cy="42062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"Patients already self-report their weight."</a:t>
            </a:r>
          </a:p>
        </p:txBody>
      </p:sp>
      <p:sp>
        <p:nvSpPr>
          <p:cNvPr id="11" name="TextBox 10"/>
          <p:cNvSpPr txBox="1"/>
          <p:nvPr/>
        </p:nvSpPr>
        <p:spPr>
          <a:xfrm>
            <a:off x="3586512" y="2144268"/>
            <a:ext cx="7864792" cy="42062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Self report is inconsistent and easy to misrepresent. FitXpress adds structured, repeatable body data before review, from two photos in under 45 seconds, inside the flow the member already completes</a:t>
            </a:r>
          </a:p>
        </p:txBody>
      </p:sp>
      <p:sp>
        <p:nvSpPr>
          <p:cNvPr id="12" name="Rectangle 11"/>
          <p:cNvSpPr/>
          <p:nvPr/>
        </p:nvSpPr>
        <p:spPr>
          <a:xfrm>
            <a:off x="658368" y="2578608"/>
            <a:ext cx="10875233"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57860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2619756"/>
            <a:ext cx="2644680" cy="42062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"We already use connected scales."</a:t>
            </a:r>
          </a:p>
        </p:txBody>
      </p:sp>
      <p:sp>
        <p:nvSpPr>
          <p:cNvPr id="15" name="TextBox 14"/>
          <p:cNvSpPr txBox="1"/>
          <p:nvPr/>
        </p:nvSpPr>
        <p:spPr>
          <a:xfrm>
            <a:off x="3586512" y="2619756"/>
            <a:ext cx="7864792" cy="42062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 scale returns one number. FitXpress returns body composition, 80+ measurements, a 3D model and scan-to-scan comparison, captured remotely from a phone</a:t>
            </a:r>
          </a:p>
        </p:txBody>
      </p:sp>
      <p:sp>
        <p:nvSpPr>
          <p:cNvPr id="16" name="Rectangle 15"/>
          <p:cNvSpPr/>
          <p:nvPr/>
        </p:nvSpPr>
        <p:spPr>
          <a:xfrm>
            <a:off x="658368" y="3054096"/>
            <a:ext cx="10875233" cy="47548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05409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095244"/>
            <a:ext cx="2644680" cy="42062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"We don't want onboarding friction."</a:t>
            </a:r>
          </a:p>
        </p:txBody>
      </p:sp>
      <p:sp>
        <p:nvSpPr>
          <p:cNvPr id="19" name="TextBox 18"/>
          <p:cNvSpPr txBox="1"/>
          <p:nvPr/>
        </p:nvSpPr>
        <p:spPr>
          <a:xfrm>
            <a:off x="3586512" y="3095244"/>
            <a:ext cx="7864792" cy="42062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Two photos with guided capture, under a minute. The scan is triggered from a flow the program already runs, and the capture layer validates pose and framing in real time to reduce retakes</a:t>
            </a:r>
          </a:p>
        </p:txBody>
      </p:sp>
      <p:sp>
        <p:nvSpPr>
          <p:cNvPr id="20" name="Rectangle 19"/>
          <p:cNvSpPr/>
          <p:nvPr/>
        </p:nvSpPr>
        <p:spPr>
          <a:xfrm>
            <a:off x="658368" y="3529584"/>
            <a:ext cx="10875233"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52958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570732"/>
            <a:ext cx="2644680" cy="42062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"How accurate is it?"</a:t>
            </a:r>
          </a:p>
        </p:txBody>
      </p:sp>
      <p:sp>
        <p:nvSpPr>
          <p:cNvPr id="23" name="TextBox 22"/>
          <p:cNvSpPr txBox="1"/>
          <p:nvPr/>
        </p:nvSpPr>
        <p:spPr>
          <a:xfrm>
            <a:off x="3586512" y="3570732"/>
            <a:ext cx="7864792" cy="42062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Accurate enough for which decision? Against expert manual measurement, 96 to 97% with a typical absolute error of 1.5 to 2.0 cm. For repeat-scan programs the figure that matters is repeatability: variance stays &lt; 1 cm, and a change between scans reads as real rather than as noise. Detailed methodology is available under NDA</a:t>
            </a:r>
          </a:p>
        </p:txBody>
      </p:sp>
      <p:sp>
        <p:nvSpPr>
          <p:cNvPr id="24" name="Rectangle 23"/>
          <p:cNvSpPr/>
          <p:nvPr/>
        </p:nvSpPr>
        <p:spPr>
          <a:xfrm>
            <a:off x="658368" y="4005072"/>
            <a:ext cx="10875233" cy="475488"/>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4005072"/>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4046220"/>
            <a:ext cx="2644680" cy="42062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"Our clinicians and underwriters assess manually."</a:t>
            </a:r>
          </a:p>
        </p:txBody>
      </p:sp>
      <p:sp>
        <p:nvSpPr>
          <p:cNvPr id="27" name="TextBox 26"/>
          <p:cNvSpPr txBox="1"/>
          <p:nvPr/>
        </p:nvSpPr>
        <p:spPr>
          <a:xfrm>
            <a:off x="3586512" y="4046220"/>
            <a:ext cx="7864792" cy="42062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human still decides. FitXpress standardizes intake and reduces review burden, and it supports clinician or underwriter review rather than replacing it</a:t>
            </a:r>
          </a:p>
        </p:txBody>
      </p:sp>
      <p:sp>
        <p:nvSpPr>
          <p:cNvPr id="28" name="Rectangle 27"/>
          <p:cNvSpPr/>
          <p:nvPr/>
        </p:nvSpPr>
        <p:spPr>
          <a:xfrm>
            <a:off x="658368" y="4480560"/>
            <a:ext cx="10875233"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8368" y="448056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58952" y="4521708"/>
            <a:ext cx="2644680" cy="420624"/>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"How does this help the business?"</a:t>
            </a:r>
          </a:p>
        </p:txBody>
      </p:sp>
      <p:sp>
        <p:nvSpPr>
          <p:cNvPr id="31" name="TextBox 30"/>
          <p:cNvSpPr txBox="1"/>
          <p:nvPr/>
        </p:nvSpPr>
        <p:spPr>
          <a:xfrm>
            <a:off x="3586512" y="4521708"/>
            <a:ext cx="7864792" cy="420624"/>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Better qualification and engagement feed conversion, retention and cleaner outcomes reporting to the payers, employers and regulators the program answers to</a:t>
            </a:r>
          </a:p>
        </p:txBody>
      </p:sp>
      <p:sp>
        <p:nvSpPr>
          <p:cNvPr id="32" name="Rectangle 31"/>
          <p:cNvSpPr/>
          <p:nvPr/>
        </p:nvSpPr>
        <p:spPr>
          <a:xfrm>
            <a:off x="658368" y="495604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4882896"/>
            <a:ext cx="10875233" cy="219456"/>
          </a:xfrm>
          <a:prstGeom prst="rect">
            <a:avLst/>
          </a:prstGeom>
          <a:noFill/>
        </p:spPr>
        <p:txBody>
          <a:bodyPr wrap="square" lIns="0" rIns="0" tIns="0" bIns="0" anchor="t">
            <a:spAutoFit/>
          </a:bodyPr>
          <a:lstStyle/>
          <a:p>
            <a:pPr algn="l">
              <a:lnSpc>
                <a:spcPct val="128000"/>
              </a:lnSpc>
            </a:pPr>
            <a:r>
              <a:rPr sz="900" b="0" i="1">
                <a:solidFill>
                  <a:srgbClr val="666666"/>
                </a:solidFill>
                <a:latin typeface="Satoshi"/>
              </a:rPr>
              <a:t>Every one of these answers hedges, and none of them oversells. That is the point: an answer a buyer can check is worth more than an answer that wins the moment.</a:t>
            </a:r>
          </a:p>
        </p:txBody>
      </p:sp>
      <p:sp>
        <p:nvSpPr>
          <p:cNvPr id="34" name="TextBox 33"/>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5" name="TextBox 34"/>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52 / 61</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07 · MESSAGING AND PROOF</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boundary objections, and competitive framing</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These four come up in diligence rather than in discovery, and a weak answer here costs the deal later.</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2644680"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Objection</a:t>
            </a:r>
          </a:p>
        </p:txBody>
      </p:sp>
      <p:sp>
        <p:nvSpPr>
          <p:cNvPr id="7" name="TextBox 6"/>
          <p:cNvSpPr txBox="1"/>
          <p:nvPr/>
        </p:nvSpPr>
        <p:spPr>
          <a:xfrm>
            <a:off x="3586512" y="1879092"/>
            <a:ext cx="7864792"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Answer</a:t>
            </a:r>
          </a:p>
        </p:txBody>
      </p:sp>
      <p:sp>
        <p:nvSpPr>
          <p:cNvPr id="8" name="Rectangle 7"/>
          <p:cNvSpPr/>
          <p:nvPr/>
        </p:nvSpPr>
        <p:spPr>
          <a:xfrm>
            <a:off x="658368" y="2103120"/>
            <a:ext cx="10875233" cy="49377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144268"/>
            <a:ext cx="2644680" cy="43891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"We're evaluating other options."</a:t>
            </a:r>
          </a:p>
        </p:txBody>
      </p:sp>
      <p:sp>
        <p:nvSpPr>
          <p:cNvPr id="11" name="TextBox 10"/>
          <p:cNvSpPr txBox="1"/>
          <p:nvPr/>
        </p:nvSpPr>
        <p:spPr>
          <a:xfrm>
            <a:off x="3586512" y="2144268"/>
            <a:ext cx="7864792" cy="43891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Compare by role. The useful question is which method fits which workflow: a remote structured-data layer, an in-clinic reference method, and a consumer app answer different questions. Route named-competitor framing to Katerina before it goes in writing</a:t>
            </a:r>
          </a:p>
        </p:txBody>
      </p:sp>
      <p:sp>
        <p:nvSpPr>
          <p:cNvPr id="12" name="Rectangle 11"/>
          <p:cNvSpPr/>
          <p:nvPr/>
        </p:nvSpPr>
        <p:spPr>
          <a:xfrm>
            <a:off x="658368" y="2596896"/>
            <a:ext cx="10875233"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259689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2" y="2638044"/>
            <a:ext cx="2644680" cy="43891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"Is this a medical device?"</a:t>
            </a:r>
          </a:p>
        </p:txBody>
      </p:sp>
      <p:sp>
        <p:nvSpPr>
          <p:cNvPr id="15" name="TextBox 14"/>
          <p:cNvSpPr txBox="1"/>
          <p:nvPr/>
        </p:nvSpPr>
        <p:spPr>
          <a:xfrm>
            <a:off x="3586512" y="2638044"/>
            <a:ext cx="7864792" cy="43891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No. FitXpress is not positioned as a medical device. It provides structured body data that supports clinical and operational workflows, and compliance is evaluated on data-privacy frameworks rather than medical-device frameworks</a:t>
            </a:r>
          </a:p>
        </p:txBody>
      </p:sp>
      <p:sp>
        <p:nvSpPr>
          <p:cNvPr id="16" name="Rectangle 15"/>
          <p:cNvSpPr/>
          <p:nvPr/>
        </p:nvSpPr>
        <p:spPr>
          <a:xfrm>
            <a:off x="658368" y="3090672"/>
            <a:ext cx="10875233" cy="493776"/>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8368" y="3090672"/>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58952" y="3131820"/>
            <a:ext cx="2644680" cy="43891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"Do you train your AI on our photos?"</a:t>
            </a:r>
          </a:p>
        </p:txBody>
      </p:sp>
      <p:sp>
        <p:nvSpPr>
          <p:cNvPr id="19" name="TextBox 18"/>
          <p:cNvSpPr txBox="1"/>
          <p:nvPr/>
        </p:nvSpPr>
        <p:spPr>
          <a:xfrm>
            <a:off x="3586512" y="3131820"/>
            <a:ext cx="7864792" cy="43891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No. Photos sent through a customer's tenant are deleted per the retention policy and are not used to train the model</a:t>
            </a:r>
          </a:p>
        </p:txBody>
      </p:sp>
      <p:sp>
        <p:nvSpPr>
          <p:cNvPr id="20" name="Rectangle 19"/>
          <p:cNvSpPr/>
          <p:nvPr/>
        </p:nvSpPr>
        <p:spPr>
          <a:xfrm>
            <a:off x="658368" y="3584448"/>
            <a:ext cx="10875233" cy="49377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58368" y="358444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58952" y="3625596"/>
            <a:ext cx="2644680" cy="438912"/>
          </a:xfrm>
          <a:prstGeom prst="rect">
            <a:avLst/>
          </a:prstGeom>
          <a:noFill/>
        </p:spPr>
        <p:txBody>
          <a:bodyPr wrap="square" lIns="0" rIns="0" tIns="0" bIns="0" anchor="t">
            <a:spAutoFit/>
          </a:bodyPr>
          <a:lstStyle/>
          <a:p>
            <a:pPr algn="l">
              <a:lnSpc>
                <a:spcPct val="116000"/>
              </a:lnSpc>
            </a:pPr>
            <a:r>
              <a:rPr sz="840" b="1" i="0">
                <a:solidFill>
                  <a:srgbClr val="050F40"/>
                </a:solidFill>
                <a:latin typeface="Satoshi"/>
              </a:rPr>
              <a:t>"Where is the data stored, and for how long?"</a:t>
            </a:r>
          </a:p>
        </p:txBody>
      </p:sp>
      <p:sp>
        <p:nvSpPr>
          <p:cNvPr id="23" name="TextBox 22"/>
          <p:cNvSpPr txBox="1"/>
          <p:nvPr/>
        </p:nvSpPr>
        <p:spPr>
          <a:xfrm>
            <a:off x="3586512" y="3625596"/>
            <a:ext cx="7864792" cy="438912"/>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AWS S3 with mandatory server-side encryption, TLS in transit. Photos are removed immediately after processing or within 30 days, depending on the client policy chosen, and are auto-blurred when stored. No personal identifiers are processed</a:t>
            </a:r>
          </a:p>
        </p:txBody>
      </p:sp>
      <p:sp>
        <p:nvSpPr>
          <p:cNvPr id="24" name="Rectangle 23"/>
          <p:cNvSpPr/>
          <p:nvPr/>
        </p:nvSpPr>
        <p:spPr>
          <a:xfrm>
            <a:off x="658368" y="407822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114800"/>
            <a:ext cx="10875233" cy="219456"/>
          </a:xfrm>
          <a:prstGeom prst="rect">
            <a:avLst/>
          </a:prstGeom>
          <a:noFill/>
        </p:spPr>
        <p:txBody>
          <a:bodyPr wrap="square" lIns="0" rIns="0" tIns="0" bIns="0" anchor="t">
            <a:spAutoFit/>
          </a:bodyPr>
          <a:lstStyle/>
          <a:p>
            <a:pPr algn="l">
              <a:lnSpc>
                <a:spcPct val="128000"/>
              </a:lnSpc>
            </a:pPr>
            <a:r>
              <a:rPr sz="860" b="1" i="0">
                <a:solidFill>
                  <a:srgbClr val="143DFF"/>
                </a:solidFill>
                <a:latin typeface="Satoshi"/>
              </a:rPr>
              <a:t>COMPETITIVE FRAMING</a:t>
            </a:r>
          </a:p>
        </p:txBody>
      </p:sp>
      <p:sp>
        <p:nvSpPr>
          <p:cNvPr id="26" name="Rounded Rectangle 25"/>
          <p:cNvSpPr/>
          <p:nvPr/>
        </p:nvSpPr>
        <p:spPr>
          <a:xfrm>
            <a:off x="658368" y="4370831"/>
            <a:ext cx="3503157" cy="1737360"/>
          </a:xfrm>
          <a:prstGeom prst="roundRect">
            <a:avLst>
              <a:gd name="adj" fmla="val 14619"/>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58368" y="4370831"/>
            <a:ext cx="50292" cy="173736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6968" y="4526280"/>
            <a:ext cx="3100821"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The landscape</a:t>
            </a:r>
          </a:p>
        </p:txBody>
      </p:sp>
      <p:sp>
        <p:nvSpPr>
          <p:cNvPr id="29" name="TextBox 28"/>
          <p:cNvSpPr txBox="1"/>
          <p:nvPr/>
        </p:nvSpPr>
        <p:spPr>
          <a:xfrm>
            <a:off x="886968" y="4740554"/>
            <a:ext cx="3100821" cy="1193901"/>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Prism Labs is the primary competitor in the FitXpress space, strong in insurance, population health and GLP-1. Bodygram is secondary, aimed at trainers and dieticians. Size Stream is strong in hybrid on-premise and at-home clinical research. The long-term risk is native platform primitives from Apple or Google.</a:t>
            </a:r>
          </a:p>
        </p:txBody>
      </p:sp>
      <p:sp>
        <p:nvSpPr>
          <p:cNvPr id="30" name="Rounded Rectangle 29"/>
          <p:cNvSpPr/>
          <p:nvPr/>
        </p:nvSpPr>
        <p:spPr>
          <a:xfrm>
            <a:off x="4344405" y="4370831"/>
            <a:ext cx="3503157" cy="1737360"/>
          </a:xfrm>
          <a:prstGeom prst="roundRect">
            <a:avLst>
              <a:gd name="adj" fmla="val 14619"/>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44405" y="4370831"/>
            <a:ext cx="50292" cy="173736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573005" y="4526280"/>
            <a:ext cx="3100821"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Three rules</a:t>
            </a:r>
          </a:p>
        </p:txBody>
      </p:sp>
      <p:sp>
        <p:nvSpPr>
          <p:cNvPr id="33" name="TextBox 32"/>
          <p:cNvSpPr txBox="1"/>
          <p:nvPr/>
        </p:nvSpPr>
        <p:spPr>
          <a:xfrm>
            <a:off x="4573005" y="4740554"/>
            <a:ext cx="3100821" cy="1193901"/>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Compare by method or by role, never by competitor name in published copy. Never a clean sweep, because a table where we win every row reads as marketing and both buyers and answer engines discount it. Route any competitive positioning to Katerina before it goes in writing, because competitive data moves and the internal analysis is dated March and April 2026.</a:t>
            </a:r>
          </a:p>
        </p:txBody>
      </p:sp>
      <p:sp>
        <p:nvSpPr>
          <p:cNvPr id="34" name="Rounded Rectangle 33"/>
          <p:cNvSpPr/>
          <p:nvPr/>
        </p:nvSpPr>
        <p:spPr>
          <a:xfrm>
            <a:off x="8030443" y="4370831"/>
            <a:ext cx="3503157" cy="1737360"/>
          </a:xfrm>
          <a:prstGeom prst="roundRect">
            <a:avLst>
              <a:gd name="adj" fmla="val 14619"/>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30443" y="4370831"/>
            <a:ext cx="50292" cy="173736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9043" y="4526280"/>
            <a:ext cx="3100821" cy="150266"/>
          </a:xfrm>
          <a:prstGeom prst="rect">
            <a:avLst/>
          </a:prstGeom>
          <a:noFill/>
        </p:spPr>
        <p:txBody>
          <a:bodyPr wrap="square" lIns="0" rIns="0" tIns="0" bIns="0" anchor="t">
            <a:spAutoFit/>
          </a:bodyPr>
          <a:lstStyle/>
          <a:p>
            <a:pPr algn="l">
              <a:lnSpc>
                <a:spcPct val="114000"/>
              </a:lnSpc>
            </a:pPr>
            <a:r>
              <a:rPr sz="1019" b="1" i="0">
                <a:solidFill>
                  <a:srgbClr val="050F40"/>
                </a:solidFill>
                <a:latin typeface="Satoshi"/>
              </a:rPr>
              <a:t>The internal boundary</a:t>
            </a:r>
          </a:p>
        </p:txBody>
      </p:sp>
      <p:sp>
        <p:nvSpPr>
          <p:cNvPr id="37" name="TextBox 36"/>
          <p:cNvSpPr txBox="1"/>
          <p:nvPr/>
        </p:nvSpPr>
        <p:spPr>
          <a:xfrm>
            <a:off x="8259043" y="4740554"/>
            <a:ext cx="3100821" cy="1193901"/>
          </a:xfrm>
          <a:prstGeom prst="rect">
            <a:avLst/>
          </a:prstGeom>
          <a:noFill/>
        </p:spPr>
        <p:txBody>
          <a:bodyPr wrap="square" lIns="0" rIns="0" tIns="0" bIns="0" anchor="t">
            <a:spAutoFit/>
          </a:bodyPr>
          <a:lstStyle/>
          <a:p>
            <a:pPr algn="l">
              <a:lnSpc>
                <a:spcPct val="130000"/>
              </a:lnSpc>
            </a:pPr>
            <a:r>
              <a:rPr sz="819" b="0" i="0">
                <a:solidFill>
                  <a:srgbClr val="4C4C4C"/>
                </a:solidFill>
                <a:latin typeface="Satoshi"/>
              </a:rPr>
              <a:t>The competitive analysis deck in Drive is internal only and never leaves the building. Nothing from it is quotable in a customer-facing artifact, including in a comparison table that does not name the competitor.</a:t>
            </a:r>
          </a:p>
        </p:txBody>
      </p:sp>
      <p:sp>
        <p:nvSpPr>
          <p:cNvPr id="38" name="TextBox 37"/>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39" name="TextBox 38"/>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53 / 61</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08</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QA checklist</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Run this before anything is sent, published or handed to a designer. It maps to the 20-point rubric in docs/quality-rubric.md.</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54 / 61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08 · QA CHECKLIST</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Claims and facts, and voice and brand</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Rubric categories B and C. The claims list is the hard-fail category: a single miss here is worse than a whole deck of weak copy.</a:t>
            </a:r>
          </a:p>
        </p:txBody>
      </p:sp>
      <p:sp>
        <p:nvSpPr>
          <p:cNvPr id="5" name="Rounded Rectangle 4"/>
          <p:cNvSpPr/>
          <p:nvPr/>
        </p:nvSpPr>
        <p:spPr>
          <a:xfrm>
            <a:off x="658368" y="1828800"/>
            <a:ext cx="5327888" cy="3931920"/>
          </a:xfrm>
          <a:prstGeom prst="roundRect">
            <a:avLst>
              <a:gd name="adj" fmla="val 6459"/>
            </a:avLst>
          </a:prstGeom>
          <a:solidFill>
            <a:srgbClr val="ECE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002536"/>
            <a:ext cx="4925552" cy="256032"/>
          </a:xfrm>
          <a:prstGeom prst="rect">
            <a:avLst/>
          </a:prstGeom>
          <a:noFill/>
        </p:spPr>
        <p:txBody>
          <a:bodyPr wrap="square" lIns="0" rIns="0" tIns="0" bIns="0" anchor="t">
            <a:spAutoFit/>
          </a:bodyPr>
          <a:lstStyle/>
          <a:p>
            <a:pPr algn="l">
              <a:lnSpc>
                <a:spcPct val="128000"/>
              </a:lnSpc>
            </a:pPr>
            <a:r>
              <a:rPr sz="1200" b="1" i="0">
                <a:solidFill>
                  <a:srgbClr val="143DFF"/>
                </a:solidFill>
                <a:latin typeface="Satoshi"/>
              </a:rPr>
              <a:t>Claims and facts</a:t>
            </a:r>
          </a:p>
        </p:txBody>
      </p:sp>
      <p:sp>
        <p:nvSpPr>
          <p:cNvPr id="7" name="TextBox 6"/>
          <p:cNvSpPr txBox="1"/>
          <p:nvPr/>
        </p:nvSpPr>
        <p:spPr>
          <a:xfrm>
            <a:off x="859536" y="2359152"/>
            <a:ext cx="4925552" cy="3218687"/>
          </a:xfrm>
          <a:prstGeom prst="rect">
            <a:avLst/>
          </a:prstGeom>
          <a:noFill/>
        </p:spPr>
        <p:txBody>
          <a:bodyPr wrap="square" lIns="0" rIns="0" tIns="0" bIns="0" anchor="t">
            <a:spAutoFit/>
          </a:bodyPr>
          <a:lstStyle/>
          <a:p>
            <a:pPr algn="l">
              <a:lnSpc>
                <a:spcPct val="126000"/>
              </a:lnSpc>
              <a:spcAft>
                <a:spcPts val="340"/>
              </a:spcAft>
            </a:pPr>
            <a:r>
              <a:rPr sz="840" b="1" i="0">
                <a:solidFill>
                  <a:srgbClr val="143DFF"/>
                </a:solidFill>
                <a:latin typeface="Satoshi"/>
              </a:rPr>
              <a:t>·  </a:t>
            </a:r>
            <a:r>
              <a:rPr sz="840" b="0" i="0">
                <a:solidFill>
                  <a:srgbClr val="4C4C4C"/>
                </a:solidFill>
                <a:latin typeface="Satoshi"/>
              </a:rPr>
              <a:t>Every figure traced to a line in proof-points.md. No exceptions, no "approximately"</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Every figure byte-identical across hero, body, FAQ, disclaimer and any chart label</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Every customer name and number from case-studies/, with current written permission</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No Mobile Tailor content or customer revenue anywhere</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No claim of diagnosis, treatment, eligibility, underwriting, hiring or clearance decisioning</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No claim of replacing a clinician, DEXA, BIA, a calibrated scale or a protocol reference method</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No guaranteed compliance, no automatic fraud detection, no "most accurate", no "just an API"</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Accuracy scoped: the reframe, the four conditions, no bare headline percentage</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Repeatability written as &lt; 1 cm and never presented as accuracy. The two benchmarks are not mixed</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"Independent", "validated", "third-party" absent unless a named external party and a citable output are present</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SOC 2 not claimed. FDA clearance not claimed. Peer review not claimed</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Roadmap items limited to shipped or in-progress, with no promised dates</a:t>
            </a:r>
          </a:p>
          <a:p>
            <a:pPr algn="l">
              <a:lnSpc>
                <a:spcPct val="126000"/>
              </a:lnSpc>
              <a:spcAft>
                <a:spcPts val="340"/>
              </a:spcAft>
            </a:pPr>
            <a:r>
              <a:rPr sz="840" b="1" i="0">
                <a:solidFill>
                  <a:srgbClr val="143DFF"/>
                </a:solidFill>
                <a:latin typeface="Satoshi"/>
              </a:rPr>
              <a:t>·  </a:t>
            </a:r>
            <a:r>
              <a:rPr sz="840" b="0" i="0">
                <a:solidFill>
                  <a:srgbClr val="4C4C4C"/>
                </a:solidFill>
                <a:latin typeface="Satoshi"/>
              </a:rPr>
              <a:t>External statistics carry a named body and a link, and have external-use approval</a:t>
            </a:r>
          </a:p>
        </p:txBody>
      </p:sp>
      <p:sp>
        <p:nvSpPr>
          <p:cNvPr id="8" name="Rounded Rectangle 7"/>
          <p:cNvSpPr/>
          <p:nvPr/>
        </p:nvSpPr>
        <p:spPr>
          <a:xfrm>
            <a:off x="6205712" y="1828800"/>
            <a:ext cx="5327888" cy="3931920"/>
          </a:xfrm>
          <a:prstGeom prst="roundRect">
            <a:avLst>
              <a:gd name="adj" fmla="val 6459"/>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6880" y="2002536"/>
            <a:ext cx="4925552" cy="256032"/>
          </a:xfrm>
          <a:prstGeom prst="rect">
            <a:avLst/>
          </a:prstGeom>
          <a:noFill/>
        </p:spPr>
        <p:txBody>
          <a:bodyPr wrap="square" lIns="0" rIns="0" tIns="0" bIns="0" anchor="t">
            <a:spAutoFit/>
          </a:bodyPr>
          <a:lstStyle/>
          <a:p>
            <a:pPr algn="l">
              <a:lnSpc>
                <a:spcPct val="128000"/>
              </a:lnSpc>
            </a:pPr>
            <a:r>
              <a:rPr sz="1200" b="1" i="0">
                <a:solidFill>
                  <a:srgbClr val="050F40"/>
                </a:solidFill>
                <a:latin typeface="Satoshi"/>
              </a:rPr>
              <a:t>Voice and brand</a:t>
            </a:r>
          </a:p>
        </p:txBody>
      </p:sp>
      <p:sp>
        <p:nvSpPr>
          <p:cNvPr id="10" name="TextBox 9"/>
          <p:cNvSpPr txBox="1"/>
          <p:nvPr/>
        </p:nvSpPr>
        <p:spPr>
          <a:xfrm>
            <a:off x="6406880" y="2359152"/>
            <a:ext cx="4925552" cy="3218687"/>
          </a:xfrm>
          <a:prstGeom prst="rect">
            <a:avLst/>
          </a:prstGeom>
          <a:noFill/>
        </p:spPr>
        <p:txBody>
          <a:bodyPr wrap="square" lIns="0" rIns="0" tIns="0" bIns="0" anchor="t">
            <a:spAutoFit/>
          </a:bodyPr>
          <a:lstStyle/>
          <a:p>
            <a:pPr algn="l">
              <a:lnSpc>
                <a:spcPct val="126000"/>
              </a:lnSpc>
              <a:spcAft>
                <a:spcPts val="340"/>
              </a:spcAft>
            </a:pPr>
            <a:r>
              <a:rPr sz="840" b="1" i="0">
                <a:solidFill>
                  <a:srgbClr val="050F40"/>
                </a:solidFill>
                <a:latin typeface="Satoshi"/>
              </a:rPr>
              <a:t>·  </a:t>
            </a:r>
            <a:r>
              <a:rPr sz="840" b="0" i="0">
                <a:solidFill>
                  <a:srgbClr val="4C4C4C"/>
                </a:solidFill>
                <a:latin typeface="Satoshi"/>
              </a:rPr>
              <a:t>Banned-word grep clean, across all 20 words including figurative "navigate"</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No em dash or en dash anywhere</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No "it's not just X, it's Y", no "not only X but also Y"</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No adjectival punch triad</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Terminology guardrails clean: no "objective" about our output, no "the reader", no "this guide", no "by hand", no "plus" as a connector, no "let", no "so" introducing a benefit, no corrective "X, not Y" outside a stated boundary</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M1: every abbreviation expanded at first use, including BMI, GLP-1, API, SDK and every cited regulator</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M2: one clear negative scope statement, with no second negation chained onto it</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The hero sells an outcome, not accuracy</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Buyer framing rather than "you"-spam, except on conversion sections</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The detector has been run and every hard fail and house-rule violation is fixed</a:t>
            </a:r>
          </a:p>
          <a:p>
            <a:pPr algn="l">
              <a:lnSpc>
                <a:spcPct val="126000"/>
              </a:lnSpc>
              <a:spcAft>
                <a:spcPts val="340"/>
              </a:spcAft>
            </a:pPr>
            <a:r>
              <a:rPr sz="840" b="1" i="0">
                <a:solidFill>
                  <a:srgbClr val="050F40"/>
                </a:solidFill>
                <a:latin typeface="Satoshi"/>
              </a:rPr>
              <a:t>·  </a:t>
            </a:r>
            <a:r>
              <a:rPr sz="840" b="0" i="0">
                <a:solidFill>
                  <a:srgbClr val="4C4C4C"/>
                </a:solidFill>
                <a:latin typeface="Satoshi"/>
              </a:rPr>
              <a:t>The second pass has been done: what here still reads as machine-written, and it was fixed</a:t>
            </a:r>
          </a:p>
        </p:txBody>
      </p:sp>
      <p:sp>
        <p:nvSpPr>
          <p:cNvPr id="11" name="TextBox 10"/>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12" name="TextBox 11"/>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55 / 61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08 · QA CHECKLIST</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Disclaimers, design, and conversion</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Three columns for three different readers. Hand a designer the design column, not the whole list.</a:t>
            </a:r>
          </a:p>
        </p:txBody>
      </p:sp>
      <p:sp>
        <p:nvSpPr>
          <p:cNvPr id="5" name="Rounded Rectangle 4"/>
          <p:cNvSpPr/>
          <p:nvPr/>
        </p:nvSpPr>
        <p:spPr>
          <a:xfrm>
            <a:off x="658368" y="1828800"/>
            <a:ext cx="3503157" cy="3931920"/>
          </a:xfrm>
          <a:prstGeom prst="roundRect">
            <a:avLst>
              <a:gd name="adj" fmla="val 72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39319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Disclaimers and sensitive verticals</a:t>
            </a:r>
          </a:p>
        </p:txBody>
      </p:sp>
      <p:sp>
        <p:nvSpPr>
          <p:cNvPr id="8" name="TextBox 7"/>
          <p:cNvSpPr txBox="1"/>
          <p:nvPr/>
        </p:nvSpPr>
        <p:spPr>
          <a:xfrm>
            <a:off x="886968" y="2210308"/>
            <a:ext cx="3100821" cy="3376676"/>
          </a:xfrm>
          <a:prstGeom prst="rect">
            <a:avLst/>
          </a:prstGeom>
          <a:noFill/>
        </p:spPr>
        <p:txBody>
          <a:bodyPr wrap="square" lIns="0" rIns="0" tIns="0" bIns="0" anchor="t">
            <a:spAutoFit/>
          </a:bodyPr>
          <a:lstStyle/>
          <a:p>
            <a:pPr algn="l">
              <a:lnSpc>
                <a:spcPct val="124000"/>
              </a:lnSpc>
              <a:spcAft>
                <a:spcPts val="320"/>
              </a:spcAft>
            </a:pPr>
            <a:r>
              <a:rPr sz="850" b="1" i="0">
                <a:solidFill>
                  <a:srgbClr val="143DFF"/>
                </a:solidFill>
                <a:latin typeface="Satoshi"/>
              </a:rPr>
              <a:t>·  </a:t>
            </a:r>
            <a:r>
              <a:rPr sz="850" b="0" i="0">
                <a:solidFill>
                  <a:srgbClr val="4C4C4C"/>
                </a:solidFill>
                <a:latin typeface="Satoshi"/>
              </a:rPr>
              <a:t>The vertical's scope note appears early, rather than only at the end</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The italic disclaimer sits near any accuracy or eligibility claim</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"FitXpress is not positioned as a medical device" is present, in that wording</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The segment's "what NOT to say" list from section 4 checked line by line</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Every control stated with its limit</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BCRL, occupational health, clinical trials and insurance drafts have gone to Whitney</a:t>
            </a:r>
          </a:p>
        </p:txBody>
      </p:sp>
      <p:sp>
        <p:nvSpPr>
          <p:cNvPr id="9" name="Rounded Rectangle 8"/>
          <p:cNvSpPr/>
          <p:nvPr/>
        </p:nvSpPr>
        <p:spPr>
          <a:xfrm>
            <a:off x="4344405" y="1828800"/>
            <a:ext cx="3503157" cy="3931920"/>
          </a:xfrm>
          <a:prstGeom prst="roundRect">
            <a:avLst>
              <a:gd name="adj" fmla="val 72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405" y="1828800"/>
            <a:ext cx="50292" cy="39319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3005"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Design compliance</a:t>
            </a:r>
          </a:p>
        </p:txBody>
      </p:sp>
      <p:sp>
        <p:nvSpPr>
          <p:cNvPr id="12" name="TextBox 11"/>
          <p:cNvSpPr txBox="1"/>
          <p:nvPr/>
        </p:nvSpPr>
        <p:spPr>
          <a:xfrm>
            <a:off x="4573005" y="2210308"/>
            <a:ext cx="3100821" cy="3376676"/>
          </a:xfrm>
          <a:prstGeom prst="rect">
            <a:avLst/>
          </a:prstGeom>
          <a:noFill/>
        </p:spPr>
        <p:txBody>
          <a:bodyPr wrap="square" lIns="0" rIns="0" tIns="0" bIns="0" anchor="t">
            <a:spAutoFit/>
          </a:bodyPr>
          <a:lstStyle/>
          <a:p>
            <a:pPr algn="l">
              <a:lnSpc>
                <a:spcPct val="124000"/>
              </a:lnSpc>
              <a:spcAft>
                <a:spcPts val="320"/>
              </a:spcAft>
            </a:pPr>
            <a:r>
              <a:rPr sz="850" b="1" i="0">
                <a:solidFill>
                  <a:srgbClr val="143DFF"/>
                </a:solidFill>
                <a:latin typeface="Satoshi"/>
              </a:rPr>
              <a:t>·  </a:t>
            </a:r>
            <a:r>
              <a:rPr sz="850" b="0" i="0">
                <a:solidFill>
                  <a:srgbClr val="4C4C4C"/>
                </a:solidFill>
                <a:latin typeface="Satoshi"/>
              </a:rPr>
              <a:t>#143DFF as a single sharp accent, never a large fill. #2962FF absent</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Navy #050F40 with the radial glow and texture on hero, proof, CTA and footer. No flat navy</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Satoshi only. No Inter, Bricolage Grotesque or IBM Plex Sans</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Type scale, spacing steps and radii from DESIGN.md, with nothing off-scale</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Eyebrow label on each section or content slide</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Proof zone leads with an oversized numeral</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Product imagery in preference to icon grids</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AA contrast, a scrim under light text on imagery, a visible focus ring, reduced-motion honoured</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White call-to-action button on navy</a:t>
            </a:r>
          </a:p>
        </p:txBody>
      </p:sp>
      <p:sp>
        <p:nvSpPr>
          <p:cNvPr id="13" name="Rounded Rectangle 12"/>
          <p:cNvSpPr/>
          <p:nvPr/>
        </p:nvSpPr>
        <p:spPr>
          <a:xfrm>
            <a:off x="8030443" y="1828800"/>
            <a:ext cx="3503157" cy="3931920"/>
          </a:xfrm>
          <a:prstGeom prst="roundRect">
            <a:avLst>
              <a:gd name="adj" fmla="val 72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0443" y="1828800"/>
            <a:ext cx="50292" cy="39319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9043"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Calls to action and conversion</a:t>
            </a:r>
          </a:p>
        </p:txBody>
      </p:sp>
      <p:sp>
        <p:nvSpPr>
          <p:cNvPr id="16" name="TextBox 15"/>
          <p:cNvSpPr txBox="1"/>
          <p:nvPr/>
        </p:nvSpPr>
        <p:spPr>
          <a:xfrm>
            <a:off x="8259043" y="2210308"/>
            <a:ext cx="3100821" cy="3376676"/>
          </a:xfrm>
          <a:prstGeom prst="rect">
            <a:avLst/>
          </a:prstGeom>
          <a:noFill/>
        </p:spPr>
        <p:txBody>
          <a:bodyPr wrap="square" lIns="0" rIns="0" tIns="0" bIns="0" anchor="t">
            <a:spAutoFit/>
          </a:bodyPr>
          <a:lstStyle/>
          <a:p>
            <a:pPr algn="l">
              <a:lnSpc>
                <a:spcPct val="124000"/>
              </a:lnSpc>
              <a:spcAft>
                <a:spcPts val="320"/>
              </a:spcAft>
            </a:pPr>
            <a:r>
              <a:rPr sz="850" b="1" i="0">
                <a:solidFill>
                  <a:srgbClr val="143DFF"/>
                </a:solidFill>
                <a:latin typeface="Satoshi"/>
              </a:rPr>
              <a:t>·  </a:t>
            </a:r>
            <a:r>
              <a:rPr sz="850" b="0" i="0">
                <a:solidFill>
                  <a:srgbClr val="4C4C4C"/>
                </a:solidFill>
                <a:latin typeface="Satoshi"/>
              </a:rPr>
              <a:t>The CTA matches the funnel stage, and one CTA has not been forced onto everything</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One primary action, visible without scrolling and repeated at the end</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An evaluation-stage secondary action exists for the buyer who is not ready to talk</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The price signal names the entry tier and links to /pricing/. No internal per-request rates</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Form fields minimal, consent visible, a confirmation state exists</a:t>
            </a:r>
          </a:p>
        </p:txBody>
      </p:sp>
      <p:sp>
        <p:nvSpPr>
          <p:cNvPr id="17" name="TextBox 16"/>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18" name="TextBox 17"/>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56 / 61</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08 · QA CHECKLIST</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Structure, and sign-off</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structure column splits: pages first, then the deck-only items. Sign-off is five names and two gates, and none of them are optional.</a:t>
            </a:r>
          </a:p>
        </p:txBody>
      </p:sp>
      <p:sp>
        <p:nvSpPr>
          <p:cNvPr id="5" name="Rounded Rectangle 4"/>
          <p:cNvSpPr/>
          <p:nvPr/>
        </p:nvSpPr>
        <p:spPr>
          <a:xfrm>
            <a:off x="658368" y="1828800"/>
            <a:ext cx="3503157" cy="3931920"/>
          </a:xfrm>
          <a:prstGeom prst="roundRect">
            <a:avLst>
              <a:gd name="adj" fmla="val 72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39319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Structure: pages</a:t>
            </a:r>
          </a:p>
        </p:txBody>
      </p:sp>
      <p:sp>
        <p:nvSpPr>
          <p:cNvPr id="8" name="TextBox 7"/>
          <p:cNvSpPr txBox="1"/>
          <p:nvPr/>
        </p:nvSpPr>
        <p:spPr>
          <a:xfrm>
            <a:off x="886968" y="2210308"/>
            <a:ext cx="3100821" cy="3376676"/>
          </a:xfrm>
          <a:prstGeom prst="rect">
            <a:avLst/>
          </a:prstGeom>
          <a:noFill/>
        </p:spPr>
        <p:txBody>
          <a:bodyPr wrap="square" lIns="0" rIns="0" tIns="0" bIns="0" anchor="t">
            <a:spAutoFit/>
          </a:bodyPr>
          <a:lstStyle/>
          <a:p>
            <a:pPr algn="l">
              <a:lnSpc>
                <a:spcPct val="124000"/>
              </a:lnSpc>
              <a:spcAft>
                <a:spcPts val="320"/>
              </a:spcAft>
            </a:pPr>
            <a:r>
              <a:rPr sz="850" b="1" i="0">
                <a:solidFill>
                  <a:srgbClr val="143DFF"/>
                </a:solidFill>
                <a:latin typeface="Satoshi"/>
              </a:rPr>
              <a:t>·  </a:t>
            </a:r>
            <a:r>
              <a:rPr sz="850" b="0" i="0">
                <a:solidFill>
                  <a:srgbClr val="4C4C4C"/>
                </a:solidFill>
                <a:latin typeface="Satoshi"/>
              </a:rPr>
              <a:t>One H1, hierarchy intact. Ten or more FAQ questions, answer-first, with FAQPage schema</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Service or Product schema with audience and areaServed, BreadcrumbList, canonical to self</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Yoast title 60 characters or fewer, description 155 or fewer, clean URL</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Breadcrumb depth matches the real hierarchy, with no invented path level</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Internal links in all four directions. Comparison table reflows on mobile</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A visible "Last updated". Word count roughly 1,200 to 1,600</a:t>
            </a:r>
          </a:p>
        </p:txBody>
      </p:sp>
      <p:sp>
        <p:nvSpPr>
          <p:cNvPr id="9" name="Rounded Rectangle 8"/>
          <p:cNvSpPr/>
          <p:nvPr/>
        </p:nvSpPr>
        <p:spPr>
          <a:xfrm>
            <a:off x="4344405" y="1828800"/>
            <a:ext cx="3503157" cy="3931920"/>
          </a:xfrm>
          <a:prstGeom prst="roundRect">
            <a:avLst>
              <a:gd name="adj" fmla="val 72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44405" y="1828800"/>
            <a:ext cx="50292" cy="39319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3005"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Structure: decks</a:t>
            </a:r>
          </a:p>
        </p:txBody>
      </p:sp>
      <p:sp>
        <p:nvSpPr>
          <p:cNvPr id="12" name="TextBox 11"/>
          <p:cNvSpPr txBox="1"/>
          <p:nvPr/>
        </p:nvSpPr>
        <p:spPr>
          <a:xfrm>
            <a:off x="4573005" y="2210308"/>
            <a:ext cx="3100821" cy="3376676"/>
          </a:xfrm>
          <a:prstGeom prst="rect">
            <a:avLst/>
          </a:prstGeom>
          <a:noFill/>
        </p:spPr>
        <p:txBody>
          <a:bodyPr wrap="square" lIns="0" rIns="0" tIns="0" bIns="0" anchor="t">
            <a:spAutoFit/>
          </a:bodyPr>
          <a:lstStyle/>
          <a:p>
            <a:pPr algn="l">
              <a:lnSpc>
                <a:spcPct val="124000"/>
              </a:lnSpc>
              <a:spcAft>
                <a:spcPts val="320"/>
              </a:spcAft>
            </a:pPr>
            <a:r>
              <a:rPr sz="850" b="1" i="0">
                <a:solidFill>
                  <a:srgbClr val="143DFF"/>
                </a:solidFill>
                <a:latin typeface="Satoshi"/>
              </a:rPr>
              <a:t>·  </a:t>
            </a:r>
            <a:r>
              <a:rPr sz="850" b="0" i="0">
                <a:solidFill>
                  <a:srgbClr val="4C4C4C"/>
                </a:solidFill>
                <a:latin typeface="Satoshi"/>
              </a:rPr>
              <a:t>The 19-slide core is present, and any dropped slide is a recorded decision</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Fixed slides copied verbatim from the last approved deck, not rewritten</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The text-fit review is written, slide by slide</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The confidentiality footer carries the current month and year</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Empty slots, the case card and the testimonial, are recorded rather than filled with adjacent-vertical material</a:t>
            </a:r>
          </a:p>
        </p:txBody>
      </p:sp>
      <p:sp>
        <p:nvSpPr>
          <p:cNvPr id="13" name="Rounded Rectangle 12"/>
          <p:cNvSpPr/>
          <p:nvPr/>
        </p:nvSpPr>
        <p:spPr>
          <a:xfrm>
            <a:off x="8030443" y="1828800"/>
            <a:ext cx="3503157" cy="3931920"/>
          </a:xfrm>
          <a:prstGeom prst="roundRect">
            <a:avLst>
              <a:gd name="adj" fmla="val 7250"/>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30443" y="1828800"/>
            <a:ext cx="50292" cy="39319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9043" y="1984248"/>
            <a:ext cx="3100821" cy="162052"/>
          </a:xfrm>
          <a:prstGeom prst="rect">
            <a:avLst/>
          </a:prstGeom>
          <a:noFill/>
        </p:spPr>
        <p:txBody>
          <a:bodyPr wrap="square" lIns="0" rIns="0" tIns="0" bIns="0" anchor="t">
            <a:spAutoFit/>
          </a:bodyPr>
          <a:lstStyle/>
          <a:p>
            <a:pPr algn="l">
              <a:lnSpc>
                <a:spcPct val="114000"/>
              </a:lnSpc>
            </a:pPr>
            <a:r>
              <a:rPr sz="1100" b="1" i="0">
                <a:solidFill>
                  <a:srgbClr val="050F40"/>
                </a:solidFill>
                <a:latin typeface="Satoshi"/>
              </a:rPr>
              <a:t>Sign-off</a:t>
            </a:r>
          </a:p>
        </p:txBody>
      </p:sp>
      <p:sp>
        <p:nvSpPr>
          <p:cNvPr id="16" name="TextBox 15"/>
          <p:cNvSpPr txBox="1"/>
          <p:nvPr/>
        </p:nvSpPr>
        <p:spPr>
          <a:xfrm>
            <a:off x="8259043" y="2210308"/>
            <a:ext cx="3100821" cy="3376676"/>
          </a:xfrm>
          <a:prstGeom prst="rect">
            <a:avLst/>
          </a:prstGeom>
          <a:noFill/>
        </p:spPr>
        <p:txBody>
          <a:bodyPr wrap="square" lIns="0" rIns="0" tIns="0" bIns="0" anchor="t">
            <a:spAutoFit/>
          </a:bodyPr>
          <a:lstStyle/>
          <a:p>
            <a:pPr algn="l">
              <a:lnSpc>
                <a:spcPct val="124000"/>
              </a:lnSpc>
              <a:spcAft>
                <a:spcPts val="320"/>
              </a:spcAft>
            </a:pPr>
            <a:r>
              <a:rPr sz="850" b="1" i="0">
                <a:solidFill>
                  <a:srgbClr val="143DFF"/>
                </a:solidFill>
                <a:latin typeface="Satoshi"/>
              </a:rPr>
              <a:t>·  </a:t>
            </a:r>
            <a:r>
              <a:rPr sz="850" b="0" i="0">
                <a:solidFill>
                  <a:srgbClr val="4C4C4C"/>
                </a:solidFill>
                <a:latin typeface="Satoshi"/>
              </a:rPr>
              <a:t>Open items block written. Per guardrail 11, unresolved trade-offs are flagged rather than silently decided</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Numbers confirmed by Vadim</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Regulated claims reviewed by Whitney</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Competitive framing reviewed by Katerina</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Editorial review by Asselya complete</a:t>
            </a:r>
          </a:p>
          <a:p>
            <a:pPr algn="l">
              <a:lnSpc>
                <a:spcPct val="124000"/>
              </a:lnSpc>
              <a:spcAft>
                <a:spcPts val="320"/>
              </a:spcAft>
            </a:pPr>
            <a:r>
              <a:rPr sz="850" b="1" i="0">
                <a:solidFill>
                  <a:srgbClr val="143DFF"/>
                </a:solidFill>
                <a:latin typeface="Satoshi"/>
              </a:rPr>
              <a:t>·  </a:t>
            </a:r>
            <a:r>
              <a:rPr sz="850" b="0" i="0">
                <a:solidFill>
                  <a:srgbClr val="4C4C4C"/>
                </a:solidFill>
                <a:latin typeface="Satoshi"/>
              </a:rPr>
              <a:t>For a site page: G-T passed and G-J scored 85 or above, or the shortfall explicitly flagged</a:t>
            </a:r>
          </a:p>
        </p:txBody>
      </p:sp>
      <p:sp>
        <p:nvSpPr>
          <p:cNvPr id="17" name="TextBox 16"/>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18" name="TextBox 17"/>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57 / 61</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30000" t="40000" r="70000" b="6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2286000"/>
            <a:ext cx="10875233" cy="822960"/>
          </a:xfrm>
          <a:prstGeom prst="rect">
            <a:avLst/>
          </a:prstGeom>
          <a:noFill/>
        </p:spPr>
        <p:txBody>
          <a:bodyPr wrap="square" lIns="0" rIns="0" tIns="0" bIns="0" anchor="t">
            <a:spAutoFit/>
          </a:bodyPr>
          <a:lstStyle/>
          <a:p>
            <a:pPr algn="l">
              <a:lnSpc>
                <a:spcPct val="100000"/>
              </a:lnSpc>
            </a:pPr>
            <a:r>
              <a:rPr sz="6400" b="1" i="0">
                <a:solidFill>
                  <a:srgbClr val="4F6DFF"/>
                </a:solidFill>
                <a:latin typeface="Satoshi"/>
              </a:rPr>
              <a:t>09</a:t>
            </a:r>
          </a:p>
        </p:txBody>
      </p:sp>
      <p:sp>
        <p:nvSpPr>
          <p:cNvPr id="33" name="TextBox 32"/>
          <p:cNvSpPr txBox="1"/>
          <p:nvPr/>
        </p:nvSpPr>
        <p:spPr>
          <a:xfrm>
            <a:off x="658368" y="3127248"/>
            <a:ext cx="10875233" cy="603504"/>
          </a:xfrm>
          <a:prstGeom prst="rect">
            <a:avLst/>
          </a:prstGeom>
          <a:noFill/>
        </p:spPr>
        <p:txBody>
          <a:bodyPr wrap="square" lIns="0" rIns="0" tIns="0" bIns="0" anchor="t">
            <a:spAutoFit/>
          </a:bodyPr>
          <a:lstStyle/>
          <a:p>
            <a:pPr algn="l">
              <a:lnSpc>
                <a:spcPct val="106000"/>
              </a:lnSpc>
            </a:pPr>
            <a:r>
              <a:rPr sz="3600" b="1" i="0">
                <a:solidFill>
                  <a:srgbClr val="FFFFFF"/>
                </a:solidFill>
                <a:latin typeface="Satoshi"/>
              </a:rPr>
              <a:t>Open items and conflicts</a:t>
            </a:r>
          </a:p>
        </p:txBody>
      </p:sp>
      <p:sp>
        <p:nvSpPr>
          <p:cNvPr id="34" name="TextBox 33"/>
          <p:cNvSpPr txBox="1"/>
          <p:nvPr/>
        </p:nvSpPr>
        <p:spPr>
          <a:xfrm>
            <a:off x="658368" y="3877056"/>
            <a:ext cx="7949153" cy="548640"/>
          </a:xfrm>
          <a:prstGeom prst="rect">
            <a:avLst/>
          </a:prstGeom>
          <a:noFill/>
        </p:spPr>
        <p:txBody>
          <a:bodyPr wrap="square" lIns="0" rIns="0" tIns="0" bIns="0" anchor="t">
            <a:spAutoFit/>
          </a:bodyPr>
          <a:lstStyle/>
          <a:p>
            <a:pPr algn="l">
              <a:lnSpc>
                <a:spcPct val="130000"/>
              </a:lnSpc>
            </a:pPr>
            <a:r>
              <a:rPr sz="1300" b="0" i="0">
                <a:solidFill>
                  <a:srgbClr val="B1BDFF"/>
                </a:solidFill>
                <a:latin typeface="Satoshi"/>
              </a:rPr>
              <a:t>Found while building this playbook. Per guardrail 11, these are flagged rather than silently decided. The first audit starts here and extends the list.</a:t>
            </a:r>
          </a:p>
        </p:txBody>
      </p:sp>
      <p:sp>
        <p:nvSpPr>
          <p:cNvPr id="35" name="Rectangle 34"/>
          <p:cNvSpPr/>
          <p:nvPr/>
        </p:nvSpPr>
        <p:spPr>
          <a:xfrm>
            <a:off x="658368" y="3712463"/>
            <a:ext cx="1371600" cy="41148"/>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37" name="TextBox 36"/>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58 / 61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09 · OPEN ITEMS</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blockers, ranked</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The top four decide what marketing can honestly promise. Everything below them is a correction rather than a decision.</a:t>
            </a:r>
          </a:p>
        </p:txBody>
      </p:sp>
      <p:sp>
        <p:nvSpPr>
          <p:cNvPr id="5" name="Rounded Rectangle 4"/>
          <p:cNvSpPr/>
          <p:nvPr/>
        </p:nvSpPr>
        <p:spPr>
          <a:xfrm>
            <a:off x="658368" y="1828800"/>
            <a:ext cx="5327888" cy="1792224"/>
          </a:xfrm>
          <a:prstGeom prst="roundRect">
            <a:avLst>
              <a:gd name="adj" fmla="val 1417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1828800"/>
            <a:ext cx="50292" cy="179222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1975104"/>
            <a:ext cx="548640" cy="274320"/>
          </a:xfrm>
          <a:prstGeom prst="rect">
            <a:avLst/>
          </a:prstGeom>
          <a:noFill/>
        </p:spPr>
        <p:txBody>
          <a:bodyPr wrap="square" lIns="0" rIns="0" tIns="0" bIns="0" anchor="t">
            <a:spAutoFit/>
          </a:bodyPr>
          <a:lstStyle/>
          <a:p>
            <a:pPr algn="l">
              <a:lnSpc>
                <a:spcPct val="128000"/>
              </a:lnSpc>
            </a:pPr>
            <a:r>
              <a:rPr sz="1700" b="1" i="0">
                <a:solidFill>
                  <a:srgbClr val="B1BDFF"/>
                </a:solidFill>
                <a:latin typeface="Satoshi"/>
              </a:rPr>
              <a:t>02</a:t>
            </a:r>
          </a:p>
        </p:txBody>
      </p:sp>
      <p:sp>
        <p:nvSpPr>
          <p:cNvPr id="8" name="TextBox 7"/>
          <p:cNvSpPr txBox="1"/>
          <p:nvPr/>
        </p:nvSpPr>
        <p:spPr>
          <a:xfrm>
            <a:off x="1444752" y="2011680"/>
            <a:ext cx="4322048" cy="402336"/>
          </a:xfrm>
          <a:prstGeom prst="rect">
            <a:avLst/>
          </a:prstGeom>
          <a:noFill/>
        </p:spPr>
        <p:txBody>
          <a:bodyPr wrap="square" lIns="0" rIns="0" tIns="0" bIns="0" anchor="t">
            <a:spAutoFit/>
          </a:bodyPr>
          <a:lstStyle/>
          <a:p>
            <a:pPr algn="l">
              <a:lnSpc>
                <a:spcPct val="114000"/>
              </a:lnSpc>
            </a:pPr>
            <a:r>
              <a:rPr sz="1080" b="1" i="0">
                <a:solidFill>
                  <a:srgbClr val="050F40"/>
                </a:solidFill>
                <a:latin typeface="Satoshi"/>
              </a:rPr>
              <a:t>The ISO benchmark set is in circulation and is not in proof-points.md</a:t>
            </a:r>
          </a:p>
        </p:txBody>
      </p:sp>
      <p:sp>
        <p:nvSpPr>
          <p:cNvPr id="9" name="TextBox 8"/>
          <p:cNvSpPr txBox="1"/>
          <p:nvPr/>
        </p:nvSpPr>
        <p:spPr>
          <a:xfrm>
            <a:off x="896112" y="2487168"/>
            <a:ext cx="4870688" cy="969264"/>
          </a:xfrm>
          <a:prstGeom prst="rect">
            <a:avLst/>
          </a:prstGeom>
          <a:noFill/>
        </p:spPr>
        <p:txBody>
          <a:bodyPr wrap="square" lIns="0" rIns="0" tIns="0" bIns="0" anchor="t">
            <a:spAutoFit/>
          </a:bodyPr>
          <a:lstStyle/>
          <a:p>
            <a:pPr algn="l">
              <a:lnSpc>
                <a:spcPct val="126000"/>
              </a:lnSpc>
            </a:pPr>
            <a:r>
              <a:rPr sz="819" b="0" i="0">
                <a:solidFill>
                  <a:srgbClr val="4C4C4C"/>
                </a:solidFill>
                <a:latin typeface="Satoshi"/>
              </a:rPr>
              <a:t>0.40 cm session-to-session repeatability, ISO 8559-1:2017, 14 companies, 8 countries, 1,152 data points, and the comparison figures 0.57 cm for 3D scanners and 0.94 cm for expert manual measurement. All of it appears in about-me.md, the sales playbook and the shipped insurance deck. None of it is in proof-points.md, so under the sourcing rule it is unusable, which conflicts with two shipped assets. ASK: add it with its source, or withdraw it from collateral. The highest-value item here, because 0.40 cm is the strongest number we have for longitudinal verticals.</a:t>
            </a:r>
          </a:p>
        </p:txBody>
      </p:sp>
      <p:sp>
        <p:nvSpPr>
          <p:cNvPr id="10" name="Rounded Rectangle 9"/>
          <p:cNvSpPr/>
          <p:nvPr/>
        </p:nvSpPr>
        <p:spPr>
          <a:xfrm>
            <a:off x="6205712" y="1828800"/>
            <a:ext cx="5327888" cy="1792224"/>
          </a:xfrm>
          <a:prstGeom prst="roundRect">
            <a:avLst>
              <a:gd name="adj" fmla="val 1417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05712" y="1828800"/>
            <a:ext cx="50292" cy="179222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3456" y="1975104"/>
            <a:ext cx="548640" cy="274320"/>
          </a:xfrm>
          <a:prstGeom prst="rect">
            <a:avLst/>
          </a:prstGeom>
          <a:noFill/>
        </p:spPr>
        <p:txBody>
          <a:bodyPr wrap="square" lIns="0" rIns="0" tIns="0" bIns="0" anchor="t">
            <a:spAutoFit/>
          </a:bodyPr>
          <a:lstStyle/>
          <a:p>
            <a:pPr algn="l">
              <a:lnSpc>
                <a:spcPct val="128000"/>
              </a:lnSpc>
            </a:pPr>
            <a:r>
              <a:rPr sz="1700" b="1" i="0">
                <a:solidFill>
                  <a:srgbClr val="B1BDFF"/>
                </a:solidFill>
                <a:latin typeface="Satoshi"/>
              </a:rPr>
              <a:t>12</a:t>
            </a:r>
          </a:p>
        </p:txBody>
      </p:sp>
      <p:sp>
        <p:nvSpPr>
          <p:cNvPr id="13" name="TextBox 12"/>
          <p:cNvSpPr txBox="1"/>
          <p:nvPr/>
        </p:nvSpPr>
        <p:spPr>
          <a:xfrm>
            <a:off x="6992096" y="2011680"/>
            <a:ext cx="4322048" cy="402336"/>
          </a:xfrm>
          <a:prstGeom prst="rect">
            <a:avLst/>
          </a:prstGeom>
          <a:noFill/>
        </p:spPr>
        <p:txBody>
          <a:bodyPr wrap="square" lIns="0" rIns="0" tIns="0" bIns="0" anchor="t">
            <a:spAutoFit/>
          </a:bodyPr>
          <a:lstStyle/>
          <a:p>
            <a:pPr algn="l">
              <a:lnSpc>
                <a:spcPct val="114000"/>
              </a:lnSpc>
            </a:pPr>
            <a:r>
              <a:rPr sz="1080" b="1" i="0">
                <a:solidFill>
                  <a:srgbClr val="050F40"/>
                </a:solidFill>
                <a:latin typeface="Satoshi"/>
              </a:rPr>
              <a:t>G-I blocks nearly every FitXpress vertical page</a:t>
            </a:r>
          </a:p>
        </p:txBody>
      </p:sp>
      <p:sp>
        <p:nvSpPr>
          <p:cNvPr id="14" name="TextBox 13"/>
          <p:cNvSpPr txBox="1"/>
          <p:nvPr/>
        </p:nvSpPr>
        <p:spPr>
          <a:xfrm>
            <a:off x="6443456" y="2487168"/>
            <a:ext cx="4870688" cy="969264"/>
          </a:xfrm>
          <a:prstGeom prst="rect">
            <a:avLst/>
          </a:prstGeom>
          <a:noFill/>
        </p:spPr>
        <p:txBody>
          <a:bodyPr wrap="square" lIns="0" rIns="0" tIns="0" bIns="0" anchor="t">
            <a:spAutoFit/>
          </a:bodyPr>
          <a:lstStyle/>
          <a:p>
            <a:pPr algn="l">
              <a:lnSpc>
                <a:spcPct val="126000"/>
              </a:lnSpc>
            </a:pPr>
            <a:r>
              <a:rPr sz="819" b="0" i="0">
                <a:solidFill>
                  <a:srgbClr val="4C4C4C"/>
                </a:solidFill>
                <a:latin typeface="Satoshi"/>
              </a:rPr>
              <a:t>The gate requires two or more publishable cases from the vertical, and every FitXpress vertical has at most one. ASK Vadim for a second case per priority vertical, an approved external reference, or a recorded waiver. Without this, "vertical landing pages for all use cases" is not deliverable as stated.</a:t>
            </a:r>
          </a:p>
        </p:txBody>
      </p:sp>
      <p:sp>
        <p:nvSpPr>
          <p:cNvPr id="15" name="Rounded Rectangle 14"/>
          <p:cNvSpPr/>
          <p:nvPr/>
        </p:nvSpPr>
        <p:spPr>
          <a:xfrm>
            <a:off x="658368" y="3803904"/>
            <a:ext cx="5327888" cy="1792224"/>
          </a:xfrm>
          <a:prstGeom prst="roundRect">
            <a:avLst>
              <a:gd name="adj" fmla="val 1417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58368" y="3803904"/>
            <a:ext cx="50292" cy="179222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3950208"/>
            <a:ext cx="548640" cy="274320"/>
          </a:xfrm>
          <a:prstGeom prst="rect">
            <a:avLst/>
          </a:prstGeom>
          <a:noFill/>
        </p:spPr>
        <p:txBody>
          <a:bodyPr wrap="square" lIns="0" rIns="0" tIns="0" bIns="0" anchor="t">
            <a:spAutoFit/>
          </a:bodyPr>
          <a:lstStyle/>
          <a:p>
            <a:pPr algn="l">
              <a:lnSpc>
                <a:spcPct val="128000"/>
              </a:lnSpc>
            </a:pPr>
            <a:r>
              <a:rPr sz="1700" b="1" i="0">
                <a:solidFill>
                  <a:srgbClr val="B1BDFF"/>
                </a:solidFill>
                <a:latin typeface="Satoshi"/>
              </a:rPr>
              <a:t>05</a:t>
            </a:r>
          </a:p>
        </p:txBody>
      </p:sp>
      <p:sp>
        <p:nvSpPr>
          <p:cNvPr id="18" name="TextBox 17"/>
          <p:cNvSpPr txBox="1"/>
          <p:nvPr/>
        </p:nvSpPr>
        <p:spPr>
          <a:xfrm>
            <a:off x="1444752" y="3986784"/>
            <a:ext cx="4322048" cy="402336"/>
          </a:xfrm>
          <a:prstGeom prst="rect">
            <a:avLst/>
          </a:prstGeom>
          <a:noFill/>
        </p:spPr>
        <p:txBody>
          <a:bodyPr wrap="square" lIns="0" rIns="0" tIns="0" bIns="0" anchor="t">
            <a:spAutoFit/>
          </a:bodyPr>
          <a:lstStyle/>
          <a:p>
            <a:pPr algn="l">
              <a:lnSpc>
                <a:spcPct val="114000"/>
              </a:lnSpc>
            </a:pPr>
            <a:r>
              <a:rPr sz="1080" b="1" i="0">
                <a:solidFill>
                  <a:srgbClr val="050F40"/>
                </a:solidFill>
                <a:latin typeface="Satoshi"/>
              </a:rPr>
              <a:t>Customer naming permission is contradictory</a:t>
            </a:r>
          </a:p>
        </p:txBody>
      </p:sp>
      <p:sp>
        <p:nvSpPr>
          <p:cNvPr id="19" name="TextBox 18"/>
          <p:cNvSpPr txBox="1"/>
          <p:nvPr/>
        </p:nvSpPr>
        <p:spPr>
          <a:xfrm>
            <a:off x="896112" y="4462272"/>
            <a:ext cx="4870688" cy="969264"/>
          </a:xfrm>
          <a:prstGeom prst="rect">
            <a:avLst/>
          </a:prstGeom>
          <a:noFill/>
        </p:spPr>
        <p:txBody>
          <a:bodyPr wrap="square" lIns="0" rIns="0" tIns="0" bIns="0" anchor="t">
            <a:spAutoFit/>
          </a:bodyPr>
          <a:lstStyle/>
          <a:p>
            <a:pPr algn="l">
              <a:lnSpc>
                <a:spcPct val="126000"/>
              </a:lnSpc>
            </a:pPr>
            <a:r>
              <a:rPr sz="819" b="0" i="0">
                <a:solidFill>
                  <a:srgbClr val="4C4C4C"/>
                </a:solidFill>
                <a:latin typeface="Satoshi"/>
              </a:rPr>
              <a:t>The insurance deck's open items record an NDA prohibiting naming Yazen, UK Meds and Healthyr. The telehealth page structure document plans an eleven-logo wall. The sales playbook names three clients on a competitive slide. case-studies/ tells agents to cite UK Meds and Yazen by name in outbound. ASK Katerina and Olena Chorna for a single per-customer permission list. Until it exists, treat naming as blocked and use the numbers without the name.</a:t>
            </a:r>
          </a:p>
        </p:txBody>
      </p:sp>
      <p:sp>
        <p:nvSpPr>
          <p:cNvPr id="20" name="Rounded Rectangle 19"/>
          <p:cNvSpPr/>
          <p:nvPr/>
        </p:nvSpPr>
        <p:spPr>
          <a:xfrm>
            <a:off x="6205712" y="3803904"/>
            <a:ext cx="5327888" cy="1792224"/>
          </a:xfrm>
          <a:prstGeom prst="roundRect">
            <a:avLst>
              <a:gd name="adj" fmla="val 14172"/>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05712" y="3803904"/>
            <a:ext cx="50292" cy="1792224"/>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3456" y="3950208"/>
            <a:ext cx="548640" cy="274320"/>
          </a:xfrm>
          <a:prstGeom prst="rect">
            <a:avLst/>
          </a:prstGeom>
          <a:noFill/>
        </p:spPr>
        <p:txBody>
          <a:bodyPr wrap="square" lIns="0" rIns="0" tIns="0" bIns="0" anchor="t">
            <a:spAutoFit/>
          </a:bodyPr>
          <a:lstStyle/>
          <a:p>
            <a:pPr algn="l">
              <a:lnSpc>
                <a:spcPct val="128000"/>
              </a:lnSpc>
            </a:pPr>
            <a:r>
              <a:rPr sz="1700" b="1" i="0">
                <a:solidFill>
                  <a:srgbClr val="B1BDFF"/>
                </a:solidFill>
                <a:latin typeface="Satoshi"/>
              </a:rPr>
              <a:t>04</a:t>
            </a:r>
          </a:p>
        </p:txBody>
      </p:sp>
      <p:sp>
        <p:nvSpPr>
          <p:cNvPr id="23" name="TextBox 22"/>
          <p:cNvSpPr txBox="1"/>
          <p:nvPr/>
        </p:nvSpPr>
        <p:spPr>
          <a:xfrm>
            <a:off x="6992096" y="3986784"/>
            <a:ext cx="4322048" cy="402336"/>
          </a:xfrm>
          <a:prstGeom prst="rect">
            <a:avLst/>
          </a:prstGeom>
          <a:noFill/>
        </p:spPr>
        <p:txBody>
          <a:bodyPr wrap="square" lIns="0" rIns="0" tIns="0" bIns="0" anchor="t">
            <a:spAutoFit/>
          </a:bodyPr>
          <a:lstStyle/>
          <a:p>
            <a:pPr algn="l">
              <a:lnSpc>
                <a:spcPct val="114000"/>
              </a:lnSpc>
            </a:pPr>
            <a:r>
              <a:rPr sz="1080" b="1" i="0">
                <a:solidFill>
                  <a:srgbClr val="050F40"/>
                </a:solidFill>
                <a:latin typeface="Satoshi"/>
              </a:rPr>
              <a:t>Pricing figures disagree across three sources</a:t>
            </a:r>
          </a:p>
        </p:txBody>
      </p:sp>
      <p:sp>
        <p:nvSpPr>
          <p:cNvPr id="24" name="TextBox 23"/>
          <p:cNvSpPr txBox="1"/>
          <p:nvPr/>
        </p:nvSpPr>
        <p:spPr>
          <a:xfrm>
            <a:off x="6443456" y="4462272"/>
            <a:ext cx="4870688" cy="969264"/>
          </a:xfrm>
          <a:prstGeom prst="rect">
            <a:avLst/>
          </a:prstGeom>
          <a:noFill/>
        </p:spPr>
        <p:txBody>
          <a:bodyPr wrap="square" lIns="0" rIns="0" tIns="0" bIns="0" anchor="t">
            <a:spAutoFit/>
          </a:bodyPr>
          <a:lstStyle/>
          <a:p>
            <a:pPr algn="l">
              <a:lnSpc>
                <a:spcPct val="126000"/>
              </a:lnSpc>
            </a:pPr>
            <a:r>
              <a:rPr sz="819" b="0" i="0">
                <a:solidFill>
                  <a:srgbClr val="4C4C4C"/>
                </a:solidFill>
                <a:latin typeface="Satoshi"/>
              </a:rPr>
              <a:t>pricing.md says $1,000 a month for 500 requests and $1,500 for 1,000. The sales playbook says $1,000 for 1,000 requests with a $0.50 per-request floor above 5,000 a month, where pricing.md puts $0.50 at 20,000. There is also a live /pricing/ page found to contradict pricing.md. Separately, about-me.md says never state or imply prices, while the page pipeline requires a price signal on every commercial page. ASK: which table is current, and what the standing rule is.</a:t>
            </a:r>
          </a:p>
        </p:txBody>
      </p:sp>
      <p:sp>
        <p:nvSpPr>
          <p:cNvPr id="25" name="TextBox 24"/>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26" name="TextBox 25"/>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59 / 61</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20624"/>
            <a:ext cx="10875233" cy="219456"/>
          </a:xfrm>
          <a:prstGeom prst="rect">
            <a:avLst/>
          </a:prstGeom>
          <a:noFill/>
        </p:spPr>
        <p:txBody>
          <a:bodyPr wrap="square" lIns="0" rIns="0" tIns="0" bIns="0">
            <a:spAutoFit/>
          </a:bodyPr>
          <a:lstStyle/>
          <a:p>
            <a:r>
              <a:rPr sz="1000" b="1" spc="170">
                <a:solidFill>
                  <a:srgbClr val="143DFF"/>
                </a:solidFill>
                <a:latin typeface="Satoshi"/>
              </a:rPr>
              <a:t>09 · OPEN ITEMS</a:t>
            </a:r>
          </a:p>
        </p:txBody>
      </p:sp>
      <p:sp>
        <p:nvSpPr>
          <p:cNvPr id="3" name="TextBox 2"/>
          <p:cNvSpPr txBox="1"/>
          <p:nvPr/>
        </p:nvSpPr>
        <p:spPr>
          <a:xfrm>
            <a:off x="658368" y="694944"/>
            <a:ext cx="10875233" cy="566928"/>
          </a:xfrm>
          <a:prstGeom prst="rect">
            <a:avLst/>
          </a:prstGeom>
          <a:noFill/>
        </p:spPr>
        <p:txBody>
          <a:bodyPr wrap="square" lIns="0" rIns="0" tIns="0" bIns="0" anchor="t">
            <a:spAutoFit/>
          </a:bodyPr>
          <a:lstStyle/>
          <a:p>
            <a:pPr algn="l">
              <a:lnSpc>
                <a:spcPct val="106000"/>
              </a:lnSpc>
            </a:pPr>
            <a:r>
              <a:rPr sz="2900" b="1" i="0">
                <a:solidFill>
                  <a:srgbClr val="050F40"/>
                </a:solidFill>
                <a:latin typeface="Satoshi"/>
              </a:rPr>
              <a:t>The corrections, and the gaps</a:t>
            </a:r>
          </a:p>
        </p:txBody>
      </p:sp>
      <p:sp>
        <p:nvSpPr>
          <p:cNvPr id="4" name="TextBox 3"/>
          <p:cNvSpPr txBox="1"/>
          <p:nvPr/>
        </p:nvSpPr>
        <p:spPr>
          <a:xfrm>
            <a:off x="658368" y="1298448"/>
            <a:ext cx="10600913" cy="457200"/>
          </a:xfrm>
          <a:prstGeom prst="rect">
            <a:avLst/>
          </a:prstGeom>
          <a:noFill/>
        </p:spPr>
        <p:txBody>
          <a:bodyPr wrap="square" lIns="0" rIns="0" tIns="0" bIns="0" anchor="t">
            <a:spAutoFit/>
          </a:bodyPr>
          <a:lstStyle/>
          <a:p>
            <a:pPr algn="l">
              <a:lnSpc>
                <a:spcPct val="126000"/>
              </a:lnSpc>
            </a:pPr>
            <a:r>
              <a:rPr sz="1250" b="0" i="0">
                <a:solidFill>
                  <a:srgbClr val="666666"/>
                </a:solidFill>
                <a:latin typeface="Satoshi"/>
              </a:rPr>
              <a:t>Items 1, 3, 6, 7, 8, 9, 10, 11, 13, 14, 15 and 16. Most are one confirmation away from resolved.</a:t>
            </a:r>
          </a:p>
        </p:txBody>
      </p:sp>
      <p:sp>
        <p:nvSpPr>
          <p:cNvPr id="5" name="Rectangle 4"/>
          <p:cNvSpPr/>
          <p:nvPr/>
        </p:nvSpPr>
        <p:spPr>
          <a:xfrm>
            <a:off x="658368" y="1828800"/>
            <a:ext cx="10875233" cy="274320"/>
          </a:xfrm>
          <a:prstGeom prst="rect">
            <a:avLst/>
          </a:prstGeom>
          <a:solidFill>
            <a:srgbClr val="050F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58952" y="1879092"/>
            <a:ext cx="197753"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a:t>
            </a:r>
          </a:p>
        </p:txBody>
      </p:sp>
      <p:sp>
        <p:nvSpPr>
          <p:cNvPr id="7" name="TextBox 6"/>
          <p:cNvSpPr txBox="1"/>
          <p:nvPr/>
        </p:nvSpPr>
        <p:spPr>
          <a:xfrm>
            <a:off x="1139585" y="1879092"/>
            <a:ext cx="2699056"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Item</a:t>
            </a:r>
          </a:p>
        </p:txBody>
      </p:sp>
      <p:sp>
        <p:nvSpPr>
          <p:cNvPr id="8" name="TextBox 7"/>
          <p:cNvSpPr txBox="1"/>
          <p:nvPr/>
        </p:nvSpPr>
        <p:spPr>
          <a:xfrm>
            <a:off x="4021522" y="1879092"/>
            <a:ext cx="7429783" cy="201167"/>
          </a:xfrm>
          <a:prstGeom prst="rect">
            <a:avLst/>
          </a:prstGeom>
          <a:noFill/>
        </p:spPr>
        <p:txBody>
          <a:bodyPr wrap="square" lIns="0" rIns="0" tIns="0" bIns="0" anchor="t">
            <a:spAutoFit/>
          </a:bodyPr>
          <a:lstStyle/>
          <a:p>
            <a:pPr algn="l">
              <a:lnSpc>
                <a:spcPct val="128000"/>
              </a:lnSpc>
            </a:pPr>
            <a:r>
              <a:rPr sz="860" b="1" i="0">
                <a:solidFill>
                  <a:srgbClr val="FFFFFF"/>
                </a:solidFill>
                <a:latin typeface="Satoshi"/>
              </a:rPr>
              <a:t>The ask</a:t>
            </a:r>
          </a:p>
        </p:txBody>
      </p:sp>
      <p:sp>
        <p:nvSpPr>
          <p:cNvPr id="9" name="Rectangle 8"/>
          <p:cNvSpPr/>
          <p:nvPr/>
        </p:nvSpPr>
        <p:spPr>
          <a:xfrm>
            <a:off x="658368" y="2103120"/>
            <a:ext cx="10875233" cy="32461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58368" y="210312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2144268"/>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01</a:t>
            </a:r>
          </a:p>
        </p:txBody>
      </p:sp>
      <p:sp>
        <p:nvSpPr>
          <p:cNvPr id="12" name="TextBox 11"/>
          <p:cNvSpPr txBox="1"/>
          <p:nvPr/>
        </p:nvSpPr>
        <p:spPr>
          <a:xfrm>
            <a:off x="1139585" y="2144268"/>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#2962FF named as the accent in this playbook's own brief</a:t>
            </a:r>
          </a:p>
        </p:txBody>
      </p:sp>
      <p:sp>
        <p:nvSpPr>
          <p:cNvPr id="13" name="TextBox 12"/>
          <p:cNvSpPr txBox="1"/>
          <p:nvPr/>
        </p:nvSpPr>
        <p:spPr>
          <a:xfrm>
            <a:off x="4021522" y="2144268"/>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 superseded placeholder from before the Figma export. This playbook uses #143DFF and Satoshi. If #2962FF is genuinely in use somewhere, that artifact needs correcting rather than the design system</a:t>
            </a:r>
          </a:p>
        </p:txBody>
      </p:sp>
      <p:sp>
        <p:nvSpPr>
          <p:cNvPr id="14" name="Rectangle 13"/>
          <p:cNvSpPr/>
          <p:nvPr/>
        </p:nvSpPr>
        <p:spPr>
          <a:xfrm>
            <a:off x="658368" y="2427732"/>
            <a:ext cx="10875233" cy="3246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2427732"/>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2468879"/>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03</a:t>
            </a:r>
          </a:p>
        </p:txBody>
      </p:sp>
      <p:sp>
        <p:nvSpPr>
          <p:cNvPr id="17" name="TextBox 16"/>
          <p:cNvSpPr txBox="1"/>
          <p:nvPr/>
        </p:nvSpPr>
        <p:spPr>
          <a:xfrm>
            <a:off x="1139585" y="2468879"/>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ISO 8559-1:2017 versus ISO 20685-1</a:t>
            </a:r>
          </a:p>
        </p:txBody>
      </p:sp>
      <p:sp>
        <p:nvSpPr>
          <p:cNvPr id="18" name="TextBox 17"/>
          <p:cNvSpPr txBox="1"/>
          <p:nvPr/>
        </p:nvSpPr>
        <p:spPr>
          <a:xfrm>
            <a:off x="4021522" y="2468879"/>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about-me.md, the sales playbook and the insurance deck cite one. The June 2026 telehealth page structure document cites the other, with a different benchmark shape. One is wrong and both are in circulation. Ask Vadim and product which standard the benchmark ran against</a:t>
            </a:r>
          </a:p>
        </p:txBody>
      </p:sp>
      <p:sp>
        <p:nvSpPr>
          <p:cNvPr id="19" name="Rectangle 18"/>
          <p:cNvSpPr/>
          <p:nvPr/>
        </p:nvSpPr>
        <p:spPr>
          <a:xfrm>
            <a:off x="658368" y="2752344"/>
            <a:ext cx="10875233" cy="32461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275234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952" y="2793491"/>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06</a:t>
            </a:r>
          </a:p>
        </p:txBody>
      </p:sp>
      <p:sp>
        <p:nvSpPr>
          <p:cNvPr id="22" name="TextBox 21"/>
          <p:cNvSpPr txBox="1"/>
          <p:nvPr/>
        </p:nvSpPr>
        <p:spPr>
          <a:xfrm>
            <a:off x="1139585" y="2793491"/>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speed claim varies: 45 seconds, under a minute, under 60 seconds, 40 to 50 seconds</a:t>
            </a:r>
          </a:p>
        </p:txBody>
      </p:sp>
      <p:sp>
        <p:nvSpPr>
          <p:cNvPr id="23" name="TextBox 22"/>
          <p:cNvSpPr txBox="1"/>
          <p:nvPr/>
        </p:nvSpPr>
        <p:spPr>
          <a:xfrm>
            <a:off x="4021522" y="2793491"/>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proof-points.md and tech-spec.md say under 45 seconds. The published 2-pager says under 60 seconds twice. The insurance deck cover says under a minute. Guardrail 2 makes this a defect. Hold "under 45 seconds" as the single claim, and correct the 2-pager</a:t>
            </a:r>
          </a:p>
        </p:txBody>
      </p:sp>
      <p:sp>
        <p:nvSpPr>
          <p:cNvPr id="24" name="Rectangle 23"/>
          <p:cNvSpPr/>
          <p:nvPr/>
        </p:nvSpPr>
        <p:spPr>
          <a:xfrm>
            <a:off x="658368" y="3076956"/>
            <a:ext cx="10875233" cy="3246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8368" y="307695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58952" y="3118103"/>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07</a:t>
            </a:r>
          </a:p>
        </p:txBody>
      </p:sp>
      <p:sp>
        <p:nvSpPr>
          <p:cNvPr id="27" name="TextBox 26"/>
          <p:cNvSpPr txBox="1"/>
          <p:nvPr/>
        </p:nvSpPr>
        <p:spPr>
          <a:xfrm>
            <a:off x="1139585" y="3118103"/>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Training-data height range disagrees</a:t>
            </a:r>
          </a:p>
        </p:txBody>
      </p:sp>
      <p:sp>
        <p:nvSpPr>
          <p:cNvPr id="28" name="TextBox 27"/>
          <p:cNvSpPr txBox="1"/>
          <p:nvPr/>
        </p:nvSpPr>
        <p:spPr>
          <a:xfrm>
            <a:off x="4021522" y="3118103"/>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proof-points.md says 150 to 205 cm. about-me.md says 150 to 220 cm. Ask Vadim which is right, and correct the other</a:t>
            </a:r>
          </a:p>
        </p:txBody>
      </p:sp>
      <p:sp>
        <p:nvSpPr>
          <p:cNvPr id="29" name="Rectangle 28"/>
          <p:cNvSpPr/>
          <p:nvPr/>
        </p:nvSpPr>
        <p:spPr>
          <a:xfrm>
            <a:off x="658368" y="3401568"/>
            <a:ext cx="10875233" cy="32461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58368" y="340156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58952" y="3442715"/>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08</a:t>
            </a:r>
          </a:p>
        </p:txBody>
      </p:sp>
      <p:sp>
        <p:nvSpPr>
          <p:cNvPr id="32" name="TextBox 31"/>
          <p:cNvSpPr txBox="1"/>
          <p:nvPr/>
        </p:nvSpPr>
        <p:spPr>
          <a:xfrm>
            <a:off x="1139585" y="3442715"/>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Company headcount disagrees</a:t>
            </a:r>
          </a:p>
        </p:txBody>
      </p:sp>
      <p:sp>
        <p:nvSpPr>
          <p:cNvPr id="33" name="TextBox 32"/>
          <p:cNvSpPr txBox="1"/>
          <p:nvPr/>
        </p:nvSpPr>
        <p:spPr>
          <a:xfrm>
            <a:off x="4021522" y="3442715"/>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CLAUDE.md and proof-points.md say 28 employees. The June 2026 sales playbook says 22. The About slide in every deck carries this number</a:t>
            </a:r>
          </a:p>
        </p:txBody>
      </p:sp>
      <p:sp>
        <p:nvSpPr>
          <p:cNvPr id="34" name="Rectangle 33"/>
          <p:cNvSpPr/>
          <p:nvPr/>
        </p:nvSpPr>
        <p:spPr>
          <a:xfrm>
            <a:off x="658368" y="3726179"/>
            <a:ext cx="10875233" cy="3246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58368" y="3726179"/>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58952" y="3767327"/>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09</a:t>
            </a:r>
          </a:p>
        </p:txBody>
      </p:sp>
      <p:sp>
        <p:nvSpPr>
          <p:cNvPr id="37" name="TextBox 36"/>
          <p:cNvSpPr txBox="1"/>
          <p:nvPr/>
        </p:nvSpPr>
        <p:spPr>
          <a:xfrm>
            <a:off x="1139585" y="3767327"/>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Banned words are live in shipped assets</a:t>
            </a:r>
          </a:p>
        </p:txBody>
      </p:sp>
      <p:sp>
        <p:nvSpPr>
          <p:cNvPr id="38" name="TextBox 37"/>
          <p:cNvSpPr txBox="1"/>
          <p:nvPr/>
        </p:nvSpPr>
        <p:spPr>
          <a:xfrm>
            <a:off x="4021522" y="3767327"/>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"Best-in-class Repeatability" titles slide 6 of the insurance deck, and the phrase also sits in icp-detail.md and the sales playbook. The 2-pager uses "seamlessly embeds". Previous audits found "leverage", "best-in-class" and "revolutionize" on live site pages. Week-one audit produces the full list and a correction plan</a:t>
            </a:r>
          </a:p>
        </p:txBody>
      </p:sp>
      <p:sp>
        <p:nvSpPr>
          <p:cNvPr id="39" name="Rectangle 38"/>
          <p:cNvSpPr/>
          <p:nvPr/>
        </p:nvSpPr>
        <p:spPr>
          <a:xfrm>
            <a:off x="658368" y="4050791"/>
            <a:ext cx="10875233" cy="32461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4050791"/>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8952" y="4091939"/>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10</a:t>
            </a:r>
          </a:p>
        </p:txBody>
      </p:sp>
      <p:sp>
        <p:nvSpPr>
          <p:cNvPr id="42" name="TextBox 41"/>
          <p:cNvSpPr txBox="1"/>
          <p:nvPr/>
        </p:nvSpPr>
        <p:spPr>
          <a:xfrm>
            <a:off x="1139585" y="4091939"/>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"Independently benchmarked" on insurance slide 6</a:t>
            </a:r>
          </a:p>
        </p:txBody>
      </p:sp>
      <p:sp>
        <p:nvSpPr>
          <p:cNvPr id="43" name="TextBox 42"/>
          <p:cNvSpPr txBox="1"/>
          <p:nvPr/>
        </p:nvSpPr>
        <p:spPr>
          <a:xfrm>
            <a:off x="4021522" y="4091939"/>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Breaks guardrail 3, since independence is not provable with a named external party and a citable output. Compliant rewrite: "benchmarked against 3D scanners and expert manual measurements in a multi-company benchmark", with the naming resolved through item 2</a:t>
            </a:r>
          </a:p>
        </p:txBody>
      </p:sp>
      <p:sp>
        <p:nvSpPr>
          <p:cNvPr id="44" name="Rectangle 43"/>
          <p:cNvSpPr/>
          <p:nvPr/>
        </p:nvSpPr>
        <p:spPr>
          <a:xfrm>
            <a:off x="658368" y="4375404"/>
            <a:ext cx="10875233" cy="3246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58368" y="437540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58952" y="4416552"/>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11</a:t>
            </a:r>
          </a:p>
        </p:txBody>
      </p:sp>
      <p:sp>
        <p:nvSpPr>
          <p:cNvPr id="47" name="TextBox 46"/>
          <p:cNvSpPr txBox="1"/>
          <p:nvPr/>
        </p:nvSpPr>
        <p:spPr>
          <a:xfrm>
            <a:off x="1139585" y="4416552"/>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Two verticals have no proof and no use-case file</a:t>
            </a:r>
          </a:p>
        </p:txBody>
      </p:sp>
      <p:sp>
        <p:nvSpPr>
          <p:cNvPr id="48" name="TextBox 47"/>
          <p:cNvSpPr txBox="1"/>
          <p:nvPr/>
        </p:nvSpPr>
        <p:spPr>
          <a:xfrm>
            <a:off x="4021522" y="4416552"/>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Plastic surgery and BCRL. Neither can carry a deck or a page yet. Ask: should product produce a volumetric-asymmetry validation figure, and is plastic surgery a 2026 priority?</a:t>
            </a:r>
          </a:p>
        </p:txBody>
      </p:sp>
      <p:sp>
        <p:nvSpPr>
          <p:cNvPr id="49" name="Rectangle 48"/>
          <p:cNvSpPr/>
          <p:nvPr/>
        </p:nvSpPr>
        <p:spPr>
          <a:xfrm>
            <a:off x="658368" y="4700016"/>
            <a:ext cx="10875233" cy="32461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58368" y="4700016"/>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8952" y="4741164"/>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13</a:t>
            </a:r>
          </a:p>
        </p:txBody>
      </p:sp>
      <p:sp>
        <p:nvSpPr>
          <p:cNvPr id="52" name="TextBox 51"/>
          <p:cNvSpPr txBox="1"/>
          <p:nvPr/>
        </p:nvSpPr>
        <p:spPr>
          <a:xfrm>
            <a:off x="1139585" y="4741164"/>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FX Guidance for Decks, Whitney, February 2026, did not resolve</a:t>
            </a:r>
          </a:p>
        </p:txBody>
      </p:sp>
      <p:sp>
        <p:nvSpPr>
          <p:cNvPr id="53" name="TextBox 52"/>
          <p:cNvSpPr txBox="1"/>
          <p:nvPr/>
        </p:nvSpPr>
        <p:spPr>
          <a:xfrm>
            <a:off x="4021522" y="4741164"/>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A shortcut in the Drive Marketing docs folder whose target could not be read. Likely the single most relevant existing document for deck work. Ask Whitney or Vadim to re-share it</a:t>
            </a:r>
          </a:p>
        </p:txBody>
      </p:sp>
      <p:sp>
        <p:nvSpPr>
          <p:cNvPr id="54" name="Rectangle 53"/>
          <p:cNvSpPr/>
          <p:nvPr/>
        </p:nvSpPr>
        <p:spPr>
          <a:xfrm>
            <a:off x="658368" y="5024628"/>
            <a:ext cx="10875233" cy="3246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658368" y="5024628"/>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58952" y="5065776"/>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14</a:t>
            </a:r>
          </a:p>
        </p:txBody>
      </p:sp>
      <p:sp>
        <p:nvSpPr>
          <p:cNvPr id="57" name="TextBox 56"/>
          <p:cNvSpPr txBox="1"/>
          <p:nvPr/>
        </p:nvSpPr>
        <p:spPr>
          <a:xfrm>
            <a:off x="1139585" y="5065776"/>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Digital fitness has no citable customer</a:t>
            </a:r>
          </a:p>
        </p:txBody>
      </p:sp>
      <p:sp>
        <p:nvSpPr>
          <p:cNvPr id="58" name="TextBox 57"/>
          <p:cNvSpPr txBox="1"/>
          <p:nvPr/>
        </p:nvSpPr>
        <p:spPr>
          <a:xfrm>
            <a:off x="4021522" y="5065776"/>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names in circulation appear in the sales deck and the telehealth page draft but not in proof-points.md or case-studies/. Either add them with permission, or the fitness deck ships without a case card</a:t>
            </a:r>
          </a:p>
        </p:txBody>
      </p:sp>
      <p:sp>
        <p:nvSpPr>
          <p:cNvPr id="59" name="Rectangle 58"/>
          <p:cNvSpPr/>
          <p:nvPr/>
        </p:nvSpPr>
        <p:spPr>
          <a:xfrm>
            <a:off x="658368" y="5349240"/>
            <a:ext cx="10875233" cy="324612"/>
          </a:xfrm>
          <a:prstGeom prst="rect">
            <a:avLst/>
          </a:prstGeom>
          <a:solidFill>
            <a:srgbClr val="F9F9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658368" y="5349240"/>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58952" y="5390388"/>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15</a:t>
            </a:r>
          </a:p>
        </p:txBody>
      </p:sp>
      <p:sp>
        <p:nvSpPr>
          <p:cNvPr id="62" name="TextBox 61"/>
          <p:cNvSpPr txBox="1"/>
          <p:nvPr/>
        </p:nvSpPr>
        <p:spPr>
          <a:xfrm>
            <a:off x="1139585" y="5390388"/>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HIPAA applicability to life insurers</a:t>
            </a:r>
          </a:p>
        </p:txBody>
      </p:sp>
      <p:sp>
        <p:nvSpPr>
          <p:cNvPr id="63" name="TextBox 62"/>
          <p:cNvSpPr txBox="1"/>
          <p:nvPr/>
        </p:nvSpPr>
        <p:spPr>
          <a:xfrm>
            <a:off x="4021522" y="5390388"/>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Flagged in the insurance deck's own open items, since HIPAA covers health plans and providers and a life insurer's status varies. The compliance slide carries the claim forward from the telehealth deck. Ask Whitney</a:t>
            </a:r>
          </a:p>
        </p:txBody>
      </p:sp>
      <p:sp>
        <p:nvSpPr>
          <p:cNvPr id="64" name="Rectangle 63"/>
          <p:cNvSpPr/>
          <p:nvPr/>
        </p:nvSpPr>
        <p:spPr>
          <a:xfrm>
            <a:off x="658368" y="5673852"/>
            <a:ext cx="10875233" cy="3246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658368" y="5673852"/>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758952" y="5715000"/>
            <a:ext cx="19775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16</a:t>
            </a:r>
          </a:p>
        </p:txBody>
      </p:sp>
      <p:sp>
        <p:nvSpPr>
          <p:cNvPr id="67" name="TextBox 66"/>
          <p:cNvSpPr txBox="1"/>
          <p:nvPr/>
        </p:nvSpPr>
        <p:spPr>
          <a:xfrm>
            <a:off x="1139585" y="5715000"/>
            <a:ext cx="2699056"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The Munich Re and CDC statistics on insurance slides 2 and 7</a:t>
            </a:r>
          </a:p>
        </p:txBody>
      </p:sp>
      <p:sp>
        <p:nvSpPr>
          <p:cNvPr id="68" name="TextBox 67"/>
          <p:cNvSpPr txBox="1"/>
          <p:nvPr/>
        </p:nvSpPr>
        <p:spPr>
          <a:xfrm>
            <a:off x="4021522" y="5715000"/>
            <a:ext cx="7429783" cy="269748"/>
          </a:xfrm>
          <a:prstGeom prst="rect">
            <a:avLst/>
          </a:prstGeom>
          <a:noFill/>
        </p:spPr>
        <p:txBody>
          <a:bodyPr wrap="square" lIns="0" rIns="0" tIns="0" bIns="0" anchor="t">
            <a:spAutoFit/>
          </a:bodyPr>
          <a:lstStyle/>
          <a:p>
            <a:pPr algn="l">
              <a:lnSpc>
                <a:spcPct val="116000"/>
              </a:lnSpc>
            </a:pPr>
            <a:r>
              <a:rPr sz="840" b="0" i="0">
                <a:solidFill>
                  <a:srgbClr val="4C4C4C"/>
                </a:solidFill>
                <a:latin typeface="Satoshi"/>
              </a:rPr>
              <a:t>Carried from an article, and the deck flags them as needing external-use approval. Verify at source and get approval before the deck goes out again</a:t>
            </a:r>
          </a:p>
        </p:txBody>
      </p:sp>
      <p:sp>
        <p:nvSpPr>
          <p:cNvPr id="69" name="Rectangle 68"/>
          <p:cNvSpPr/>
          <p:nvPr/>
        </p:nvSpPr>
        <p:spPr>
          <a:xfrm>
            <a:off x="658368" y="5998464"/>
            <a:ext cx="10875233" cy="7315"/>
          </a:xfrm>
          <a:prstGeom prst="rect">
            <a:avLst/>
          </a:prstGeom>
          <a:solidFill>
            <a:srgbClr val="E5E5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A8A8A8"/>
                </a:solidFill>
                <a:latin typeface="Satoshi"/>
              </a:rPr>
              <a:t>FitXpress Product Marketing Playbook  ·  August 2026  ·  Confidential, internal use only</a:t>
            </a:r>
          </a:p>
        </p:txBody>
      </p:sp>
      <p:sp>
        <p:nvSpPr>
          <p:cNvPr id="71" name="TextBox 70"/>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A8A8A8"/>
                </a:solidFill>
                <a:latin typeface="Satoshi"/>
              </a:rPr>
              <a:t>60 / 61</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18288" y="-18288"/>
            <a:ext cx="12228545" cy="6894576"/>
          </a:xfrm>
          <a:prstGeom prst="rect">
            <a:avLst/>
          </a:prstGeom>
          <a:gradFill rotWithShape="1">
            <a:gsLst>
              <a:gs pos="0">
                <a:srgbClr val="3A57F5"/>
              </a:gs>
              <a:gs pos="32000">
                <a:srgbClr val="0B2299"/>
              </a:gs>
              <a:gs pos="66000">
                <a:srgbClr val="08186B"/>
              </a:gs>
              <a:gs pos="100000">
                <a:srgbClr val="050F40"/>
              </a:gs>
            </a:gsLst>
            <a:path path="circle">
              <a:fillToRect l="50000" t="26000" r="50000" b="74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59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21919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79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43839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04799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365759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67189"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87678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386"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9598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705583"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18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24780"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534378"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143977"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753575"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363174"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0972772"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582371" y="0"/>
            <a:ext cx="4000" cy="6858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0" y="623454"/>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0" y="1246909"/>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1870363"/>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0" y="2493818"/>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3117272"/>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0" y="3740727"/>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4364181"/>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0" y="4987636"/>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0" y="5611090"/>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0" y="6234545"/>
            <a:ext cx="12191969" cy="4000"/>
          </a:xfrm>
          <a:prstGeom prst="rect">
            <a:avLst/>
          </a:prstGeom>
          <a:solidFill>
            <a:srgbClr val="2A45C8">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58368" y="1700784"/>
            <a:ext cx="9509760" cy="1188720"/>
          </a:xfrm>
          <a:prstGeom prst="rect">
            <a:avLst/>
          </a:prstGeom>
          <a:noFill/>
        </p:spPr>
        <p:txBody>
          <a:bodyPr wrap="square" lIns="0" rIns="0" tIns="0" bIns="0" anchor="t">
            <a:spAutoFit/>
          </a:bodyPr>
          <a:lstStyle/>
          <a:p>
            <a:pPr algn="l">
              <a:lnSpc>
                <a:spcPct val="110000"/>
              </a:lnSpc>
            </a:pPr>
            <a:r>
              <a:rPr sz="3800" b="1" i="0">
                <a:solidFill>
                  <a:srgbClr val="FFFFFF"/>
                </a:solidFill>
                <a:latin typeface="Satoshi"/>
              </a:rPr>
              <a:t>You have the guardrails.
Now ship one page.</a:t>
            </a:r>
          </a:p>
        </p:txBody>
      </p:sp>
      <p:sp>
        <p:nvSpPr>
          <p:cNvPr id="33" name="Rectangle 32"/>
          <p:cNvSpPr/>
          <p:nvPr/>
        </p:nvSpPr>
        <p:spPr>
          <a:xfrm>
            <a:off x="658368" y="3127248"/>
            <a:ext cx="1554480" cy="45720"/>
          </a:xfrm>
          <a:prstGeom prst="rect">
            <a:avLst/>
          </a:prstGeom>
          <a:solidFill>
            <a:srgbClr val="143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3401568"/>
            <a:ext cx="7680960" cy="457200"/>
          </a:xfrm>
          <a:prstGeom prst="rect">
            <a:avLst/>
          </a:prstGeom>
          <a:noFill/>
        </p:spPr>
        <p:txBody>
          <a:bodyPr wrap="square" lIns="0" rIns="0" tIns="0" bIns="0" anchor="t">
            <a:spAutoFit/>
          </a:bodyPr>
          <a:lstStyle/>
          <a:p>
            <a:pPr algn="l">
              <a:lnSpc>
                <a:spcPct val="134000"/>
              </a:lnSpc>
            </a:pPr>
            <a:r>
              <a:rPr sz="1250" b="0" i="0">
                <a:solidFill>
                  <a:srgbClr val="D8DEFF"/>
                </a:solidFill>
                <a:latin typeface="Satoshi"/>
              </a:rPr>
              <a:t>Week two is the /for-bmi-verification/ rewrite. It is the weakest live page and the vertical with a real customer reference, so it exercises every gate in section 6.</a:t>
            </a:r>
          </a:p>
        </p:txBody>
      </p:sp>
      <p:sp>
        <p:nvSpPr>
          <p:cNvPr id="35" name="Rounded Rectangle 34"/>
          <p:cNvSpPr/>
          <p:nvPr/>
        </p:nvSpPr>
        <p:spPr>
          <a:xfrm>
            <a:off x="658368" y="4261104"/>
            <a:ext cx="2043373" cy="841248"/>
          </a:xfrm>
          <a:prstGeom prst="roundRect">
            <a:avLst>
              <a:gd name="adj" fmla="val 3019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2959" y="4407408"/>
            <a:ext cx="1714189" cy="182880"/>
          </a:xfrm>
          <a:prstGeom prst="rect">
            <a:avLst/>
          </a:prstGeom>
          <a:noFill/>
        </p:spPr>
        <p:txBody>
          <a:bodyPr wrap="square" lIns="0" rIns="0" tIns="0" bIns="0" anchor="t">
            <a:spAutoFit/>
          </a:bodyPr>
          <a:lstStyle/>
          <a:p>
            <a:pPr algn="l">
              <a:lnSpc>
                <a:spcPct val="128000"/>
              </a:lnSpc>
            </a:pPr>
            <a:r>
              <a:rPr sz="760" b="1" i="0">
                <a:solidFill>
                  <a:srgbClr val="8A9CFF"/>
                </a:solidFill>
                <a:latin typeface="Satoshi"/>
              </a:rPr>
              <a:t>Numbers and assets</a:t>
            </a:r>
          </a:p>
        </p:txBody>
      </p:sp>
      <p:sp>
        <p:nvSpPr>
          <p:cNvPr id="37" name="TextBox 36"/>
          <p:cNvSpPr txBox="1"/>
          <p:nvPr/>
        </p:nvSpPr>
        <p:spPr>
          <a:xfrm>
            <a:off x="822959" y="4626864"/>
            <a:ext cx="1714189" cy="365760"/>
          </a:xfrm>
          <a:prstGeom prst="rect">
            <a:avLst/>
          </a:prstGeom>
          <a:noFill/>
        </p:spPr>
        <p:txBody>
          <a:bodyPr wrap="square" lIns="0" rIns="0" tIns="0" bIns="0" anchor="t">
            <a:spAutoFit/>
          </a:bodyPr>
          <a:lstStyle/>
          <a:p>
            <a:pPr algn="l">
              <a:lnSpc>
                <a:spcPct val="114000"/>
              </a:lnSpc>
            </a:pPr>
            <a:r>
              <a:rPr sz="1150" b="1" i="0">
                <a:solidFill>
                  <a:srgbClr val="FFFFFF"/>
                </a:solidFill>
                <a:latin typeface="Satoshi"/>
              </a:rPr>
              <a:t>Vadim Bilan</a:t>
            </a:r>
          </a:p>
        </p:txBody>
      </p:sp>
      <p:sp>
        <p:nvSpPr>
          <p:cNvPr id="38" name="Rounded Rectangle 37"/>
          <p:cNvSpPr/>
          <p:nvPr/>
        </p:nvSpPr>
        <p:spPr>
          <a:xfrm>
            <a:off x="2866333" y="4261104"/>
            <a:ext cx="2043373" cy="841248"/>
          </a:xfrm>
          <a:prstGeom prst="roundRect">
            <a:avLst>
              <a:gd name="adj" fmla="val 3019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30925" y="4407408"/>
            <a:ext cx="1714189" cy="182880"/>
          </a:xfrm>
          <a:prstGeom prst="rect">
            <a:avLst/>
          </a:prstGeom>
          <a:noFill/>
        </p:spPr>
        <p:txBody>
          <a:bodyPr wrap="square" lIns="0" rIns="0" tIns="0" bIns="0" anchor="t">
            <a:spAutoFit/>
          </a:bodyPr>
          <a:lstStyle/>
          <a:p>
            <a:pPr algn="l">
              <a:lnSpc>
                <a:spcPct val="128000"/>
              </a:lnSpc>
            </a:pPr>
            <a:r>
              <a:rPr sz="760" b="1" i="0">
                <a:solidFill>
                  <a:srgbClr val="8A9CFF"/>
                </a:solidFill>
                <a:latin typeface="Satoshi"/>
              </a:rPr>
              <a:t>Regulated claims</a:t>
            </a:r>
          </a:p>
        </p:txBody>
      </p:sp>
      <p:sp>
        <p:nvSpPr>
          <p:cNvPr id="40" name="TextBox 39"/>
          <p:cNvSpPr txBox="1"/>
          <p:nvPr/>
        </p:nvSpPr>
        <p:spPr>
          <a:xfrm>
            <a:off x="3030925" y="4626864"/>
            <a:ext cx="1714189" cy="365760"/>
          </a:xfrm>
          <a:prstGeom prst="rect">
            <a:avLst/>
          </a:prstGeom>
          <a:noFill/>
        </p:spPr>
        <p:txBody>
          <a:bodyPr wrap="square" lIns="0" rIns="0" tIns="0" bIns="0" anchor="t">
            <a:spAutoFit/>
          </a:bodyPr>
          <a:lstStyle/>
          <a:p>
            <a:pPr algn="l">
              <a:lnSpc>
                <a:spcPct val="114000"/>
              </a:lnSpc>
            </a:pPr>
            <a:r>
              <a:rPr sz="1150" b="1" i="0">
                <a:solidFill>
                  <a:srgbClr val="FFFFFF"/>
                </a:solidFill>
                <a:latin typeface="Satoshi"/>
              </a:rPr>
              <a:t>Whitney Cathcart</a:t>
            </a:r>
          </a:p>
        </p:txBody>
      </p:sp>
      <p:sp>
        <p:nvSpPr>
          <p:cNvPr id="41" name="Rounded Rectangle 40"/>
          <p:cNvSpPr/>
          <p:nvPr/>
        </p:nvSpPr>
        <p:spPr>
          <a:xfrm>
            <a:off x="5074298" y="4261104"/>
            <a:ext cx="2043373" cy="841248"/>
          </a:xfrm>
          <a:prstGeom prst="roundRect">
            <a:avLst>
              <a:gd name="adj" fmla="val 3019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238890" y="4407408"/>
            <a:ext cx="1714189" cy="182880"/>
          </a:xfrm>
          <a:prstGeom prst="rect">
            <a:avLst/>
          </a:prstGeom>
          <a:noFill/>
        </p:spPr>
        <p:txBody>
          <a:bodyPr wrap="square" lIns="0" rIns="0" tIns="0" bIns="0" anchor="t">
            <a:spAutoFit/>
          </a:bodyPr>
          <a:lstStyle/>
          <a:p>
            <a:pPr algn="l">
              <a:lnSpc>
                <a:spcPct val="128000"/>
              </a:lnSpc>
            </a:pPr>
            <a:r>
              <a:rPr sz="760" b="1" i="0">
                <a:solidFill>
                  <a:srgbClr val="8A9CFF"/>
                </a:solidFill>
                <a:latin typeface="Satoshi"/>
              </a:rPr>
              <a:t>Positioning and competitive</a:t>
            </a:r>
          </a:p>
        </p:txBody>
      </p:sp>
      <p:sp>
        <p:nvSpPr>
          <p:cNvPr id="43" name="TextBox 42"/>
          <p:cNvSpPr txBox="1"/>
          <p:nvPr/>
        </p:nvSpPr>
        <p:spPr>
          <a:xfrm>
            <a:off x="5238890" y="4626864"/>
            <a:ext cx="1714189" cy="365760"/>
          </a:xfrm>
          <a:prstGeom prst="rect">
            <a:avLst/>
          </a:prstGeom>
          <a:noFill/>
        </p:spPr>
        <p:txBody>
          <a:bodyPr wrap="square" lIns="0" rIns="0" tIns="0" bIns="0" anchor="t">
            <a:spAutoFit/>
          </a:bodyPr>
          <a:lstStyle/>
          <a:p>
            <a:pPr algn="l">
              <a:lnSpc>
                <a:spcPct val="114000"/>
              </a:lnSpc>
            </a:pPr>
            <a:r>
              <a:rPr sz="1150" b="1" i="0">
                <a:solidFill>
                  <a:srgbClr val="FFFFFF"/>
                </a:solidFill>
                <a:latin typeface="Satoshi"/>
              </a:rPr>
              <a:t>Katerina Galich</a:t>
            </a:r>
          </a:p>
        </p:txBody>
      </p:sp>
      <p:sp>
        <p:nvSpPr>
          <p:cNvPr id="44" name="Rounded Rectangle 43"/>
          <p:cNvSpPr/>
          <p:nvPr/>
        </p:nvSpPr>
        <p:spPr>
          <a:xfrm>
            <a:off x="7282263" y="4261104"/>
            <a:ext cx="2043373" cy="841248"/>
          </a:xfrm>
          <a:prstGeom prst="roundRect">
            <a:avLst>
              <a:gd name="adj" fmla="val 3019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446855" y="4407408"/>
            <a:ext cx="1714189" cy="182880"/>
          </a:xfrm>
          <a:prstGeom prst="rect">
            <a:avLst/>
          </a:prstGeom>
          <a:noFill/>
        </p:spPr>
        <p:txBody>
          <a:bodyPr wrap="square" lIns="0" rIns="0" tIns="0" bIns="0" anchor="t">
            <a:spAutoFit/>
          </a:bodyPr>
          <a:lstStyle/>
          <a:p>
            <a:pPr algn="l">
              <a:lnSpc>
                <a:spcPct val="128000"/>
              </a:lnSpc>
            </a:pPr>
            <a:r>
              <a:rPr sz="760" b="1" i="0">
                <a:solidFill>
                  <a:srgbClr val="8A9CFF"/>
                </a:solidFill>
                <a:latin typeface="Satoshi"/>
              </a:rPr>
              <a:t>Editorial sign-off</a:t>
            </a:r>
          </a:p>
        </p:txBody>
      </p:sp>
      <p:sp>
        <p:nvSpPr>
          <p:cNvPr id="46" name="TextBox 45"/>
          <p:cNvSpPr txBox="1"/>
          <p:nvPr/>
        </p:nvSpPr>
        <p:spPr>
          <a:xfrm>
            <a:off x="7446855" y="4626864"/>
            <a:ext cx="1714189" cy="365760"/>
          </a:xfrm>
          <a:prstGeom prst="rect">
            <a:avLst/>
          </a:prstGeom>
          <a:noFill/>
        </p:spPr>
        <p:txBody>
          <a:bodyPr wrap="square" lIns="0" rIns="0" tIns="0" bIns="0" anchor="t">
            <a:spAutoFit/>
          </a:bodyPr>
          <a:lstStyle/>
          <a:p>
            <a:pPr algn="l">
              <a:lnSpc>
                <a:spcPct val="114000"/>
              </a:lnSpc>
            </a:pPr>
            <a:r>
              <a:rPr sz="1150" b="1" i="0">
                <a:solidFill>
                  <a:srgbClr val="FFFFFF"/>
                </a:solidFill>
                <a:latin typeface="Satoshi"/>
              </a:rPr>
              <a:t>Asselya Sekerova</a:t>
            </a:r>
          </a:p>
        </p:txBody>
      </p:sp>
      <p:sp>
        <p:nvSpPr>
          <p:cNvPr id="47" name="Rounded Rectangle 46"/>
          <p:cNvSpPr/>
          <p:nvPr/>
        </p:nvSpPr>
        <p:spPr>
          <a:xfrm>
            <a:off x="9490228" y="4261104"/>
            <a:ext cx="2043373" cy="841248"/>
          </a:xfrm>
          <a:prstGeom prst="roundRect">
            <a:avLst>
              <a:gd name="adj" fmla="val 30193"/>
            </a:avLst>
          </a:prstGeom>
          <a:noFill/>
          <a:ln w="13970">
            <a:solidFill>
              <a:srgbClr val="0B22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654820" y="4407408"/>
            <a:ext cx="1714189" cy="182880"/>
          </a:xfrm>
          <a:prstGeom prst="rect">
            <a:avLst/>
          </a:prstGeom>
          <a:noFill/>
        </p:spPr>
        <p:txBody>
          <a:bodyPr wrap="square" lIns="0" rIns="0" tIns="0" bIns="0" anchor="t">
            <a:spAutoFit/>
          </a:bodyPr>
          <a:lstStyle/>
          <a:p>
            <a:pPr algn="l">
              <a:lnSpc>
                <a:spcPct val="128000"/>
              </a:lnSpc>
            </a:pPr>
            <a:r>
              <a:rPr sz="760" b="1" i="0">
                <a:solidFill>
                  <a:srgbClr val="8A9CFF"/>
                </a:solidFill>
                <a:latin typeface="Satoshi"/>
              </a:rPr>
              <a:t>Capability and roadmap</a:t>
            </a:r>
          </a:p>
        </p:txBody>
      </p:sp>
      <p:sp>
        <p:nvSpPr>
          <p:cNvPr id="49" name="TextBox 48"/>
          <p:cNvSpPr txBox="1"/>
          <p:nvPr/>
        </p:nvSpPr>
        <p:spPr>
          <a:xfrm>
            <a:off x="9654820" y="4626864"/>
            <a:ext cx="1714189" cy="365760"/>
          </a:xfrm>
          <a:prstGeom prst="rect">
            <a:avLst/>
          </a:prstGeom>
          <a:noFill/>
        </p:spPr>
        <p:txBody>
          <a:bodyPr wrap="square" lIns="0" rIns="0" tIns="0" bIns="0" anchor="t">
            <a:spAutoFit/>
          </a:bodyPr>
          <a:lstStyle/>
          <a:p>
            <a:pPr algn="l">
              <a:lnSpc>
                <a:spcPct val="114000"/>
              </a:lnSpc>
            </a:pPr>
            <a:r>
              <a:rPr sz="1150" b="1" i="0">
                <a:solidFill>
                  <a:srgbClr val="FFFFFF"/>
                </a:solidFill>
                <a:latin typeface="Satoshi"/>
              </a:rPr>
              <a:t>Max Kucherenko</a:t>
            </a:r>
          </a:p>
        </p:txBody>
      </p:sp>
      <p:sp>
        <p:nvSpPr>
          <p:cNvPr id="50" name="TextBox 49"/>
          <p:cNvSpPr txBox="1"/>
          <p:nvPr/>
        </p:nvSpPr>
        <p:spPr>
          <a:xfrm>
            <a:off x="658368" y="5541264"/>
            <a:ext cx="10875233" cy="256032"/>
          </a:xfrm>
          <a:prstGeom prst="rect">
            <a:avLst/>
          </a:prstGeom>
          <a:noFill/>
        </p:spPr>
        <p:txBody>
          <a:bodyPr wrap="square" lIns="0" rIns="0" tIns="0" bIns="0" anchor="t">
            <a:spAutoFit/>
          </a:bodyPr>
          <a:lstStyle/>
          <a:p>
            <a:pPr algn="l">
              <a:lnSpc>
                <a:spcPct val="128000"/>
              </a:lnSpc>
            </a:pPr>
            <a:r>
              <a:rPr sz="1000" b="0" i="1">
                <a:solidFill>
                  <a:srgbClr val="B1BDFF"/>
                </a:solidFill>
                <a:latin typeface="Satoshi"/>
              </a:rPr>
              <a:t>Section 9 is the starting point for the week-one audit, not the end of it. Add to it rather than working around it.</a:t>
            </a:r>
          </a:p>
        </p:txBody>
      </p:sp>
      <p:sp>
        <p:nvSpPr>
          <p:cNvPr id="51" name="TextBox 50"/>
          <p:cNvSpPr txBox="1"/>
          <p:nvPr/>
        </p:nvSpPr>
        <p:spPr>
          <a:xfrm>
            <a:off x="658368" y="6053328"/>
            <a:ext cx="10875233" cy="219456"/>
          </a:xfrm>
          <a:prstGeom prst="rect">
            <a:avLst/>
          </a:prstGeom>
          <a:noFill/>
        </p:spPr>
        <p:txBody>
          <a:bodyPr wrap="square" lIns="0" rIns="0" tIns="0" bIns="0" anchor="t">
            <a:spAutoFit/>
          </a:bodyPr>
          <a:lstStyle/>
          <a:p>
            <a:pPr algn="l">
              <a:lnSpc>
                <a:spcPct val="128000"/>
              </a:lnSpc>
            </a:pPr>
            <a:r>
              <a:rPr sz="850" b="1" i="0">
                <a:solidFill>
                  <a:srgbClr val="8A9CFF"/>
                </a:solidFill>
                <a:latin typeface="Satoshi"/>
              </a:rPr>
              <a:t>FitXpress Product Marketing Playbook  ·  Version 1.0  ·  August 2026  ·  Confidential, internal use only</a:t>
            </a:r>
          </a:p>
        </p:txBody>
      </p:sp>
      <p:sp>
        <p:nvSpPr>
          <p:cNvPr id="52" name="TextBox 51"/>
          <p:cNvSpPr txBox="1"/>
          <p:nvPr/>
        </p:nvSpPr>
        <p:spPr>
          <a:xfrm>
            <a:off x="658368" y="6455664"/>
            <a:ext cx="9869393" cy="201168"/>
          </a:xfrm>
          <a:prstGeom prst="rect">
            <a:avLst/>
          </a:prstGeom>
          <a:noFill/>
        </p:spPr>
        <p:txBody>
          <a:bodyPr wrap="square" lIns="0" rIns="0" tIns="0" bIns="0" anchor="t">
            <a:spAutoFit/>
          </a:bodyPr>
          <a:lstStyle/>
          <a:p>
            <a:pPr algn="l">
              <a:lnSpc>
                <a:spcPct val="128000"/>
              </a:lnSpc>
            </a:pPr>
            <a:r>
              <a:rPr sz="750" b="0" i="0">
                <a:solidFill>
                  <a:srgbClr val="B1BDFF"/>
                </a:solidFill>
                <a:latin typeface="Satoshi"/>
              </a:rPr>
              <a:t>FitXpress Product Marketing Playbook  ·  August 2026  ·  Confidential, internal use only</a:t>
            </a:r>
          </a:p>
        </p:txBody>
      </p:sp>
      <p:sp>
        <p:nvSpPr>
          <p:cNvPr id="53" name="TextBox 52"/>
          <p:cNvSpPr txBox="1"/>
          <p:nvPr/>
        </p:nvSpPr>
        <p:spPr>
          <a:xfrm>
            <a:off x="10619201" y="6455664"/>
            <a:ext cx="914400" cy="201168"/>
          </a:xfrm>
          <a:prstGeom prst="rect">
            <a:avLst/>
          </a:prstGeom>
          <a:noFill/>
        </p:spPr>
        <p:txBody>
          <a:bodyPr wrap="square" lIns="0" rIns="0" tIns="0" bIns="0" anchor="t">
            <a:spAutoFit/>
          </a:bodyPr>
          <a:lstStyle/>
          <a:p>
            <a:pPr algn="r">
              <a:lnSpc>
                <a:spcPct val="128000"/>
              </a:lnSpc>
            </a:pPr>
            <a:r>
              <a:rPr sz="750" b="0" i="0">
                <a:solidFill>
                  <a:srgbClr val="B1BDFF"/>
                </a:solidFill>
                <a:latin typeface="Satoshi"/>
              </a:rPr>
              <a:t>61 / 61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Satosh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atosh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